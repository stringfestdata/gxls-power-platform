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1"/>
  </p:notesMasterIdLst>
  <p:sldIdLst>
    <p:sldId id="444" r:id="rId2"/>
    <p:sldId id="425" r:id="rId3"/>
    <p:sldId id="426" r:id="rId4"/>
    <p:sldId id="455" r:id="rId5"/>
    <p:sldId id="404" r:id="rId6"/>
    <p:sldId id="454" r:id="rId7"/>
    <p:sldId id="407" r:id="rId8"/>
    <p:sldId id="428" r:id="rId9"/>
    <p:sldId id="448" r:id="rId10"/>
    <p:sldId id="449" r:id="rId11"/>
    <p:sldId id="415" r:id="rId12"/>
    <p:sldId id="446" r:id="rId13"/>
    <p:sldId id="443" r:id="rId14"/>
    <p:sldId id="450" r:id="rId15"/>
    <p:sldId id="451" r:id="rId16"/>
    <p:sldId id="452" r:id="rId17"/>
    <p:sldId id="445" r:id="rId18"/>
    <p:sldId id="405" r:id="rId19"/>
    <p:sldId id="440" r:id="rId20"/>
    <p:sldId id="441" r:id="rId21"/>
    <p:sldId id="453" r:id="rId22"/>
    <p:sldId id="414" r:id="rId23"/>
    <p:sldId id="459" r:id="rId24"/>
    <p:sldId id="456" r:id="rId25"/>
    <p:sldId id="435" r:id="rId26"/>
    <p:sldId id="457" r:id="rId27"/>
    <p:sldId id="436" r:id="rId28"/>
    <p:sldId id="458" r:id="rId29"/>
    <p:sldId id="465" r:id="rId30"/>
    <p:sldId id="460" r:id="rId31"/>
    <p:sldId id="461" r:id="rId32"/>
    <p:sldId id="462" r:id="rId33"/>
    <p:sldId id="463" r:id="rId34"/>
    <p:sldId id="464" r:id="rId35"/>
    <p:sldId id="466" r:id="rId36"/>
    <p:sldId id="467" r:id="rId37"/>
    <p:sldId id="468" r:id="rId38"/>
    <p:sldId id="469" r:id="rId39"/>
    <p:sldId id="471" r:id="rId53"/>
    <p:sldId id="470" r:id="rId40"/>
  </p:sldIdLst>
  <p:sldSz cx="18288000" cy="10287000"/>
  <p:notesSz cx="6858000" cy="9144000"/>
  <p:embeddedFontLst>
    <p:embeddedFont>
      <p:font typeface="Consolas" panose="020B0609020204030204" pitchFamily="49" charset="0"/>
      <p:regular r:id="rId42"/>
      <p:bold r:id="rId43"/>
      <p:italic r:id="rId44"/>
      <p:boldItalic r:id="rId4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7684158-E8C8-9BE0-21EB-718D906F94A5}" name="George Mount" initials="GM" userId="S::george@stringfestanalytics.com::22d0b802-afc6-4b8f-ba57-7a855d96927f"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George Mount" initials="GM" lastIdx="9" clrIdx="0">
    <p:extLst>
      <p:ext uri="{19B8F6BF-5375-455C-9EA6-DF929625EA0E}">
        <p15:presenceInfo xmlns:p15="http://schemas.microsoft.com/office/powerpoint/2012/main" userId="57d2ab2a84d54c81"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CF3338"/>
    <a:srgbClr val="3D393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CFE45DF-55D5-405D-A565-885B46CD6B1C}" v="18" dt="2025-10-20T17:24:06.950"/>
    <p1510:client id="{FF0EED0B-C5B4-4142-B053-6337C3D566F0}" v="5" dt="2025-10-20T16:58:00.76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92" autoAdjust="0"/>
    <p:restoredTop sz="78463" autoAdjust="0"/>
  </p:normalViewPr>
  <p:slideViewPr>
    <p:cSldViewPr>
      <p:cViewPr varScale="1">
        <p:scale>
          <a:sx n="31" d="100"/>
          <a:sy n="31" d="100"/>
        </p:scale>
        <p:origin x="75" y="621"/>
      </p:cViewPr>
      <p:guideLst>
        <p:guide orient="horz" pos="2160"/>
        <p:guide pos="2880"/>
      </p:guideLst>
    </p:cSldViewPr>
  </p:slideViewPr>
  <p:outlineViewPr>
    <p:cViewPr>
      <p:scale>
        <a:sx n="33" d="100"/>
        <a:sy n="33" d="100"/>
      </p:scale>
      <p:origin x="0" y="0"/>
    </p:cViewPr>
  </p:outlineViewPr>
  <p:notesTextViewPr>
    <p:cViewPr>
      <p:scale>
        <a:sx n="140" d="100"/>
        <a:sy n="14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40.xml"/><Relationship Id="rId41" Type="http://schemas.openxmlformats.org/officeDocument/2006/relationships/notesMaster" Target="notesMasters/notesMaster1.xml"/><Relationship Id="rId42" Type="http://schemas.openxmlformats.org/officeDocument/2006/relationships/font" Target="fonts/font1.fntdata"/><Relationship Id="rId43" Type="http://schemas.openxmlformats.org/officeDocument/2006/relationships/font" Target="fonts/font2.fntdata"/><Relationship Id="rId44" Type="http://schemas.openxmlformats.org/officeDocument/2006/relationships/font" Target="fonts/font3.fntdata"/><Relationship Id="rId45" Type="http://schemas.openxmlformats.org/officeDocument/2006/relationships/font" Target="fonts/font4.fntdata"/><Relationship Id="rId46" Type="http://schemas.openxmlformats.org/officeDocument/2006/relationships/commentAuthors" Target="commentAuthors.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 Id="rId51" Type="http://schemas.microsoft.com/office/2015/10/relationships/revisionInfo" Target="revisionInfo.xml"/><Relationship Id="rId52" Type="http://schemas.microsoft.com/office/2018/10/relationships/authors" Target="authors.xml"/><Relationship Id="rId53"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A98A70-FA8C-4354-959C-C70678AC9BCF}" type="datetimeFigureOut">
              <a:rPr lang="en-US" smtClean="0"/>
              <a:t>11/11/2025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B500C5-13F7-48FC-8160-C29AECF6C602}" type="slidenum">
              <a:rPr lang="en-US" smtClean="0"/>
              <a:t>‹#›</a:t>
            </a:fld>
            <a:endParaRPr lang="en-US"/>
          </a:p>
        </p:txBody>
      </p:sp>
    </p:spTree>
    <p:extLst>
      <p:ext uri="{BB962C8B-B14F-4D97-AF65-F5344CB8AC3E}">
        <p14:creationId xmlns:p14="http://schemas.microsoft.com/office/powerpoint/2010/main" val="30183505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t>We're going to start with something simple — building our first flow using a Power Automate template. Templates are pre-built flows you can customize. We'll set up a clock in, clock out workflow that reads from an Excel table. Open the first-flow workbook and let's walk through this together.</a:t>
            </a:r>
          </a:p>
          <a:p>
            <a:pPr marL="228600" indent="-228600">
              <a:buAutoNum type="arabicPeriod"/>
            </a:pPr>
            <a:r>
              <a:rPr lang="en-US" dirty="0"/>
              <a:t/>
            </a:r>
          </a:p>
          <a:p>
            <a:pPr marL="228600" indent="-228600">
              <a:buAutoNum type="arabicPeriod"/>
            </a:pPr>
            <a:r>
              <a:rPr lang="en-US" dirty="0"/>
              <a:t/>
            </a:r>
          </a:p>
        </p:txBody>
      </p:sp>
      <p:sp>
        <p:nvSpPr>
          <p:cNvPr id="4" name="Slide Number Placeholder 3"/>
          <p:cNvSpPr>
            <a:spLocks noGrp="1"/>
          </p:cNvSpPr>
          <p:nvPr>
            <p:ph type="sldNum" sz="quarter" idx="5"/>
          </p:nvPr>
        </p:nvSpPr>
        <p:spPr/>
        <p:txBody>
          <a:bodyPr/>
          <a:lstStyle/>
          <a:p>
            <a:fld id="{1300335D-9F13-4B80-ADC5-B0EA3E10FF6B}" type="slidenum">
              <a:rPr lang="en-US" smtClean="0"/>
              <a:t>7</a:t>
            </a:fld>
            <a:endParaRPr lang="en-US"/>
          </a:p>
        </p:txBody>
      </p:sp>
    </p:spTree>
    <p:extLst>
      <p:ext uri="{BB962C8B-B14F-4D97-AF65-F5344CB8AC3E}">
        <p14:creationId xmlns:p14="http://schemas.microsoft.com/office/powerpoint/2010/main" val="6245492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t>Now that we have a working flow, let's make the output look better. Power Fx is the formula language behind Power Platform — think of it like Excel formulas but for flows and apps. We'll use it to format dates, combine text, and clean up the messages our flow sends. If you've written an IF or CONCATENATE in Excel, you already know the basics.</a:t>
            </a:r>
          </a:p>
          <a:p>
            <a:pPr marL="228600" indent="-228600">
              <a:buAutoNum type="arabicPeriod"/>
            </a:pPr>
            <a:r>
              <a:rPr lang="en-US" dirty="0"/>
              <a:t/>
            </a:r>
          </a:p>
          <a:p>
            <a:pPr marL="228600" indent="-228600">
              <a:buAutoNum type="arabicPeriod"/>
            </a:pPr>
            <a:r>
              <a:rPr lang="en-US" dirty="0"/>
              <a:t/>
            </a:r>
          </a:p>
        </p:txBody>
      </p:sp>
      <p:sp>
        <p:nvSpPr>
          <p:cNvPr id="4" name="Slide Number Placeholder 3"/>
          <p:cNvSpPr>
            <a:spLocks noGrp="1"/>
          </p:cNvSpPr>
          <p:nvPr>
            <p:ph type="sldNum" sz="quarter" idx="5"/>
          </p:nvPr>
        </p:nvSpPr>
        <p:spPr/>
        <p:txBody>
          <a:bodyPr/>
          <a:lstStyle/>
          <a:p>
            <a:fld id="{1300335D-9F13-4B80-ADC5-B0EA3E10FF6B}" type="slidenum">
              <a:rPr lang="en-US" smtClean="0"/>
              <a:t>8</a:t>
            </a:fld>
            <a:endParaRPr lang="en-US"/>
          </a:p>
        </p:txBody>
      </p:sp>
    </p:spTree>
    <p:extLst>
      <p:ext uri="{BB962C8B-B14F-4D97-AF65-F5344CB8AC3E}">
        <p14:creationId xmlns:p14="http://schemas.microsoft.com/office/powerpoint/2010/main" val="38643298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D5532-326F-4669-1CB2-DA7AFD783D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F669E7-8D85-DEB6-7D4D-FA8E8268D1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1F375F-294F-03AB-52EE-36A85AF9FC2A}"/>
              </a:ext>
            </a:extLst>
          </p:cNvPr>
          <p:cNvSpPr>
            <a:spLocks noGrp="1"/>
          </p:cNvSpPr>
          <p:nvPr>
            <p:ph type="body" idx="1"/>
          </p:nvPr>
        </p:nvSpPr>
        <p:spPr/>
        <p:txBody>
          <a:bodyPr/>
          <a:lstStyle/>
          <a:p>
            <a:pPr marL="228600" indent="-228600">
              <a:buAutoNum type="arabicPeriod"/>
            </a:pPr>
            <a:r>
              <a:t>Here's where things get interesting. We're going to use Copilot inside Power Automate to build a flow using plain English. You describe what you want, and Copilot generates the flow for you. We'll create a monthly flow that pulls data from a workbook and posts a summary to Teams. It won't be perfect on the first try, but it gets you eighty percent of the way there — and then you fine-tune.</a:t>
            </a:r>
          </a:p>
          <a:p>
            <a:pPr marL="228600" indent="-228600">
              <a:buAutoNum type="arabicPeriod"/>
            </a:pPr>
            <a:r>
              <a:rPr lang="en-US" dirty="0"/>
              <a:t/>
            </a:r>
          </a:p>
          <a:p>
            <a:pPr marL="228600" indent="-228600">
              <a:buAutoNum type="arabicPeriod"/>
            </a:pPr>
            <a:r>
              <a:rPr lang="en-US" dirty="0"/>
              <a:t/>
            </a:r>
          </a:p>
        </p:txBody>
      </p:sp>
      <p:sp>
        <p:nvSpPr>
          <p:cNvPr id="4" name="Slide Number Placeholder 3">
            <a:extLst>
              <a:ext uri="{FF2B5EF4-FFF2-40B4-BE49-F238E27FC236}">
                <a16:creationId xmlns:a16="http://schemas.microsoft.com/office/drawing/2014/main" id="{9A17E0FB-DBB2-3D20-1323-ADC2F3DB14CF}"/>
              </a:ext>
            </a:extLst>
          </p:cNvPr>
          <p:cNvSpPr>
            <a:spLocks noGrp="1"/>
          </p:cNvSpPr>
          <p:nvPr>
            <p:ph type="sldNum" sz="quarter" idx="5"/>
          </p:nvPr>
        </p:nvSpPr>
        <p:spPr/>
        <p:txBody>
          <a:bodyPr/>
          <a:lstStyle/>
          <a:p>
            <a:fld id="{1300335D-9F13-4B80-ADC5-B0EA3E10FF6B}" type="slidenum">
              <a:rPr lang="en-US" smtClean="0"/>
              <a:t>9</a:t>
            </a:fld>
            <a:endParaRPr lang="en-US"/>
          </a:p>
        </p:txBody>
      </p:sp>
    </p:spTree>
    <p:extLst>
      <p:ext uri="{BB962C8B-B14F-4D97-AF65-F5344CB8AC3E}">
        <p14:creationId xmlns:p14="http://schemas.microsoft.com/office/powerpoint/2010/main" val="9175058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9FC076-F88C-C536-9238-75E3BF14A1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DA8E3C-F515-FFFD-B292-B0B1EAFC85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7DD28B-5E01-0EF6-4120-6C8E9956B02B}"/>
              </a:ext>
            </a:extLst>
          </p:cNvPr>
          <p:cNvSpPr>
            <a:spLocks noGrp="1"/>
          </p:cNvSpPr>
          <p:nvPr>
            <p:ph type="body" idx="1"/>
          </p:nvPr>
        </p:nvSpPr>
        <p:spPr/>
        <p:txBody>
          <a:bodyPr/>
          <a:lstStyle/>
          <a:p>
            <a:pPr marL="228600" indent="-228600">
              <a:buAutoNum type="arabicPeriod"/>
            </a:pPr>
            <a:r>
              <a:t>Alright, time for you to try it. Take the clock in, clock out flow we just built and extend it. You're going to add a comment prompt so users can add notes when they clock in or out. Save that data back to the worksheet, and post an update to Teams with all the details. Take about ten minutes on this. I'll be walking around if you get stuck.</a:t>
            </a:r>
          </a:p>
          <a:p>
            <a:pPr marL="228600" indent="-228600">
              <a:buAutoNum type="arabicPeriod"/>
            </a:pPr>
            <a:r>
              <a:rPr lang="en-US" dirty="0"/>
              <a:t/>
            </a:r>
          </a:p>
          <a:p>
            <a:pPr marL="228600" indent="-228600">
              <a:buAutoNum type="arabicPeriod"/>
            </a:pPr>
            <a:r>
              <a:rPr lang="en-US" dirty="0"/>
              <a:t/>
            </a:r>
          </a:p>
        </p:txBody>
      </p:sp>
      <p:sp>
        <p:nvSpPr>
          <p:cNvPr id="4" name="Slide Number Placeholder 3">
            <a:extLst>
              <a:ext uri="{FF2B5EF4-FFF2-40B4-BE49-F238E27FC236}">
                <a16:creationId xmlns:a16="http://schemas.microsoft.com/office/drawing/2014/main" id="{3D517D3B-B2AF-6207-719E-A174D6834DD4}"/>
              </a:ext>
            </a:extLst>
          </p:cNvPr>
          <p:cNvSpPr>
            <a:spLocks noGrp="1"/>
          </p:cNvSpPr>
          <p:nvPr>
            <p:ph type="sldNum" sz="quarter" idx="5"/>
          </p:nvPr>
        </p:nvSpPr>
        <p:spPr/>
        <p:txBody>
          <a:bodyPr/>
          <a:lstStyle/>
          <a:p>
            <a:fld id="{1300335D-9F13-4B80-ADC5-B0EA3E10FF6B}" type="slidenum">
              <a:rPr lang="en-US" smtClean="0"/>
              <a:t>10</a:t>
            </a:fld>
            <a:endParaRPr lang="en-US"/>
          </a:p>
        </p:txBody>
      </p:sp>
    </p:spTree>
    <p:extLst>
      <p:ext uri="{BB962C8B-B14F-4D97-AF65-F5344CB8AC3E}">
        <p14:creationId xmlns:p14="http://schemas.microsoft.com/office/powerpoint/2010/main" val="35318364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6AC54-6E30-B132-36FA-F5D0973D5D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409738-8518-D51E-6D96-DAD7B61DCA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91F2E3-17FA-59F4-F7EE-A9B546865DAD}"/>
              </a:ext>
            </a:extLst>
          </p:cNvPr>
          <p:cNvSpPr>
            <a:spLocks noGrp="1"/>
          </p:cNvSpPr>
          <p:nvPr>
            <p:ph type="body" idx="1"/>
          </p:nvPr>
        </p:nvSpPr>
        <p:spPr/>
        <p:txBody>
          <a:bodyPr/>
          <a:lstStyle/>
          <a:p>
            <a:pPr marL="228600" indent="-228600">
              <a:buAutoNum type="arabicPeriod"/>
            </a:pPr>
            <a:r>
              <a:t>Let's look at a really common use case — automatically logging incoming emails into an Excel workbook. We'll set up a flow that triggers whenever a new email arrives from a specific sender, extracts the key details, and adds a row to our tracking spreadsheet. This is the kind of thing that saves you twenty minutes a day if you're doing it manually.</a:t>
            </a:r>
          </a:p>
          <a:p>
            <a:pPr marL="228600" indent="-228600">
              <a:buAutoNum type="arabicPeriod"/>
            </a:pPr>
            <a:r>
              <a:rPr lang="en-US" dirty="0"/>
              <a:t/>
            </a:r>
          </a:p>
          <a:p>
            <a:pPr marL="228600" indent="-228600">
              <a:buAutoNum type="arabicPeriod"/>
            </a:pPr>
            <a:r>
              <a:rPr lang="en-US" dirty="0"/>
              <a:t/>
            </a:r>
          </a:p>
        </p:txBody>
      </p:sp>
      <p:sp>
        <p:nvSpPr>
          <p:cNvPr id="4" name="Slide Number Placeholder 3">
            <a:extLst>
              <a:ext uri="{FF2B5EF4-FFF2-40B4-BE49-F238E27FC236}">
                <a16:creationId xmlns:a16="http://schemas.microsoft.com/office/drawing/2014/main" id="{5AF1DF5F-83DC-5C93-D7B5-93155F59B105}"/>
              </a:ext>
            </a:extLst>
          </p:cNvPr>
          <p:cNvSpPr>
            <a:spLocks noGrp="1"/>
          </p:cNvSpPr>
          <p:nvPr>
            <p:ph type="sldNum" sz="quarter" idx="5"/>
          </p:nvPr>
        </p:nvSpPr>
        <p:spPr/>
        <p:txBody>
          <a:bodyPr/>
          <a:lstStyle/>
          <a:p>
            <a:fld id="{1300335D-9F13-4B80-ADC5-B0EA3E10FF6B}" type="slidenum">
              <a:rPr lang="en-US" smtClean="0"/>
              <a:t>13</a:t>
            </a:fld>
            <a:endParaRPr lang="en-US"/>
          </a:p>
        </p:txBody>
      </p:sp>
    </p:spTree>
    <p:extLst>
      <p:ext uri="{BB962C8B-B14F-4D97-AF65-F5344CB8AC3E}">
        <p14:creationId xmlns:p14="http://schemas.microsoft.com/office/powerpoint/2010/main" val="844546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DB6049-5928-8065-DC2A-FC299B7C48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FC0C57-AD83-983B-DED0-447710D587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A32239-97F3-778C-24C8-9BC6C7AB5BC8}"/>
              </a:ext>
            </a:extLst>
          </p:cNvPr>
          <p:cNvSpPr>
            <a:spLocks noGrp="1"/>
          </p:cNvSpPr>
          <p:nvPr>
            <p:ph type="body" idx="1"/>
          </p:nvPr>
        </p:nvSpPr>
        <p:spPr/>
        <p:txBody>
          <a:bodyPr/>
          <a:lstStyle/>
          <a:p>
            <a:pPr marL="228600" indent="-228600">
              <a:buAutoNum type="arabicPeriod"/>
            </a:pPr>
            <a:r>
              <a:t>Not every email needs the same response, right? So now we're adding conditional logic. We'll create a flow that only sends notifications when a project status is delayed. We'll test it, then put it on a schedule so it runs automatically. This is where Power Automate starts feeling really powerful — you set it and forget it.</a:t>
            </a:r>
          </a:p>
          <a:p>
            <a:pPr marL="228600" indent="-228600">
              <a:buAutoNum type="arabicPeriod"/>
            </a:pPr>
            <a:r>
              <a:rPr lang="en-US" dirty="0"/>
              <a:t/>
            </a:r>
          </a:p>
          <a:p>
            <a:pPr marL="228600" indent="-228600">
              <a:buAutoNum type="arabicPeriod"/>
            </a:pPr>
            <a:r>
              <a:rPr lang="en-US" dirty="0"/>
              <a:t/>
            </a:r>
          </a:p>
        </p:txBody>
      </p:sp>
      <p:sp>
        <p:nvSpPr>
          <p:cNvPr id="4" name="Slide Number Placeholder 3">
            <a:extLst>
              <a:ext uri="{FF2B5EF4-FFF2-40B4-BE49-F238E27FC236}">
                <a16:creationId xmlns:a16="http://schemas.microsoft.com/office/drawing/2014/main" id="{CE03D4B1-A0AC-07B2-C4EE-EE617B1AB157}"/>
              </a:ext>
            </a:extLst>
          </p:cNvPr>
          <p:cNvSpPr>
            <a:spLocks noGrp="1"/>
          </p:cNvSpPr>
          <p:nvPr>
            <p:ph type="sldNum" sz="quarter" idx="5"/>
          </p:nvPr>
        </p:nvSpPr>
        <p:spPr/>
        <p:txBody>
          <a:bodyPr/>
          <a:lstStyle/>
          <a:p>
            <a:fld id="{1300335D-9F13-4B80-ADC5-B0EA3E10FF6B}" type="slidenum">
              <a:rPr lang="en-US" smtClean="0"/>
              <a:t>14</a:t>
            </a:fld>
            <a:endParaRPr lang="en-US"/>
          </a:p>
        </p:txBody>
      </p:sp>
    </p:spTree>
    <p:extLst>
      <p:ext uri="{BB962C8B-B14F-4D97-AF65-F5344CB8AC3E}">
        <p14:creationId xmlns:p14="http://schemas.microsoft.com/office/powerpoint/2010/main" val="11631875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945E6-CE7E-2487-A482-590748D551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D565A5-C4C5-B4A3-E708-957B84B003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5AD896-08FE-5715-6C86-75CB24BC7D9F}"/>
              </a:ext>
            </a:extLst>
          </p:cNvPr>
          <p:cNvSpPr>
            <a:spLocks noGrp="1"/>
          </p:cNvSpPr>
          <p:nvPr>
            <p:ph type="body" idx="1"/>
          </p:nvPr>
        </p:nvSpPr>
        <p:spPr/>
        <p:txBody>
          <a:bodyPr/>
          <a:lstStyle/>
          <a:p>
            <a:pPr marL="228600" indent="-228600">
              <a:buAutoNum type="arabicPeriod"/>
            </a:pPr>
            <a:r>
              <a:t>Now we're combining two tools — Office Scripts and Power Automate. Office Scripts let you write small TypeScript programs that run inside Excel. We'll use one that automatically builds a table of contents for any workbook, and then schedule it with Power Automate so it runs on its own. Open the power-automate-office-scripts workbook and the add-toc text file.</a:t>
            </a:r>
          </a:p>
          <a:p>
            <a:pPr marL="228600" indent="-228600">
              <a:buAutoNum type="arabicPeriod"/>
            </a:pPr>
            <a:r>
              <a:rPr lang="en-US" dirty="0"/>
              <a:t/>
            </a:r>
          </a:p>
          <a:p>
            <a:pPr marL="228600" indent="-228600">
              <a:buAutoNum type="arabicPeriod"/>
            </a:pPr>
            <a:r>
              <a:rPr lang="en-US" dirty="0"/>
              <a:t/>
            </a:r>
          </a:p>
        </p:txBody>
      </p:sp>
      <p:sp>
        <p:nvSpPr>
          <p:cNvPr id="4" name="Slide Number Placeholder 3">
            <a:extLst>
              <a:ext uri="{FF2B5EF4-FFF2-40B4-BE49-F238E27FC236}">
                <a16:creationId xmlns:a16="http://schemas.microsoft.com/office/drawing/2014/main" id="{4DC0BFCF-D905-022B-788E-7C8BB191D379}"/>
              </a:ext>
            </a:extLst>
          </p:cNvPr>
          <p:cNvSpPr>
            <a:spLocks noGrp="1"/>
          </p:cNvSpPr>
          <p:nvPr>
            <p:ph type="sldNum" sz="quarter" idx="5"/>
          </p:nvPr>
        </p:nvSpPr>
        <p:spPr/>
        <p:txBody>
          <a:bodyPr/>
          <a:lstStyle/>
          <a:p>
            <a:fld id="{1300335D-9F13-4B80-ADC5-B0EA3E10FF6B}" type="slidenum">
              <a:rPr lang="en-US" smtClean="0"/>
              <a:t>15</a:t>
            </a:fld>
            <a:endParaRPr lang="en-US"/>
          </a:p>
        </p:txBody>
      </p:sp>
    </p:spTree>
    <p:extLst>
      <p:ext uri="{BB962C8B-B14F-4D97-AF65-F5344CB8AC3E}">
        <p14:creationId xmlns:p14="http://schemas.microsoft.com/office/powerpoint/2010/main" val="39396432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CD0BB0-C27F-4394-84BC-879603FE7D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D3BEAE-D2CD-A88A-3703-056E92BB0B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1D8528-51B2-8AAF-A9AB-FE9AD8BC6069}"/>
              </a:ext>
            </a:extLst>
          </p:cNvPr>
          <p:cNvSpPr>
            <a:spLocks noGrp="1"/>
          </p:cNvSpPr>
          <p:nvPr>
            <p:ph type="body" idx="1"/>
          </p:nvPr>
        </p:nvSpPr>
        <p:spPr/>
        <p:txBody>
          <a:bodyPr/>
          <a:lstStyle/>
          <a:p>
            <a:pPr marL="228600" indent="-228600">
              <a:buAutoNum type="arabicPeriod"/>
            </a:pPr>
            <a:r>
              <a:t>What if you need to run that same script on multiple workbooks? That's what we're tackling here. We'll loop through a folder of Excel files and apply our TOC script to each one. We'll also add a check to make sure we're only processing Excel files and skipping anything else in the folder. Open the multiple-workbooks folder.</a:t>
            </a:r>
          </a:p>
          <a:p>
            <a:pPr marL="228600" indent="-228600">
              <a:buAutoNum type="arabicPeriod"/>
            </a:pPr>
            <a:r>
              <a:rPr lang="en-US" dirty="0"/>
              <a:t/>
            </a:r>
          </a:p>
          <a:p>
            <a:pPr marL="228600" indent="-228600">
              <a:buAutoNum type="arabicPeriod"/>
            </a:pPr>
            <a:r>
              <a:rPr lang="en-US" dirty="0"/>
              <a:t/>
            </a:r>
          </a:p>
        </p:txBody>
      </p:sp>
      <p:sp>
        <p:nvSpPr>
          <p:cNvPr id="4" name="Slide Number Placeholder 3">
            <a:extLst>
              <a:ext uri="{FF2B5EF4-FFF2-40B4-BE49-F238E27FC236}">
                <a16:creationId xmlns:a16="http://schemas.microsoft.com/office/drawing/2014/main" id="{F2683C92-7067-3C07-DF64-C45CF1BBC349}"/>
              </a:ext>
            </a:extLst>
          </p:cNvPr>
          <p:cNvSpPr>
            <a:spLocks noGrp="1"/>
          </p:cNvSpPr>
          <p:nvPr>
            <p:ph type="sldNum" sz="quarter" idx="5"/>
          </p:nvPr>
        </p:nvSpPr>
        <p:spPr/>
        <p:txBody>
          <a:bodyPr/>
          <a:lstStyle/>
          <a:p>
            <a:fld id="{1300335D-9F13-4B80-ADC5-B0EA3E10FF6B}" type="slidenum">
              <a:rPr lang="en-US" smtClean="0"/>
              <a:t>16</a:t>
            </a:fld>
            <a:endParaRPr lang="en-US"/>
          </a:p>
        </p:txBody>
      </p:sp>
    </p:spTree>
    <p:extLst>
      <p:ext uri="{BB962C8B-B14F-4D97-AF65-F5344CB8AC3E}">
        <p14:creationId xmlns:p14="http://schemas.microsoft.com/office/powerpoint/2010/main" val="20485443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3F2FE-DC3D-7A1A-4ACD-14EA94BE18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20B78E-1964-06AA-D0C2-ADA2C8DBD2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67BBC2-4126-39AC-7EAC-8183927C6235}"/>
              </a:ext>
            </a:extLst>
          </p:cNvPr>
          <p:cNvSpPr>
            <a:spLocks noGrp="1"/>
          </p:cNvSpPr>
          <p:nvPr>
            <p:ph type="body" idx="1"/>
          </p:nvPr>
        </p:nvSpPr>
        <p:spPr/>
        <p:txBody>
          <a:bodyPr/>
          <a:lstStyle/>
          <a:p>
            <a:pPr marL="228600" indent="-228600">
              <a:buAutoNum type="arabicPeriod"/>
            </a:pPr>
            <a:r>
              <a:t>Here's your next exercise. In the pa-challenge folder, you'll find a file-log workbook and an incoming-files folder. Your job is to create a flow that logs every new workbook uploaded to that folder. Use the 'when a file is created' trigger, add conditional logic to check the file type, and consider using Power Fx to format the upload date. Take about ten minutes.</a:t>
            </a:r>
          </a:p>
          <a:p>
            <a:pPr marL="228600" indent="-228600">
              <a:buAutoNum type="arabicPeriod"/>
            </a:pPr>
            <a:r>
              <a:rPr lang="en-US" dirty="0"/>
              <a:t/>
            </a:r>
          </a:p>
          <a:p>
            <a:pPr marL="228600" indent="-228600">
              <a:buAutoNum type="arabicPeriod"/>
            </a:pPr>
            <a:r>
              <a:rPr lang="en-US" dirty="0"/>
              <a:t/>
            </a:r>
          </a:p>
        </p:txBody>
      </p:sp>
      <p:sp>
        <p:nvSpPr>
          <p:cNvPr id="4" name="Slide Number Placeholder 3">
            <a:extLst>
              <a:ext uri="{FF2B5EF4-FFF2-40B4-BE49-F238E27FC236}">
                <a16:creationId xmlns:a16="http://schemas.microsoft.com/office/drawing/2014/main" id="{F925E90F-7E93-3536-F365-576D074091C5}"/>
              </a:ext>
            </a:extLst>
          </p:cNvPr>
          <p:cNvSpPr>
            <a:spLocks noGrp="1"/>
          </p:cNvSpPr>
          <p:nvPr>
            <p:ph type="sldNum" sz="quarter" idx="5"/>
          </p:nvPr>
        </p:nvSpPr>
        <p:spPr/>
        <p:txBody>
          <a:bodyPr/>
          <a:lstStyle/>
          <a:p>
            <a:fld id="{1300335D-9F13-4B80-ADC5-B0EA3E10FF6B}" type="slidenum">
              <a:rPr lang="en-US" smtClean="0"/>
              <a:t>17</a:t>
            </a:fld>
            <a:endParaRPr lang="en-US"/>
          </a:p>
        </p:txBody>
      </p:sp>
    </p:spTree>
    <p:extLst>
      <p:ext uri="{BB962C8B-B14F-4D97-AF65-F5344CB8AC3E}">
        <p14:creationId xmlns:p14="http://schemas.microsoft.com/office/powerpoint/2010/main" val="3928833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21485F-A7CF-3E32-E2BB-FEE0B86F74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825F72-8E06-E4B8-08D5-9FD3C0962C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A1F42F-A3BB-8C6C-C1FF-5D2629FC5650}"/>
              </a:ext>
            </a:extLst>
          </p:cNvPr>
          <p:cNvSpPr>
            <a:spLocks noGrp="1"/>
          </p:cNvSpPr>
          <p:nvPr>
            <p:ph type="body" idx="1"/>
          </p:nvPr>
        </p:nvSpPr>
        <p:spPr/>
        <p:txBody>
          <a:bodyPr/>
          <a:lstStyle/>
          <a:p>
            <a:pPr marL="228600" indent="-228600">
              <a:buAutoNum type="arabicPeriod"/>
            </a:pPr>
            <a:r>
              <a:t>Approval workflows are one of the most popular uses for Power Automate in organizations. We're going to build one that connects Microsoft Forms to Excel and Power Automate. When someone submits an expense, the flow sends an approval request. The response gets logged back into the workbook. This is a complete end-to-end process.</a:t>
            </a:r>
          </a:p>
          <a:p>
            <a:pPr marL="228600" indent="-228600">
              <a:buAutoNum type="arabicPeriod"/>
            </a:pPr>
            <a:r>
              <a:rPr lang="en-US" dirty="0"/>
              <a:t/>
            </a:r>
          </a:p>
          <a:p>
            <a:pPr marL="228600" indent="-228600">
              <a:buAutoNum type="arabicPeriod"/>
            </a:pPr>
            <a:r>
              <a:rPr lang="en-US" dirty="0"/>
              <a:t/>
            </a:r>
          </a:p>
        </p:txBody>
      </p:sp>
      <p:sp>
        <p:nvSpPr>
          <p:cNvPr id="4" name="Slide Number Placeholder 3">
            <a:extLst>
              <a:ext uri="{FF2B5EF4-FFF2-40B4-BE49-F238E27FC236}">
                <a16:creationId xmlns:a16="http://schemas.microsoft.com/office/drawing/2014/main" id="{8D082AC1-96FC-37CF-5AF0-FEB93E097CAB}"/>
              </a:ext>
            </a:extLst>
          </p:cNvPr>
          <p:cNvSpPr>
            <a:spLocks noGrp="1"/>
          </p:cNvSpPr>
          <p:nvPr>
            <p:ph type="sldNum" sz="quarter" idx="5"/>
          </p:nvPr>
        </p:nvSpPr>
        <p:spPr/>
        <p:txBody>
          <a:bodyPr/>
          <a:lstStyle/>
          <a:p>
            <a:fld id="{1300335D-9F13-4B80-ADC5-B0EA3E10FF6B}" type="slidenum">
              <a:rPr lang="en-US" smtClean="0"/>
              <a:t>19</a:t>
            </a:fld>
            <a:endParaRPr lang="en-US"/>
          </a:p>
        </p:txBody>
      </p:sp>
    </p:spTree>
    <p:extLst>
      <p:ext uri="{BB962C8B-B14F-4D97-AF65-F5344CB8AC3E}">
        <p14:creationId xmlns:p14="http://schemas.microsoft.com/office/powerpoint/2010/main" val="23722822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AF1D4-B80A-3C59-CC31-B3357DA913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ADC3C8-8914-8EFE-3032-BE4E8C4E92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1EE7CB-F846-BADE-45D3-2CBC0F1D9DEC}"/>
              </a:ext>
            </a:extLst>
          </p:cNvPr>
          <p:cNvSpPr>
            <a:spLocks noGrp="1"/>
          </p:cNvSpPr>
          <p:nvPr>
            <p:ph type="body" idx="1"/>
          </p:nvPr>
        </p:nvSpPr>
        <p:spPr/>
        <p:txBody>
          <a:bodyPr/>
          <a:lstStyle/>
          <a:p>
            <a:pPr marL="228600" indent="-228600">
              <a:buAutoNum type="arabicPeriod"/>
            </a:pPr>
            <a:r>
              <a:t>Power Automate can also pull data from outside sources. We'll use an RSS feed from the BBC as an example — the flow checks for new articles and logs them into an Excel workbook. This is a good comparison point with Power Query: Power Query is great for scheduled data pulls, but Power Automate can react in real time and do things like send notifications when new data arrives.</a:t>
            </a:r>
          </a:p>
          <a:p>
            <a:pPr marL="228600" indent="-228600">
              <a:buAutoNum type="arabicPeriod"/>
            </a:pPr>
            <a:r>
              <a:rPr lang="en-US" dirty="0"/>
              <a:t/>
            </a:r>
          </a:p>
          <a:p>
            <a:pPr marL="228600" indent="-228600">
              <a:buAutoNum type="arabicPeriod"/>
            </a:pPr>
            <a:r>
              <a:rPr lang="en-US" dirty="0"/>
              <a:t/>
            </a:r>
          </a:p>
        </p:txBody>
      </p:sp>
      <p:sp>
        <p:nvSpPr>
          <p:cNvPr id="4" name="Slide Number Placeholder 3">
            <a:extLst>
              <a:ext uri="{FF2B5EF4-FFF2-40B4-BE49-F238E27FC236}">
                <a16:creationId xmlns:a16="http://schemas.microsoft.com/office/drawing/2014/main" id="{27008C67-BCF8-1E3D-6BE1-0AC78FFD6BDF}"/>
              </a:ext>
            </a:extLst>
          </p:cNvPr>
          <p:cNvSpPr>
            <a:spLocks noGrp="1"/>
          </p:cNvSpPr>
          <p:nvPr>
            <p:ph type="sldNum" sz="quarter" idx="5"/>
          </p:nvPr>
        </p:nvSpPr>
        <p:spPr/>
        <p:txBody>
          <a:bodyPr/>
          <a:lstStyle/>
          <a:p>
            <a:fld id="{1300335D-9F13-4B80-ADC5-B0EA3E10FF6B}" type="slidenum">
              <a:rPr lang="en-US" smtClean="0"/>
              <a:t>20</a:t>
            </a:fld>
            <a:endParaRPr lang="en-US"/>
          </a:p>
        </p:txBody>
      </p:sp>
    </p:spTree>
    <p:extLst>
      <p:ext uri="{BB962C8B-B14F-4D97-AF65-F5344CB8AC3E}">
        <p14:creationId xmlns:p14="http://schemas.microsoft.com/office/powerpoint/2010/main" val="20251234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1A017D-E5D7-97C7-031F-443D49081E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A1095C-0A5C-7E2B-51A8-B22453EFF8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6CF33D-C549-8AE4-8A27-1830BD0C6976}"/>
              </a:ext>
            </a:extLst>
          </p:cNvPr>
          <p:cNvSpPr>
            <a:spLocks noGrp="1"/>
          </p:cNvSpPr>
          <p:nvPr>
            <p:ph type="body" idx="1"/>
          </p:nvPr>
        </p:nvSpPr>
        <p:spPr/>
        <p:txBody>
          <a:bodyPr/>
          <a:lstStyle/>
          <a:p>
            <a:pPr marL="228600" indent="-228600">
              <a:buAutoNum type="arabicPeriod"/>
            </a:pPr>
            <a:r>
              <a:t>Last exercise for the Power Automate section. You're going to build a customer feedback review process. Start with a Forms trigger, add conditional logic based on the experience score, and send different emails depending on whether the feedback is positive or negative. Feel free to use Copilot to help you build this one — that's what it's there for.</a:t>
            </a:r>
          </a:p>
          <a:p>
            <a:pPr marL="228600" indent="-228600">
              <a:buAutoNum type="arabicPeriod"/>
            </a:pPr>
            <a:r>
              <a:rPr lang="en-US" dirty="0"/>
              <a:t/>
            </a:r>
          </a:p>
          <a:p>
            <a:pPr marL="228600" indent="-228600">
              <a:buAutoNum type="arabicPeriod"/>
            </a:pPr>
            <a:r>
              <a:rPr lang="en-US" dirty="0"/>
              <a:t/>
            </a:r>
          </a:p>
        </p:txBody>
      </p:sp>
      <p:sp>
        <p:nvSpPr>
          <p:cNvPr id="4" name="Slide Number Placeholder 3">
            <a:extLst>
              <a:ext uri="{FF2B5EF4-FFF2-40B4-BE49-F238E27FC236}">
                <a16:creationId xmlns:a16="http://schemas.microsoft.com/office/drawing/2014/main" id="{06EEAFF3-AE43-8989-34FB-BF5295BDF66E}"/>
              </a:ext>
            </a:extLst>
          </p:cNvPr>
          <p:cNvSpPr>
            <a:spLocks noGrp="1"/>
          </p:cNvSpPr>
          <p:nvPr>
            <p:ph type="sldNum" sz="quarter" idx="5"/>
          </p:nvPr>
        </p:nvSpPr>
        <p:spPr/>
        <p:txBody>
          <a:bodyPr/>
          <a:lstStyle/>
          <a:p>
            <a:fld id="{1300335D-9F13-4B80-ADC5-B0EA3E10FF6B}" type="slidenum">
              <a:rPr lang="en-US" smtClean="0"/>
              <a:t>21</a:t>
            </a:fld>
            <a:endParaRPr lang="en-US"/>
          </a:p>
        </p:txBody>
      </p:sp>
    </p:spTree>
    <p:extLst>
      <p:ext uri="{BB962C8B-B14F-4D97-AF65-F5344CB8AC3E}">
        <p14:creationId xmlns:p14="http://schemas.microsoft.com/office/powerpoint/2010/main" val="22930346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t>Alright, switching gears to Power BI. If you've used Power Query in Excel, this is going to feel familiar. We'll load a worksheet into Power BI Desktop, profile the data to check for quality issues, and do some basic transformations. The Power Query experience in Power BI is almost identical to Excel — same interface, same M language under the hood.</a:t>
            </a:r>
          </a:p>
          <a:p>
            <a:pPr marL="228600" indent="-228600">
              <a:buAutoNum type="arabicPeriod"/>
            </a:pPr>
            <a:r>
              <a:rPr lang="en-US" dirty="0"/>
              <a:t/>
            </a:r>
          </a:p>
          <a:p>
            <a:pPr marL="228600" indent="-228600">
              <a:buAutoNum type="arabicPeriod"/>
            </a:pPr>
            <a:r>
              <a:rPr lang="en-US" dirty="0"/>
              <a:t/>
            </a:r>
          </a:p>
        </p:txBody>
      </p:sp>
      <p:sp>
        <p:nvSpPr>
          <p:cNvPr id="4" name="Slide Number Placeholder 3"/>
          <p:cNvSpPr>
            <a:spLocks noGrp="1"/>
          </p:cNvSpPr>
          <p:nvPr>
            <p:ph type="sldNum" sz="quarter" idx="5"/>
          </p:nvPr>
        </p:nvSpPr>
        <p:spPr/>
        <p:txBody>
          <a:bodyPr/>
          <a:lstStyle/>
          <a:p>
            <a:fld id="{1300335D-9F13-4B80-ADC5-B0EA3E10FF6B}" type="slidenum">
              <a:rPr lang="en-US" smtClean="0"/>
              <a:t>24</a:t>
            </a:fld>
            <a:endParaRPr lang="en-US"/>
          </a:p>
        </p:txBody>
      </p:sp>
    </p:spTree>
    <p:extLst>
      <p:ext uri="{BB962C8B-B14F-4D97-AF65-F5344CB8AC3E}">
        <p14:creationId xmlns:p14="http://schemas.microsoft.com/office/powerpoint/2010/main" val="6245492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87FECE-35C8-2280-2CF9-9A5B7ABD94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FA516F-55A2-FF7F-3973-4C55F68AC6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CC3095-AF81-42F2-90C1-47B8D0EC40F7}"/>
              </a:ext>
            </a:extLst>
          </p:cNvPr>
          <p:cNvSpPr>
            <a:spLocks noGrp="1"/>
          </p:cNvSpPr>
          <p:nvPr>
            <p:ph type="body" idx="1"/>
          </p:nvPr>
        </p:nvSpPr>
        <p:spPr/>
        <p:txBody>
          <a:bodyPr/>
          <a:lstStyle/>
          <a:p>
            <a:pPr marL="228600" indent="-228600">
              <a:buAutoNum type="arabicPeriod"/>
            </a:pPr>
            <a:r>
              <a:t>If you've already built a data model in Excel with Power Pivot, you don't have to start from scratch in Power BI. We can import your existing data model directly. I'll show you how, and we'll talk about the strengths and limitations of this approach — it works well for getting started quickly, but there are some things that don't carry over perfectly.</a:t>
            </a:r>
          </a:p>
          <a:p>
            <a:pPr marL="228600" indent="-228600">
              <a:buAutoNum type="arabicPeriod"/>
            </a:pPr>
            <a:r>
              <a:rPr lang="en-US" dirty="0"/>
              <a:t/>
            </a:r>
          </a:p>
          <a:p>
            <a:pPr marL="228600" indent="-228600">
              <a:buAutoNum type="arabicPeriod"/>
            </a:pPr>
            <a:r>
              <a:rPr lang="en-US" dirty="0"/>
              <a:t/>
            </a:r>
          </a:p>
        </p:txBody>
      </p:sp>
      <p:sp>
        <p:nvSpPr>
          <p:cNvPr id="4" name="Slide Number Placeholder 3">
            <a:extLst>
              <a:ext uri="{FF2B5EF4-FFF2-40B4-BE49-F238E27FC236}">
                <a16:creationId xmlns:a16="http://schemas.microsoft.com/office/drawing/2014/main" id="{60DBACF5-7DF6-0128-0C59-D49773290437}"/>
              </a:ext>
            </a:extLst>
          </p:cNvPr>
          <p:cNvSpPr>
            <a:spLocks noGrp="1"/>
          </p:cNvSpPr>
          <p:nvPr>
            <p:ph type="sldNum" sz="quarter" idx="5"/>
          </p:nvPr>
        </p:nvSpPr>
        <p:spPr/>
        <p:txBody>
          <a:bodyPr/>
          <a:lstStyle/>
          <a:p>
            <a:fld id="{1300335D-9F13-4B80-ADC5-B0EA3E10FF6B}" type="slidenum">
              <a:rPr lang="en-US" smtClean="0"/>
              <a:t>25</a:t>
            </a:fld>
            <a:endParaRPr lang="en-US"/>
          </a:p>
        </p:txBody>
      </p:sp>
    </p:spTree>
    <p:extLst>
      <p:ext uri="{BB962C8B-B14F-4D97-AF65-F5344CB8AC3E}">
        <p14:creationId xmlns:p14="http://schemas.microsoft.com/office/powerpoint/2010/main" val="380430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t>Now for the fun part — building interactive visuals. We'll use the penguins dataset to create charts, add slicers and timelines, and see how cross-filtering works — where clicking on one chart filters all the others automatically. This is where Power BI really shines compared to Excel — the interactivity is built in.</a:t>
            </a:r>
          </a:p>
          <a:p>
            <a:pPr marL="228600" indent="-228600">
              <a:buAutoNum type="arabicPeriod"/>
            </a:pPr>
            <a:r>
              <a:rPr lang="en-US" dirty="0"/>
              <a:t/>
            </a:r>
          </a:p>
          <a:p>
            <a:pPr marL="228600" indent="-228600">
              <a:buAutoNum type="arabicPeriod"/>
            </a:pPr>
            <a:r>
              <a:rPr lang="en-US" dirty="0"/>
              <a:t/>
            </a:r>
          </a:p>
        </p:txBody>
      </p:sp>
      <p:sp>
        <p:nvSpPr>
          <p:cNvPr id="4" name="Slide Number Placeholder 3"/>
          <p:cNvSpPr>
            <a:spLocks noGrp="1"/>
          </p:cNvSpPr>
          <p:nvPr>
            <p:ph type="sldNum" sz="quarter" idx="5"/>
          </p:nvPr>
        </p:nvSpPr>
        <p:spPr/>
        <p:txBody>
          <a:bodyPr/>
          <a:lstStyle/>
          <a:p>
            <a:fld id="{1300335D-9F13-4B80-ADC5-B0EA3E10FF6B}" type="slidenum">
              <a:rPr lang="en-US" smtClean="0"/>
              <a:t>26</a:t>
            </a:fld>
            <a:endParaRPr lang="en-US"/>
          </a:p>
        </p:txBody>
      </p:sp>
    </p:spTree>
    <p:extLst>
      <p:ext uri="{BB962C8B-B14F-4D97-AF65-F5344CB8AC3E}">
        <p14:creationId xmlns:p14="http://schemas.microsoft.com/office/powerpoint/2010/main" val="38643298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27428-6FC2-A027-32B1-DB84A3E8FC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4A4E1A-74A6-A7D3-C5A0-389364C0DD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42E65A-B376-8DBB-656F-98973EABEDCB}"/>
              </a:ext>
            </a:extLst>
          </p:cNvPr>
          <p:cNvSpPr>
            <a:spLocks noGrp="1"/>
          </p:cNvSpPr>
          <p:nvPr>
            <p:ph type="body" idx="1"/>
          </p:nvPr>
        </p:nvSpPr>
        <p:spPr/>
        <p:txBody>
          <a:bodyPr/>
          <a:lstStyle/>
          <a:p>
            <a:pPr marL="228600" indent="-228600">
              <a:buAutoNum type="arabicPeriod"/>
            </a:pPr>
            <a:r>
              <a:t>Time for the Power BI exercise. You're working with baseball data here. For all records since 1970, create a stolen base percentage measure using DAX, compare that metric over time by league, look at the relationship between runs and wins, and add a timeline slicer. The solution file is in the folder if you need it.</a:t>
            </a:r>
          </a:p>
          <a:p>
            <a:pPr marL="228600" indent="-228600">
              <a:buAutoNum type="arabicPeriod"/>
            </a:pPr>
            <a:r>
              <a:rPr lang="en-US" dirty="0"/>
              <a:t/>
            </a:r>
          </a:p>
          <a:p>
            <a:pPr marL="228600" indent="-228600">
              <a:buAutoNum type="arabicPeriod"/>
            </a:pPr>
            <a:r>
              <a:rPr lang="en-US" dirty="0"/>
              <a:t/>
            </a:r>
          </a:p>
        </p:txBody>
      </p:sp>
      <p:sp>
        <p:nvSpPr>
          <p:cNvPr id="4" name="Slide Number Placeholder 3">
            <a:extLst>
              <a:ext uri="{FF2B5EF4-FFF2-40B4-BE49-F238E27FC236}">
                <a16:creationId xmlns:a16="http://schemas.microsoft.com/office/drawing/2014/main" id="{3D590908-5AEE-5D1B-AF9B-6D6186D5DC0F}"/>
              </a:ext>
            </a:extLst>
          </p:cNvPr>
          <p:cNvSpPr>
            <a:spLocks noGrp="1"/>
          </p:cNvSpPr>
          <p:nvPr>
            <p:ph type="sldNum" sz="quarter" idx="5"/>
          </p:nvPr>
        </p:nvSpPr>
        <p:spPr/>
        <p:txBody>
          <a:bodyPr/>
          <a:lstStyle/>
          <a:p>
            <a:fld id="{1300335D-9F13-4B80-ADC5-B0EA3E10FF6B}" type="slidenum">
              <a:rPr lang="en-US" smtClean="0"/>
              <a:t>27</a:t>
            </a:fld>
            <a:endParaRPr lang="en-US"/>
          </a:p>
        </p:txBody>
      </p:sp>
    </p:spTree>
    <p:extLst>
      <p:ext uri="{BB962C8B-B14F-4D97-AF65-F5344CB8AC3E}">
        <p14:creationId xmlns:p14="http://schemas.microsoft.com/office/powerpoint/2010/main" val="32752812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t>Power Apps lets you turn an Excel table into a working mobile app in minutes. We'll upload our Excel data, and Power Apps will automatically generate a three-screen app — a browse screen, a detail screen, and an edit screen. You can add records, edit them, and preview everything right in the browser.</a:t>
            </a:r>
          </a:p>
          <a:p>
            <a:pPr marL="228600" indent="-228600">
              <a:buAutoNum type="arabicPeriod"/>
            </a:pPr>
            <a:r>
              <a:rPr lang="en-US" dirty="0"/>
              <a:t/>
            </a:r>
          </a:p>
          <a:p>
            <a:pPr marL="228600" indent="-228600">
              <a:buAutoNum type="arabicPeriod"/>
            </a:pPr>
            <a:r>
              <a:rPr lang="en-US" dirty="0"/>
              <a:t/>
            </a:r>
          </a:p>
        </p:txBody>
      </p:sp>
      <p:sp>
        <p:nvSpPr>
          <p:cNvPr id="4" name="Slide Number Placeholder 3"/>
          <p:cNvSpPr>
            <a:spLocks noGrp="1"/>
          </p:cNvSpPr>
          <p:nvPr>
            <p:ph type="sldNum" sz="quarter" idx="5"/>
          </p:nvPr>
        </p:nvSpPr>
        <p:spPr/>
        <p:txBody>
          <a:bodyPr/>
          <a:lstStyle/>
          <a:p>
            <a:fld id="{1300335D-9F13-4B80-ADC5-B0EA3E10FF6B}" type="slidenum">
              <a:rPr lang="en-US" smtClean="0"/>
              <a:t>30</a:t>
            </a:fld>
            <a:endParaRPr lang="en-US"/>
          </a:p>
        </p:txBody>
      </p:sp>
    </p:spTree>
    <p:extLst>
      <p:ext uri="{BB962C8B-B14F-4D97-AF65-F5344CB8AC3E}">
        <p14:creationId xmlns:p14="http://schemas.microsoft.com/office/powerpoint/2010/main" val="6245492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t>The auto-generated app is a good start, but you'll want to customize it. We'll add required fields so users can't submit incomplete data, create dropdown menus for data validation, and add date range validation to prevent impossible entries. These small touches make the difference between a prototype and something people actually use.</a:t>
            </a:r>
          </a:p>
          <a:p>
            <a:pPr marL="228600" indent="-228600">
              <a:buAutoNum type="arabicPeriod"/>
            </a:pPr>
            <a:r>
              <a:rPr lang="en-US" dirty="0"/>
              <a:t/>
            </a:r>
          </a:p>
          <a:p>
            <a:pPr marL="228600" indent="-228600">
              <a:buAutoNum type="arabicPeriod"/>
            </a:pPr>
            <a:r>
              <a:rPr lang="en-US" dirty="0"/>
              <a:t/>
            </a:r>
          </a:p>
        </p:txBody>
      </p:sp>
      <p:sp>
        <p:nvSpPr>
          <p:cNvPr id="4" name="Slide Number Placeholder 3"/>
          <p:cNvSpPr>
            <a:spLocks noGrp="1"/>
          </p:cNvSpPr>
          <p:nvPr>
            <p:ph type="sldNum" sz="quarter" idx="5"/>
          </p:nvPr>
        </p:nvSpPr>
        <p:spPr/>
        <p:txBody>
          <a:bodyPr/>
          <a:lstStyle/>
          <a:p>
            <a:fld id="{1300335D-9F13-4B80-ADC5-B0EA3E10FF6B}" type="slidenum">
              <a:rPr lang="en-US" smtClean="0"/>
              <a:t>31</a:t>
            </a:fld>
            <a:endParaRPr lang="en-US"/>
          </a:p>
        </p:txBody>
      </p:sp>
    </p:spTree>
    <p:extLst>
      <p:ext uri="{BB962C8B-B14F-4D97-AF65-F5344CB8AC3E}">
        <p14:creationId xmlns:p14="http://schemas.microsoft.com/office/powerpoint/2010/main" val="38643298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D5532-326F-4669-1CB2-DA7AFD783D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F669E7-8D85-DEB6-7D4D-FA8E8268D1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1F375F-294F-03AB-52EE-36A85AF9FC2A}"/>
              </a:ext>
            </a:extLst>
          </p:cNvPr>
          <p:cNvSpPr>
            <a:spLocks noGrp="1"/>
          </p:cNvSpPr>
          <p:nvPr>
            <p:ph type="body" idx="1"/>
          </p:nvPr>
        </p:nvSpPr>
        <p:spPr/>
        <p:txBody>
          <a:bodyPr/>
          <a:lstStyle/>
          <a:p>
            <a:pPr marL="228600" indent="-228600">
              <a:buAutoNum type="arabicPeriod"/>
            </a:pPr>
            <a:r>
              <a:t>Once your app works in development, you need to deploy it. We'll prepare the Excel workbook for external use — making sure it's stored in the right place — and then export the app as a ZIP file for migration. This is the process you'd follow to move an app from a test environment to production.</a:t>
            </a:r>
          </a:p>
          <a:p>
            <a:pPr marL="228600" indent="-228600">
              <a:buAutoNum type="arabicPeriod"/>
            </a:pPr>
            <a:r>
              <a:rPr lang="en-US" dirty="0"/>
              <a:t/>
            </a:r>
          </a:p>
          <a:p>
            <a:pPr marL="228600" indent="-228600">
              <a:buAutoNum type="arabicPeriod"/>
            </a:pPr>
            <a:r>
              <a:rPr lang="en-US" dirty="0"/>
              <a:t/>
            </a:r>
          </a:p>
        </p:txBody>
      </p:sp>
      <p:sp>
        <p:nvSpPr>
          <p:cNvPr id="4" name="Slide Number Placeholder 3">
            <a:extLst>
              <a:ext uri="{FF2B5EF4-FFF2-40B4-BE49-F238E27FC236}">
                <a16:creationId xmlns:a16="http://schemas.microsoft.com/office/drawing/2014/main" id="{9A17E0FB-DBB2-3D20-1323-ADC2F3DB14CF}"/>
              </a:ext>
            </a:extLst>
          </p:cNvPr>
          <p:cNvSpPr>
            <a:spLocks noGrp="1"/>
          </p:cNvSpPr>
          <p:nvPr>
            <p:ph type="sldNum" sz="quarter" idx="5"/>
          </p:nvPr>
        </p:nvSpPr>
        <p:spPr/>
        <p:txBody>
          <a:bodyPr/>
          <a:lstStyle/>
          <a:p>
            <a:fld id="{1300335D-9F13-4B80-ADC5-B0EA3E10FF6B}" type="slidenum">
              <a:rPr lang="en-US" smtClean="0"/>
              <a:t>32</a:t>
            </a:fld>
            <a:endParaRPr lang="en-US"/>
          </a:p>
        </p:txBody>
      </p:sp>
    </p:spTree>
    <p:extLst>
      <p:ext uri="{BB962C8B-B14F-4D97-AF65-F5344CB8AC3E}">
        <p14:creationId xmlns:p14="http://schemas.microsoft.com/office/powerpoint/2010/main" val="9175058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948FC-8E31-57A5-1572-2BD51435BB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5FBA2C-8C25-ED84-25F8-72C4EE9740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27E3F8-F267-4C16-DA32-D9FBC5B291D6}"/>
              </a:ext>
            </a:extLst>
          </p:cNvPr>
          <p:cNvSpPr>
            <a:spLocks noGrp="1"/>
          </p:cNvSpPr>
          <p:nvPr>
            <p:ph type="body" idx="1"/>
          </p:nvPr>
        </p:nvSpPr>
        <p:spPr/>
        <p:txBody>
          <a:bodyPr/>
          <a:lstStyle/>
          <a:p>
            <a:pPr marL="228600" indent="-228600">
              <a:buAutoNum type="arabicPeriod"/>
            </a:pPr>
            <a:r>
              <a:t>For this challenge, you're going to build an app that includes images. The power-apps-challenge folder has an Excel file with image URLs and some photos. Your job is to create an app where users can see the photos alongside the data. This is common for things like maintenance tracking, inventory, or inspection apps.</a:t>
            </a:r>
          </a:p>
          <a:p>
            <a:pPr marL="228600" indent="-228600">
              <a:buAutoNum type="arabicPeriod"/>
            </a:pPr>
            <a:r>
              <a:rPr lang="en-US" dirty="0"/>
              <a:t/>
            </a:r>
          </a:p>
          <a:p>
            <a:pPr marL="228600" indent="-228600">
              <a:buAutoNum type="arabicPeriod"/>
            </a:pPr>
            <a:r>
              <a:rPr lang="en-US" dirty="0"/>
              <a:t/>
            </a:r>
          </a:p>
        </p:txBody>
      </p:sp>
      <p:sp>
        <p:nvSpPr>
          <p:cNvPr id="4" name="Slide Number Placeholder 3">
            <a:extLst>
              <a:ext uri="{FF2B5EF4-FFF2-40B4-BE49-F238E27FC236}">
                <a16:creationId xmlns:a16="http://schemas.microsoft.com/office/drawing/2014/main" id="{85117B97-59E7-F89F-5A8E-93001789EA4D}"/>
              </a:ext>
            </a:extLst>
          </p:cNvPr>
          <p:cNvSpPr>
            <a:spLocks noGrp="1"/>
          </p:cNvSpPr>
          <p:nvPr>
            <p:ph type="sldNum" sz="quarter" idx="5"/>
          </p:nvPr>
        </p:nvSpPr>
        <p:spPr/>
        <p:txBody>
          <a:bodyPr/>
          <a:lstStyle/>
          <a:p>
            <a:fld id="{1300335D-9F13-4B80-ADC5-B0EA3E10FF6B}" type="slidenum">
              <a:rPr lang="en-US" smtClean="0"/>
              <a:t>33</a:t>
            </a:fld>
            <a:endParaRPr lang="en-US"/>
          </a:p>
        </p:txBody>
      </p:sp>
    </p:spTree>
    <p:extLst>
      <p:ext uri="{BB962C8B-B14F-4D97-AF65-F5344CB8AC3E}">
        <p14:creationId xmlns:p14="http://schemas.microsoft.com/office/powerpoint/2010/main" val="408962946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4B1B5-A60D-967D-49BC-6F3ABD430E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F92654-5E87-00BA-6746-303D497ED4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BC1A70-63B8-CA42-42BB-70F21EDD71D7}"/>
              </a:ext>
            </a:extLst>
          </p:cNvPr>
          <p:cNvSpPr>
            <a:spLocks noGrp="1"/>
          </p:cNvSpPr>
          <p:nvPr>
            <p:ph type="body" idx="1"/>
          </p:nvPr>
        </p:nvSpPr>
        <p:spPr/>
        <p:txBody>
          <a:bodyPr/>
          <a:lstStyle/>
          <a:p>
            <a:pPr marL="228600" indent="-228600">
              <a:buAutoNum type="arabicPeriod"/>
            </a:pPr>
            <a:r>
              <a:t>Our last tool is Copilot Studio, which lets you build custom AI chatbots. We'll create a chatbot that answers Excel questions using MVP websites as its knowledge base. You'll add trusted sources, set up the agent's instructions, and test it with some real questions. Open the mvp-knowledge-base-instructions document for the setup details.</a:t>
            </a:r>
          </a:p>
          <a:p>
            <a:pPr marL="228600" indent="-228600">
              <a:buAutoNum type="arabicPeriod"/>
            </a:pPr>
            <a:r>
              <a:rPr lang="en-US" dirty="0"/>
              <a:t/>
            </a:r>
          </a:p>
          <a:p>
            <a:pPr marL="228600" indent="-228600">
              <a:buAutoNum type="arabicPeriod"/>
            </a:pPr>
            <a:r>
              <a:rPr lang="en-US" dirty="0"/>
              <a:t/>
            </a:r>
          </a:p>
        </p:txBody>
      </p:sp>
      <p:sp>
        <p:nvSpPr>
          <p:cNvPr id="4" name="Slide Number Placeholder 3">
            <a:extLst>
              <a:ext uri="{FF2B5EF4-FFF2-40B4-BE49-F238E27FC236}">
                <a16:creationId xmlns:a16="http://schemas.microsoft.com/office/drawing/2014/main" id="{62A5ACB8-FCC1-D3E3-8AE3-DDDF3FBF49DE}"/>
              </a:ext>
            </a:extLst>
          </p:cNvPr>
          <p:cNvSpPr>
            <a:spLocks noGrp="1"/>
          </p:cNvSpPr>
          <p:nvPr>
            <p:ph type="sldNum" sz="quarter" idx="5"/>
          </p:nvPr>
        </p:nvSpPr>
        <p:spPr/>
        <p:txBody>
          <a:bodyPr/>
          <a:lstStyle/>
          <a:p>
            <a:fld id="{1300335D-9F13-4B80-ADC5-B0EA3E10FF6B}" type="slidenum">
              <a:rPr lang="en-US" smtClean="0"/>
              <a:t>36</a:t>
            </a:fld>
            <a:endParaRPr lang="en-US"/>
          </a:p>
        </p:txBody>
      </p:sp>
    </p:spTree>
    <p:extLst>
      <p:ext uri="{BB962C8B-B14F-4D97-AF65-F5344CB8AC3E}">
        <p14:creationId xmlns:p14="http://schemas.microsoft.com/office/powerpoint/2010/main" val="26996192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50922F-4D0C-FB0E-32E5-172A598685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DB9C3A-8509-54EA-8FA2-BFA67CBA76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E329DD-8152-B357-9A41-482E5FC28C71}"/>
              </a:ext>
            </a:extLst>
          </p:cNvPr>
          <p:cNvSpPr>
            <a:spLocks noGrp="1"/>
          </p:cNvSpPr>
          <p:nvPr>
            <p:ph type="body" idx="1"/>
          </p:nvPr>
        </p:nvSpPr>
        <p:spPr/>
        <p:txBody>
          <a:bodyPr/>
          <a:lstStyle/>
          <a:p>
            <a:pPr marL="228600" indent="-228600">
              <a:buAutoNum type="arabicPeriod"/>
            </a:pPr>
            <a:r>
              <a:t>For the exercise, you'll build a chatbot that helps people find Excel keyboard shortcuts. The knowledge base is just a simple Excel workbook with shortcut data. You'll also customize the goodbye topic to give it some personality, and then publish it to Microsoft Teams so you can see it running inside a real app. The instructions are in the copilot-studio-exercise folder.</a:t>
            </a:r>
          </a:p>
          <a:p>
            <a:pPr marL="228600" indent="-228600">
              <a:buAutoNum type="arabicPeriod"/>
            </a:pPr>
            <a:r>
              <a:rPr lang="en-US" dirty="0"/>
              <a:t/>
            </a:r>
          </a:p>
          <a:p>
            <a:pPr marL="228600" indent="-228600">
              <a:buAutoNum type="arabicPeriod"/>
            </a:pPr>
            <a:r>
              <a:rPr lang="en-US" dirty="0"/>
              <a:t/>
            </a:r>
          </a:p>
        </p:txBody>
      </p:sp>
      <p:sp>
        <p:nvSpPr>
          <p:cNvPr id="4" name="Slide Number Placeholder 3">
            <a:extLst>
              <a:ext uri="{FF2B5EF4-FFF2-40B4-BE49-F238E27FC236}">
                <a16:creationId xmlns:a16="http://schemas.microsoft.com/office/drawing/2014/main" id="{07F02883-B11C-62B3-DBFD-84BF6D74E7EC}"/>
              </a:ext>
            </a:extLst>
          </p:cNvPr>
          <p:cNvSpPr>
            <a:spLocks noGrp="1"/>
          </p:cNvSpPr>
          <p:nvPr>
            <p:ph type="sldNum" sz="quarter" idx="5"/>
          </p:nvPr>
        </p:nvSpPr>
        <p:spPr/>
        <p:txBody>
          <a:bodyPr/>
          <a:lstStyle/>
          <a:p>
            <a:fld id="{1300335D-9F13-4B80-ADC5-B0EA3E10FF6B}" type="slidenum">
              <a:rPr lang="en-US" smtClean="0"/>
              <a:t>37</a:t>
            </a:fld>
            <a:endParaRPr lang="en-US"/>
          </a:p>
        </p:txBody>
      </p:sp>
    </p:spTree>
    <p:extLst>
      <p:ext uri="{BB962C8B-B14F-4D97-AF65-F5344CB8AC3E}">
        <p14:creationId xmlns:p14="http://schemas.microsoft.com/office/powerpoint/2010/main" val="4184537247"/>
      </p:ext>
    </p:extLst>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step back and look at the big picture. Today you've used four different Power Platform tools, all connected to Excel data. The key takeaway is you don't need to learn everything at once. Pick the tool that solves your biggest headache right now — maybe that's automating a repetitive task with Power Automate, or replacing a static report with a live Power BI dashboard. Start there, get comfortable, and then branch out. And remember, governance matters — share your flows and apps responsibly, use proper naming conventions, and document what you build so your team can maintain it. You're all well on your way to being Power Platform champions. Thanks for a great session.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here's what we're going to cover today. The goal is to show you how your existing Excel skills connect directly to four tools in the Power Platform. We'll build real workflows, real dashboards, a real app, and even a chatbot — all starting from Excel data. By the end, you should feel confident picking up any of these tools on your own and applying them at work.</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get started, go ahead and download the course files from this link if you haven't already. It's a ZIP file from GitHub. Unzip it and upload the folder to your OneDrive or SharePoint — we'll be connecting to those files throughout the day.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image" Target="../media/image5.png"/><Relationship Id="rId5" Type="http://schemas.openxmlformats.org/officeDocument/2006/relationships/image" Target="../media/image6.jpeg"/><Relationship Id="rId6"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notesSlide" Target="../notesSlides/notesSlide2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github.com/stringfestdata/gxls-power-platform/archive/refs/heads/main.zip" TargetMode="External"/><Relationship Id="rId3" Type="http://schemas.openxmlformats.org/officeDocument/2006/relationships/image" Target="../media/image8.png"/><Relationship Id="rId4" Type="http://schemas.openxmlformats.org/officeDocument/2006/relationships/notesSlide" Target="../notesSlides/notesSlide2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8EB9D66-9CB4-B474-27D6-F594F19E2A76}"/>
              </a:ext>
            </a:extLst>
          </p:cNvPr>
          <p:cNvPicPr>
            <a:picLocks noChangeAspect="1"/>
          </p:cNvPicPr>
          <p:nvPr/>
        </p:nvPicPr>
        <p:blipFill>
          <a:blip r:embed="rId2"/>
          <a:srcRect/>
          <a:stretch/>
        </p:blipFill>
        <p:spPr>
          <a:xfrm>
            <a:off x="0" y="0"/>
            <a:ext cx="18288000" cy="10287000"/>
          </a:xfrm>
          <a:prstGeom prst="rect">
            <a:avLst/>
          </a:prstGeom>
        </p:spPr>
      </p:pic>
      <p:sp>
        <p:nvSpPr>
          <p:cNvPr id="2" name="Title 1">
            <a:extLst>
              <a:ext uri="{FF2B5EF4-FFF2-40B4-BE49-F238E27FC236}">
                <a16:creationId xmlns:a16="http://schemas.microsoft.com/office/drawing/2014/main" id="{6F578B23-3522-A45E-113D-CFC55209E2C5}"/>
              </a:ext>
            </a:extLst>
          </p:cNvPr>
          <p:cNvSpPr>
            <a:spLocks noGrp="1"/>
          </p:cNvSpPr>
          <p:nvPr>
            <p:ph type="ctrTitle"/>
          </p:nvPr>
        </p:nvSpPr>
        <p:spPr>
          <a:xfrm>
            <a:off x="2286000" y="2598656"/>
            <a:ext cx="13716000" cy="3581400"/>
          </a:xfrm>
        </p:spPr>
        <p:txBody>
          <a:bodyPr>
            <a:normAutofit fontScale="90000"/>
          </a:bodyPr>
          <a:lstStyle/>
          <a:p>
            <a:r>
              <a:rPr lang="en-US" sz="9900" b="1" dirty="0">
                <a:solidFill>
                  <a:srgbClr val="241F62"/>
                </a:solidFill>
                <a:latin typeface="+mn-lt"/>
              </a:rPr>
              <a:t>Becoming a Citizen Developer with the Power Platform</a:t>
            </a:r>
            <a:endParaRPr lang="en-BG" sz="9900" b="1" dirty="0">
              <a:solidFill>
                <a:srgbClr val="241F62"/>
              </a:solidFill>
              <a:latin typeface="+mn-lt"/>
            </a:endParaRPr>
          </a:p>
        </p:txBody>
      </p:sp>
      <p:pic>
        <p:nvPicPr>
          <p:cNvPr id="7" name="Picture 6">
            <a:extLst>
              <a:ext uri="{FF2B5EF4-FFF2-40B4-BE49-F238E27FC236}">
                <a16:creationId xmlns:a16="http://schemas.microsoft.com/office/drawing/2014/main" id="{CADADD3B-A58B-45A3-D5DF-D99E4EB05D2C}"/>
              </a:ext>
            </a:extLst>
          </p:cNvPr>
          <p:cNvPicPr>
            <a:picLocks noChangeAspect="1"/>
          </p:cNvPicPr>
          <p:nvPr/>
        </p:nvPicPr>
        <p:blipFill>
          <a:blip r:embed="rId3"/>
          <a:srcRect b="22069"/>
          <a:stretch/>
        </p:blipFill>
        <p:spPr>
          <a:xfrm>
            <a:off x="8153400" y="8430867"/>
            <a:ext cx="1981200" cy="979833"/>
          </a:xfrm>
          <a:prstGeom prst="rect">
            <a:avLst/>
          </a:prstGeom>
        </p:spPr>
      </p:pic>
      <p:sp>
        <p:nvSpPr>
          <p:cNvPr id="3" name="Title 1">
            <a:extLst>
              <a:ext uri="{FF2B5EF4-FFF2-40B4-BE49-F238E27FC236}">
                <a16:creationId xmlns:a16="http://schemas.microsoft.com/office/drawing/2014/main" id="{51C8D1E5-24B9-FEAC-440F-B059007D73CE}"/>
              </a:ext>
            </a:extLst>
          </p:cNvPr>
          <p:cNvSpPr txBox="1">
            <a:spLocks/>
          </p:cNvSpPr>
          <p:nvPr/>
        </p:nvSpPr>
        <p:spPr>
          <a:xfrm>
            <a:off x="13454742" y="548858"/>
            <a:ext cx="4082145" cy="945771"/>
          </a:xfrm>
          <a:prstGeom prst="rect">
            <a:avLst/>
          </a:prstGeom>
        </p:spPr>
        <p:txBody>
          <a:bodyPr vert="horz" lIns="137160" tIns="68580" rIns="137160" bIns="68580" rtlCol="0" anchor="ctr">
            <a:normAutofit/>
          </a:bodyPr>
          <a:lstStyle>
            <a:lvl1pPr algn="l" defTabSz="914400" rtl="0" eaLnBrk="1" latinLnBrk="0" hangingPunct="1">
              <a:lnSpc>
                <a:spcPct val="90000"/>
              </a:lnSpc>
              <a:spcBef>
                <a:spcPct val="0"/>
              </a:spcBef>
              <a:buNone/>
              <a:defRPr sz="4800" b="1" kern="1200">
                <a:solidFill>
                  <a:schemeClr val="bg1"/>
                </a:solidFill>
                <a:latin typeface="+mn-lt"/>
                <a:ea typeface="+mj-ea"/>
                <a:cs typeface="+mj-cs"/>
              </a:defRPr>
            </a:lvl1pPr>
          </a:lstStyle>
          <a:p>
            <a:r>
              <a:rPr lang="en-GB" sz="4200" dirty="0">
                <a:solidFill>
                  <a:srgbClr val="241F62"/>
                </a:solidFill>
                <a:latin typeface="+mj-lt"/>
              </a:rPr>
              <a:t>George Mount</a:t>
            </a:r>
            <a:endParaRPr lang="en-BG" sz="4200" dirty="0">
              <a:solidFill>
                <a:srgbClr val="241F62"/>
              </a:solidFill>
              <a:latin typeface="+mj-lt"/>
            </a:endParaRPr>
          </a:p>
        </p:txBody>
      </p:sp>
    </p:spTree>
    <p:extLst>
      <p:ext uri="{BB962C8B-B14F-4D97-AF65-F5344CB8AC3E}">
        <p14:creationId xmlns:p14="http://schemas.microsoft.com/office/powerpoint/2010/main" val="27575643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8288000" cy="10287000"/>
          </a:xfrm>
          <a:prstGeom prst="rect">
            <a:avLst/>
          </a:prstGeom>
          <a:solidFill>
            <a:srgbClr val="CF3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5" name="TextBox 4"/>
          <p:cNvSpPr txBox="1"/>
          <p:nvPr/>
        </p:nvSpPr>
        <p:spPr>
          <a:xfrm>
            <a:off x="781292" y="590309"/>
            <a:ext cx="15486926" cy="1615827"/>
          </a:xfrm>
          <a:prstGeom prst="rect">
            <a:avLst/>
          </a:prstGeom>
          <a:noFill/>
        </p:spPr>
        <p:txBody>
          <a:bodyPr wrap="square" rtlCol="0">
            <a:spAutoFit/>
          </a:bodyPr>
          <a:lstStyle/>
          <a:p>
            <a:r>
              <a:rPr lang="en-US" sz="9900" b="1" dirty="0">
                <a:solidFill>
                  <a:schemeClr val="bg1"/>
                </a:solidFill>
                <a:latin typeface="Normafixed Tryout" panose="00000409000000000000" pitchFamily="49" charset="0"/>
              </a:rPr>
              <a:t>Hi, I’m George</a:t>
            </a:r>
          </a:p>
        </p:txBody>
      </p:sp>
      <p:pic>
        <p:nvPicPr>
          <p:cNvPr id="3" name="Picture 4" descr="Advancing into Analytics Cover Image">
            <a:extLst>
              <a:ext uri="{FF2B5EF4-FFF2-40B4-BE49-F238E27FC236}">
                <a16:creationId xmlns:a16="http://schemas.microsoft.com/office/drawing/2014/main" id="{588F684B-18EF-D76C-5F7B-15E4BAD6064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077075" y="195640"/>
            <a:ext cx="3130385" cy="408866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Free photos of Cleveland">
            <a:extLst>
              <a:ext uri="{FF2B5EF4-FFF2-40B4-BE49-F238E27FC236}">
                <a16:creationId xmlns:a16="http://schemas.microsoft.com/office/drawing/2014/main" id="{CBA53EEE-E3E1-D99E-A4DC-1C4DD2E6CE4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95692" y="2968810"/>
            <a:ext cx="5535359" cy="3684473"/>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Logo&#10;&#10;Description automatically generated">
            <a:extLst>
              <a:ext uri="{FF2B5EF4-FFF2-40B4-BE49-F238E27FC236}">
                <a16:creationId xmlns:a16="http://schemas.microsoft.com/office/drawing/2014/main" id="{97E0F267-87DF-961E-1FAA-47FD4F27A5C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683691" y="6002696"/>
            <a:ext cx="7448309" cy="5462681"/>
          </a:xfrm>
          <a:prstGeom prst="rect">
            <a:avLst/>
          </a:prstGeom>
        </p:spPr>
      </p:pic>
      <p:pic>
        <p:nvPicPr>
          <p:cNvPr id="1026" name="Picture 2" descr="Modern data analytics in Excel book cover">
            <a:extLst>
              <a:ext uri="{FF2B5EF4-FFF2-40B4-BE49-F238E27FC236}">
                <a16:creationId xmlns:a16="http://schemas.microsoft.com/office/drawing/2014/main" id="{874ADA5E-A7A7-1D02-C728-513187DE1EF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321136" y="2210054"/>
            <a:ext cx="3437261" cy="4507995"/>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Microsoft Most Valuable Professional - Wikipedia">
            <a:extLst>
              <a:ext uri="{FF2B5EF4-FFF2-40B4-BE49-F238E27FC236}">
                <a16:creationId xmlns:a16="http://schemas.microsoft.com/office/drawing/2014/main" id="{36C71929-5967-B93D-05FE-E330D621C59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4642" y="7832951"/>
            <a:ext cx="5057775" cy="2028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29011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520861" y="170082"/>
            <a:ext cx="11979797" cy="1477328"/>
          </a:xfrm>
          <a:prstGeom prst="rect">
            <a:avLst/>
          </a:prstGeom>
          <a:noFill/>
        </p:spPr>
        <p:txBody>
          <a:bodyPr wrap="square" rtlCol="0">
            <a:spAutoFit/>
          </a:bodyPr>
          <a:lstStyle/>
          <a:p>
            <a:r>
              <a:rPr lang="en-US" sz="9000" dirty="0">
                <a:latin typeface="Aliens &amp; cows" panose="00000500000000000000" pitchFamily="2" charset="0"/>
              </a:rPr>
              <a:t>Objectives for this course</a:t>
            </a:r>
          </a:p>
        </p:txBody>
      </p:sp>
      <p:sp>
        <p:nvSpPr>
          <p:cNvPr id="3" name="TextBox 2"/>
          <p:cNvSpPr txBox="1"/>
          <p:nvPr/>
        </p:nvSpPr>
        <p:spPr>
          <a:xfrm>
            <a:off x="685800" y="2628900"/>
            <a:ext cx="16230600" cy="6740307"/>
          </a:xfrm>
          <a:prstGeom prst="rect">
            <a:avLst/>
          </a:prstGeom>
          <a:noFill/>
        </p:spPr>
        <p:txBody>
          <a:bodyPr wrap="square" rtlCol="0">
            <a:spAutoFit/>
          </a:bodyPr>
          <a:lstStyle/>
          <a:p>
            <a:pPr marL="685800" indent="-685800">
              <a:buClr>
                <a:srgbClr val="CF3338"/>
              </a:buClr>
              <a:buFont typeface="Arial" panose="020B0604020202020204" pitchFamily="34" charset="0"/>
              <a:buChar char="•"/>
            </a:pPr>
            <a:r>
              <a:rPr lang="en-US" sz="4800" dirty="0">
                <a:solidFill>
                  <a:srgbClr val="707070"/>
                </a:solidFill>
                <a:latin typeface="Pragmatica" panose="020B0403040502020204" pitchFamily="34" charset="0"/>
              </a:rPr>
              <a:t>Understand how Excel connects with Power Automate, Power Apps, Power BI, and Copilot Studio to create end-to-end workflows</a:t>
            </a:r>
          </a:p>
          <a:p>
            <a:pPr marL="685800" indent="-685800">
              <a:buClr>
                <a:srgbClr val="CF3338"/>
              </a:buClr>
              <a:buFont typeface="Arial" panose="020B0604020202020204" pitchFamily="34" charset="0"/>
              <a:buChar char="•"/>
            </a:pPr>
            <a:r>
              <a:rPr lang="en-US" sz="4800" dirty="0">
                <a:solidFill>
                  <a:srgbClr val="707070"/>
                </a:solidFill>
                <a:latin typeface="Pragmatica" panose="020B0403040502020204" pitchFamily="34" charset="0"/>
              </a:rPr>
              <a:t>Build trigger-based flows to automate common Excel tasks and send real-time notifications through Teams or Outlook</a:t>
            </a:r>
          </a:p>
          <a:p>
            <a:pPr marL="685800" indent="-685800">
              <a:buClr>
                <a:srgbClr val="CF3338"/>
              </a:buClr>
              <a:buFont typeface="Arial" panose="020B0604020202020204" pitchFamily="34" charset="0"/>
              <a:buChar char="•"/>
            </a:pPr>
            <a:r>
              <a:rPr lang="en-US" sz="4800" dirty="0">
                <a:solidFill>
                  <a:srgbClr val="707070"/>
                </a:solidFill>
                <a:latin typeface="Pragmatica" panose="020B0403040502020204" pitchFamily="34" charset="0"/>
              </a:rPr>
              <a:t>Create low-code dashboards and apps that update automatically and streamline reporting</a:t>
            </a:r>
          </a:p>
          <a:p>
            <a:pPr marL="685800" indent="-685800">
              <a:buClr>
                <a:srgbClr val="CF3338"/>
              </a:buClr>
              <a:buFont typeface="Arial" panose="020B0604020202020204" pitchFamily="34" charset="0"/>
              <a:buChar char="•"/>
            </a:pPr>
            <a:r>
              <a:rPr lang="en-US" sz="4800" dirty="0">
                <a:solidFill>
                  <a:srgbClr val="707070"/>
                </a:solidFill>
                <a:latin typeface="Pragmatica" panose="020B0403040502020204" pitchFamily="34" charset="0"/>
              </a:rPr>
              <a:t>Use Copilot Studio and Power </a:t>
            </a:r>
            <a:r>
              <a:rPr lang="en-US" sz="4800" dirty="0" err="1">
                <a:solidFill>
                  <a:srgbClr val="707070"/>
                </a:solidFill>
                <a:latin typeface="Pragmatica" panose="020B0403040502020204" pitchFamily="34" charset="0"/>
              </a:rPr>
              <a:t>Fx</a:t>
            </a:r>
            <a:r>
              <a:rPr lang="en-US" sz="4800" dirty="0">
                <a:solidFill>
                  <a:srgbClr val="707070"/>
                </a:solidFill>
                <a:latin typeface="Pragmatica" panose="020B0403040502020204" pitchFamily="34" charset="0"/>
              </a:rPr>
              <a:t> to add natural language automation and chatbot capabilities</a:t>
            </a:r>
          </a:p>
        </p:txBody>
      </p:sp>
      <p:pic>
        <p:nvPicPr>
          <p:cNvPr id="15" name="Picture 14" descr="A close up of a sign&#10;&#10;Description automatically generated">
            <a:extLst>
              <a:ext uri="{FF2B5EF4-FFF2-40B4-BE49-F238E27FC236}">
                <a16:creationId xmlns:a16="http://schemas.microsoft.com/office/drawing/2014/main" id="{29761B90-A7DE-4A60-A915-F085BD87CA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Tree>
    <p:extLst>
      <p:ext uri="{BB962C8B-B14F-4D97-AF65-F5344CB8AC3E}">
        <p14:creationId xmlns:p14="http://schemas.microsoft.com/office/powerpoint/2010/main" val="7870763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16697A-2DDC-AD06-0D5F-524946CCFA3B}"/>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0E25D70B-1F78-7AF8-4771-7B64B436CB0F}"/>
              </a:ext>
            </a:extLst>
          </p:cNvPr>
          <p:cNvSpPr txBox="1"/>
          <p:nvPr/>
        </p:nvSpPr>
        <p:spPr>
          <a:xfrm>
            <a:off x="520861" y="170082"/>
            <a:ext cx="14642939" cy="1477328"/>
          </a:xfrm>
          <a:prstGeom prst="rect">
            <a:avLst/>
          </a:prstGeom>
          <a:noFill/>
        </p:spPr>
        <p:txBody>
          <a:bodyPr wrap="square" rtlCol="0">
            <a:spAutoFit/>
          </a:bodyPr>
          <a:lstStyle/>
          <a:p>
            <a:r>
              <a:rPr lang="en-US" sz="9000">
                <a:latin typeface="Aliens &amp; cows" panose="00000500000000000000" pitchFamily="2" charset="0"/>
              </a:rPr>
              <a:t>Resources</a:t>
            </a:r>
            <a:endParaRPr lang="en-US" sz="9000" dirty="0">
              <a:latin typeface="Aliens &amp; cows" panose="00000500000000000000" pitchFamily="2" charset="0"/>
            </a:endParaRPr>
          </a:p>
        </p:txBody>
      </p:sp>
      <p:sp>
        <p:nvSpPr>
          <p:cNvPr id="3" name="TextBox 2">
            <a:extLst>
              <a:ext uri="{FF2B5EF4-FFF2-40B4-BE49-F238E27FC236}">
                <a16:creationId xmlns:a16="http://schemas.microsoft.com/office/drawing/2014/main" id="{8AD5976A-E96C-DF78-2D1D-42CD64D3E69F}"/>
              </a:ext>
            </a:extLst>
          </p:cNvPr>
          <p:cNvSpPr txBox="1"/>
          <p:nvPr/>
        </p:nvSpPr>
        <p:spPr>
          <a:xfrm>
            <a:off x="520861" y="3191948"/>
            <a:ext cx="14393120" cy="2585323"/>
          </a:xfrm>
          <a:prstGeom prst="rect">
            <a:avLst/>
          </a:prstGeom>
          <a:noFill/>
        </p:spPr>
        <p:txBody>
          <a:bodyPr wrap="square" rtlCol="0">
            <a:spAutoFit/>
          </a:bodyPr>
          <a:lstStyle/>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Download at </a:t>
            </a:r>
            <a:r>
              <a:rPr lang="en-US" sz="5400" dirty="0">
                <a:solidFill>
                  <a:srgbClr val="707070"/>
                </a:solidFill>
                <a:latin typeface="Pragmatica" panose="020B0403040502020204" pitchFamily="34" charset="0"/>
                <a:hlinkClick r:id="rId2"/>
              </a:rPr>
              <a:t>https://github.com/stringfestdata/gxls-power-platform/archive/refs/heads/main.zip</a:t>
            </a:r>
            <a:r>
              <a:rPr lang="en-US" sz="5400" dirty="0">
                <a:solidFill>
                  <a:srgbClr val="707070"/>
                </a:solidFill>
                <a:latin typeface="Pragmatica" panose="020B0403040502020204" pitchFamily="34" charset="0"/>
              </a:rPr>
              <a:t> </a:t>
            </a:r>
          </a:p>
        </p:txBody>
      </p:sp>
      <p:pic>
        <p:nvPicPr>
          <p:cNvPr id="15" name="Picture 14" descr="A close up of a sign&#10;&#10;Description automatically generated">
            <a:extLst>
              <a:ext uri="{FF2B5EF4-FFF2-40B4-BE49-F238E27FC236}">
                <a16:creationId xmlns:a16="http://schemas.microsoft.com/office/drawing/2014/main" id="{56BC9DC3-5856-1F48-F0BE-E6FB589534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Tree>
    <p:extLst>
      <p:ext uri="{BB962C8B-B14F-4D97-AF65-F5344CB8AC3E}">
        <p14:creationId xmlns:p14="http://schemas.microsoft.com/office/powerpoint/2010/main" val="3740785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8288000" cy="10287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5" name="TextBox 4"/>
          <p:cNvSpPr txBox="1"/>
          <p:nvPr/>
        </p:nvSpPr>
        <p:spPr>
          <a:xfrm>
            <a:off x="781292" y="590309"/>
            <a:ext cx="15486926" cy="3139321"/>
          </a:xfrm>
          <a:prstGeom prst="rect">
            <a:avLst/>
          </a:prstGeom>
          <a:noFill/>
        </p:spPr>
        <p:txBody>
          <a:bodyPr wrap="square" rtlCol="0">
            <a:spAutoFit/>
          </a:bodyPr>
          <a:lstStyle/>
          <a:p>
            <a:r>
              <a:rPr lang="en-US" sz="9900" b="1" dirty="0">
                <a:solidFill>
                  <a:schemeClr val="bg1"/>
                </a:solidFill>
                <a:latin typeface="Normafixed Tryout" panose="00000409000000000000" pitchFamily="49" charset="0"/>
              </a:rPr>
              <a:t>Automating tasks with Power Automate</a:t>
            </a:r>
          </a:p>
        </p:txBody>
      </p:sp>
    </p:spTree>
    <p:extLst>
      <p:ext uri="{BB962C8B-B14F-4D97-AF65-F5344CB8AC3E}">
        <p14:creationId xmlns:p14="http://schemas.microsoft.com/office/powerpoint/2010/main" val="39539457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E80662-9653-46D1-18E1-A94E037F69C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40B40A9-680B-1CE1-2110-182193035215}"/>
              </a:ext>
            </a:extLst>
          </p:cNvPr>
          <p:cNvSpPr/>
          <p:nvPr/>
        </p:nvSpPr>
        <p:spPr>
          <a:xfrm>
            <a:off x="0" y="0"/>
            <a:ext cx="18288000" cy="10287000"/>
          </a:xfrm>
          <a:prstGeom prst="rect">
            <a:avLst/>
          </a:prstGeom>
          <a:solidFill>
            <a:srgbClr val="CF3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5" name="TextBox 4">
            <a:extLst>
              <a:ext uri="{FF2B5EF4-FFF2-40B4-BE49-F238E27FC236}">
                <a16:creationId xmlns:a16="http://schemas.microsoft.com/office/drawing/2014/main" id="{A32F02D3-A2CA-3B78-B318-A27E726D8AF2}"/>
              </a:ext>
            </a:extLst>
          </p:cNvPr>
          <p:cNvSpPr txBox="1"/>
          <p:nvPr/>
        </p:nvSpPr>
        <p:spPr>
          <a:xfrm>
            <a:off x="781292" y="590309"/>
            <a:ext cx="15486926" cy="3139321"/>
          </a:xfrm>
          <a:prstGeom prst="rect">
            <a:avLst/>
          </a:prstGeom>
          <a:noFill/>
        </p:spPr>
        <p:txBody>
          <a:bodyPr wrap="square" rtlCol="0">
            <a:spAutoFit/>
          </a:bodyPr>
          <a:lstStyle/>
          <a:p>
            <a:r>
              <a:rPr lang="en-US" sz="9900" b="1" dirty="0">
                <a:solidFill>
                  <a:schemeClr val="bg1"/>
                </a:solidFill>
                <a:latin typeface="Normafixed Tryout" panose="00000409000000000000" pitchFamily="49" charset="0"/>
              </a:rPr>
              <a:t>First steps with Power Automate</a:t>
            </a:r>
          </a:p>
        </p:txBody>
      </p:sp>
    </p:spTree>
    <p:extLst>
      <p:ext uri="{BB962C8B-B14F-4D97-AF65-F5344CB8AC3E}">
        <p14:creationId xmlns:p14="http://schemas.microsoft.com/office/powerpoint/2010/main" val="20765782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861630" y="0"/>
            <a:ext cx="8426370" cy="10287000"/>
          </a:xfrm>
          <a:prstGeom prst="rect">
            <a:avLst/>
          </a:prstGeom>
          <a:solidFill>
            <a:srgbClr val="CF3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pic>
        <p:nvPicPr>
          <p:cNvPr id="2" name="Picture 1"/>
          <p:cNvPicPr>
            <a:picLocks noChangeAspect="1"/>
          </p:cNvPicPr>
          <p:nvPr/>
        </p:nvPicPr>
        <p:blipFill rotWithShape="1">
          <a:blip r:embed="rId3">
            <a:extLst>
              <a:ext uri="{28A0092B-C50C-407E-A947-70E740481C1C}">
                <a14:useLocalDpi xmlns:a14="http://schemas.microsoft.com/office/drawing/2010/main" val="0"/>
              </a:ext>
            </a:extLst>
          </a:blip>
          <a:srcRect l="69227" t="33418" r="20112" b="50548"/>
          <a:stretch/>
        </p:blipFill>
        <p:spPr>
          <a:xfrm>
            <a:off x="15579524" y="7544693"/>
            <a:ext cx="2708477" cy="2987579"/>
          </a:xfrm>
          <a:prstGeom prst="rect">
            <a:avLst/>
          </a:prstGeom>
        </p:spPr>
      </p:pic>
      <p:sp>
        <p:nvSpPr>
          <p:cNvPr id="3" name="TextBox 2"/>
          <p:cNvSpPr txBox="1"/>
          <p:nvPr/>
        </p:nvSpPr>
        <p:spPr>
          <a:xfrm>
            <a:off x="260431" y="329879"/>
            <a:ext cx="8906720" cy="4881721"/>
          </a:xfrm>
          <a:prstGeom prst="rect">
            <a:avLst/>
          </a:prstGeom>
          <a:noFill/>
        </p:spPr>
        <p:txBody>
          <a:bodyPr wrap="square" rtlCol="0">
            <a:spAutoFit/>
          </a:bodyPr>
          <a:lstStyle/>
          <a:p>
            <a:r>
              <a:rPr lang="en-US" sz="6000" b="1" dirty="0">
                <a:solidFill>
                  <a:srgbClr val="CF3338"/>
                </a:solidFill>
                <a:latin typeface="Pragmatica" panose="020B0403040502020204" pitchFamily="34" charset="0"/>
              </a:rPr>
              <a:t>First flow with Power Automate</a:t>
            </a:r>
          </a:p>
          <a:p>
            <a:endParaRPr lang="en-US" sz="4200" dirty="0">
              <a:solidFill>
                <a:srgbClr val="CF3338"/>
              </a:solidFill>
              <a:latin typeface="Pragmatica" panose="020B0403040502020204" pitchFamily="34" charset="0"/>
            </a:endParaRPr>
          </a:p>
          <a:p>
            <a:pPr marL="685800" indent="-542925">
              <a:lnSpc>
                <a:spcPct val="115000"/>
              </a:lnSpc>
              <a:spcBef>
                <a:spcPts val="1125"/>
              </a:spcBef>
              <a:buClr>
                <a:srgbClr val="C00000"/>
              </a:buClr>
              <a:buSzPts val="2100"/>
              <a:buFont typeface="Arial"/>
              <a:buAutoNum type="arabicPeriod"/>
            </a:pPr>
            <a:r>
              <a:rPr lang="en-US" sz="3600" dirty="0">
                <a:solidFill>
                  <a:srgbClr val="C00000"/>
                </a:solidFill>
                <a:latin typeface="Pragmatica" panose="020B0403040502020204"/>
                <a:sym typeface="Consolas"/>
              </a:rPr>
              <a:t>Use Power Automate templates for Excel</a:t>
            </a:r>
          </a:p>
          <a:p>
            <a:pPr marL="685800" indent="-542925">
              <a:lnSpc>
                <a:spcPct val="115000"/>
              </a:lnSpc>
              <a:spcBef>
                <a:spcPts val="1125"/>
              </a:spcBef>
              <a:buClr>
                <a:srgbClr val="C00000"/>
              </a:buClr>
              <a:buSzPts val="2100"/>
              <a:buFont typeface="Arial"/>
              <a:buAutoNum type="arabicPeriod"/>
            </a:pPr>
            <a:r>
              <a:rPr lang="en-US" sz="3600" dirty="0">
                <a:solidFill>
                  <a:srgbClr val="C00000"/>
                </a:solidFill>
                <a:latin typeface="Pragmatica" panose="020B0403040502020204"/>
                <a:sym typeface="Consolas"/>
              </a:rPr>
              <a:t>Create clock in/clock out workflow</a:t>
            </a:r>
          </a:p>
          <a:p>
            <a:pPr marL="142875">
              <a:lnSpc>
                <a:spcPct val="115000"/>
              </a:lnSpc>
              <a:spcBef>
                <a:spcPts val="1125"/>
              </a:spcBef>
              <a:buClr>
                <a:srgbClr val="C00000"/>
              </a:buClr>
              <a:buSzPts val="2100"/>
            </a:pPr>
            <a:r>
              <a:rPr lang="en-US" sz="3600" dirty="0">
                <a:solidFill>
                  <a:srgbClr val="C00000"/>
                </a:solidFill>
                <a:latin typeface="Pragmatica" panose="020B0403040502020204"/>
                <a:sym typeface="Consolas"/>
              </a:rPr>
              <a:t>File: </a:t>
            </a:r>
            <a:r>
              <a:rPr lang="en-US" sz="3600" dirty="0">
                <a:solidFill>
                  <a:srgbClr val="C00000"/>
                </a:solidFill>
                <a:latin typeface="Consolas" panose="020B0609020204030204" pitchFamily="49" charset="0"/>
                <a:sym typeface="Consolas"/>
              </a:rPr>
              <a:t>first-flow.xlsx</a:t>
            </a:r>
          </a:p>
        </p:txBody>
      </p:sp>
    </p:spTree>
    <p:extLst>
      <p:ext uri="{BB962C8B-B14F-4D97-AF65-F5344CB8AC3E}">
        <p14:creationId xmlns:p14="http://schemas.microsoft.com/office/powerpoint/2010/main" val="38715317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861630" y="0"/>
            <a:ext cx="8426370" cy="10287000"/>
          </a:xfrm>
          <a:prstGeom prst="rect">
            <a:avLst/>
          </a:prstGeom>
          <a:solidFill>
            <a:srgbClr val="CF3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pic>
        <p:nvPicPr>
          <p:cNvPr id="2" name="Picture 1"/>
          <p:cNvPicPr>
            <a:picLocks noChangeAspect="1"/>
          </p:cNvPicPr>
          <p:nvPr/>
        </p:nvPicPr>
        <p:blipFill rotWithShape="1">
          <a:blip r:embed="rId3">
            <a:extLst>
              <a:ext uri="{28A0092B-C50C-407E-A947-70E740481C1C}">
                <a14:useLocalDpi xmlns:a14="http://schemas.microsoft.com/office/drawing/2010/main" val="0"/>
              </a:ext>
            </a:extLst>
          </a:blip>
          <a:srcRect l="69227" t="33418" r="20112" b="50548"/>
          <a:stretch/>
        </p:blipFill>
        <p:spPr>
          <a:xfrm>
            <a:off x="15579524" y="7544693"/>
            <a:ext cx="2708477" cy="2987579"/>
          </a:xfrm>
          <a:prstGeom prst="rect">
            <a:avLst/>
          </a:prstGeom>
        </p:spPr>
      </p:pic>
      <p:sp>
        <p:nvSpPr>
          <p:cNvPr id="3" name="TextBox 2"/>
          <p:cNvSpPr txBox="1"/>
          <p:nvPr/>
        </p:nvSpPr>
        <p:spPr>
          <a:xfrm>
            <a:off x="260431" y="329879"/>
            <a:ext cx="8906720" cy="7148688"/>
          </a:xfrm>
          <a:prstGeom prst="rect">
            <a:avLst/>
          </a:prstGeom>
          <a:noFill/>
        </p:spPr>
        <p:txBody>
          <a:bodyPr wrap="square" rtlCol="0">
            <a:spAutoFit/>
          </a:bodyPr>
          <a:lstStyle/>
          <a:p>
            <a:r>
              <a:rPr lang="en-US" sz="6000" b="1" dirty="0">
                <a:solidFill>
                  <a:srgbClr val="CF3338"/>
                </a:solidFill>
                <a:latin typeface="Pragmatica" panose="020B0403040502020204" pitchFamily="34" charset="0"/>
              </a:rPr>
              <a:t>Customizing outputs with Power </a:t>
            </a:r>
            <a:r>
              <a:rPr lang="en-US" sz="6000" b="1" dirty="0" err="1">
                <a:solidFill>
                  <a:srgbClr val="CF3338"/>
                </a:solidFill>
                <a:latin typeface="Pragmatica" panose="020B0403040502020204" pitchFamily="34" charset="0"/>
              </a:rPr>
              <a:t>Fx</a:t>
            </a:r>
            <a:endParaRPr lang="en-US" sz="6000" b="1" dirty="0">
              <a:solidFill>
                <a:srgbClr val="CF3338"/>
              </a:solidFill>
              <a:latin typeface="Pragmatica" panose="020B0403040502020204" pitchFamily="34" charset="0"/>
            </a:endParaRPr>
          </a:p>
          <a:p>
            <a:endParaRPr lang="en-US" sz="4200" dirty="0">
              <a:solidFill>
                <a:srgbClr val="CF3338"/>
              </a:solidFill>
              <a:latin typeface="Pragmatica" panose="020B0403040502020204" pitchFamily="34" charset="0"/>
            </a:endParaRPr>
          </a:p>
          <a:p>
            <a:pPr marL="342900" marR="0" lvl="0" indent="-342900">
              <a:lnSpc>
                <a:spcPct val="115000"/>
              </a:lnSpc>
              <a:spcBef>
                <a:spcPts val="0"/>
              </a:spcBef>
              <a:spcAft>
                <a:spcPts val="0"/>
              </a:spcAft>
              <a:buFont typeface="+mj-lt"/>
              <a:buAutoNum type="arabicPeriod"/>
            </a:pPr>
            <a:r>
              <a:rPr lang="en-US" sz="3600" kern="100" dirty="0">
                <a:solidFill>
                  <a:srgbClr val="CF3338"/>
                </a:solidFill>
                <a:effectLst/>
                <a:latin typeface="Pragmatica" panose="020B0403040502020204"/>
                <a:ea typeface="Aptos" panose="020B0004020202020204" pitchFamily="34" charset="0"/>
                <a:cs typeface="Times New Roman" panose="02020603050405020304" pitchFamily="18" charset="0"/>
              </a:rPr>
              <a:t>Continue with the previous example</a:t>
            </a:r>
          </a:p>
          <a:p>
            <a:pPr marL="342900" marR="0" lvl="0" indent="-342900">
              <a:lnSpc>
                <a:spcPct val="115000"/>
              </a:lnSpc>
              <a:spcBef>
                <a:spcPts val="0"/>
              </a:spcBef>
              <a:spcAft>
                <a:spcPts val="0"/>
              </a:spcAft>
              <a:buFont typeface="+mj-lt"/>
              <a:buAutoNum type="arabicPeriod"/>
            </a:pPr>
            <a:r>
              <a:rPr lang="en-US" sz="3600" kern="100" dirty="0">
                <a:solidFill>
                  <a:srgbClr val="CF3338"/>
                </a:solidFill>
                <a:latin typeface="Pragmatica" panose="020B0403040502020204"/>
                <a:ea typeface="Aptos" panose="020B0004020202020204" pitchFamily="34" charset="0"/>
                <a:cs typeface="Times New Roman" panose="02020603050405020304" pitchFamily="18" charset="0"/>
              </a:rPr>
              <a:t>How can we improve appearance of outputs in Excel? </a:t>
            </a:r>
            <a:endParaRPr lang="en-US" sz="3600" kern="100" dirty="0">
              <a:solidFill>
                <a:srgbClr val="CF3338"/>
              </a:solidFill>
              <a:effectLst/>
              <a:latin typeface="Pragmatica" panose="020B0403040502020204"/>
              <a:ea typeface="Aptos" panose="020B0004020202020204" pitchFamily="34" charset="0"/>
              <a:cs typeface="Times New Roman" panose="02020603050405020304" pitchFamily="18" charset="0"/>
            </a:endParaRPr>
          </a:p>
          <a:p>
            <a:pPr marL="142875">
              <a:lnSpc>
                <a:spcPct val="115000"/>
              </a:lnSpc>
              <a:spcBef>
                <a:spcPts val="1125"/>
              </a:spcBef>
              <a:buClr>
                <a:srgbClr val="C00000"/>
              </a:buClr>
              <a:buSzPts val="2100"/>
            </a:pPr>
            <a:r>
              <a:rPr lang="en-US" sz="3600" dirty="0">
                <a:solidFill>
                  <a:srgbClr val="C00000"/>
                </a:solidFill>
                <a:latin typeface="Pragmatica" panose="020B0403040502020204"/>
                <a:sym typeface="Consolas"/>
              </a:rPr>
              <a:t>Resource: https://stringfestanalytics.com/power-automate-for-excel-how-to-understand-the-power-fx-programming-language/</a:t>
            </a:r>
            <a:endParaRPr lang="en-US" sz="3600" dirty="0">
              <a:solidFill>
                <a:srgbClr val="CF3338"/>
              </a:solidFill>
              <a:latin typeface="Pragmatica" panose="020B0403040502020204"/>
            </a:endParaRPr>
          </a:p>
        </p:txBody>
      </p:sp>
    </p:spTree>
    <p:extLst>
      <p:ext uri="{BB962C8B-B14F-4D97-AF65-F5344CB8AC3E}">
        <p14:creationId xmlns:p14="http://schemas.microsoft.com/office/powerpoint/2010/main" val="16792217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679BB-E487-A9E3-1278-DBD7FB7F19F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B8E3D40-A823-8428-6682-B724027EAF41}"/>
              </a:ext>
            </a:extLst>
          </p:cNvPr>
          <p:cNvSpPr/>
          <p:nvPr/>
        </p:nvSpPr>
        <p:spPr>
          <a:xfrm>
            <a:off x="9861630" y="0"/>
            <a:ext cx="8426370" cy="10287000"/>
          </a:xfrm>
          <a:prstGeom prst="rect">
            <a:avLst/>
          </a:prstGeom>
          <a:solidFill>
            <a:srgbClr val="CF3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pic>
        <p:nvPicPr>
          <p:cNvPr id="2" name="Picture 1">
            <a:extLst>
              <a:ext uri="{FF2B5EF4-FFF2-40B4-BE49-F238E27FC236}">
                <a16:creationId xmlns:a16="http://schemas.microsoft.com/office/drawing/2014/main" id="{F524E154-15C4-0B23-E9C5-29E2DD497327}"/>
              </a:ext>
            </a:extLst>
          </p:cNvPr>
          <p:cNvPicPr>
            <a:picLocks noChangeAspect="1"/>
          </p:cNvPicPr>
          <p:nvPr/>
        </p:nvPicPr>
        <p:blipFill rotWithShape="1">
          <a:blip r:embed="rId3">
            <a:extLst>
              <a:ext uri="{28A0092B-C50C-407E-A947-70E740481C1C}">
                <a14:useLocalDpi xmlns:a14="http://schemas.microsoft.com/office/drawing/2010/main" val="0"/>
              </a:ext>
            </a:extLst>
          </a:blip>
          <a:srcRect l="69227" t="33418" r="20112" b="50548"/>
          <a:stretch/>
        </p:blipFill>
        <p:spPr>
          <a:xfrm>
            <a:off x="15579524" y="7544693"/>
            <a:ext cx="2708477" cy="2987579"/>
          </a:xfrm>
          <a:prstGeom prst="rect">
            <a:avLst/>
          </a:prstGeom>
        </p:spPr>
      </p:pic>
      <p:sp>
        <p:nvSpPr>
          <p:cNvPr id="3" name="TextBox 2">
            <a:extLst>
              <a:ext uri="{FF2B5EF4-FFF2-40B4-BE49-F238E27FC236}">
                <a16:creationId xmlns:a16="http://schemas.microsoft.com/office/drawing/2014/main" id="{E1343823-9545-2632-2777-4994B59C3581}"/>
              </a:ext>
            </a:extLst>
          </p:cNvPr>
          <p:cNvSpPr txBox="1"/>
          <p:nvPr/>
        </p:nvSpPr>
        <p:spPr>
          <a:xfrm>
            <a:off x="260431" y="329879"/>
            <a:ext cx="8906720" cy="6791154"/>
          </a:xfrm>
          <a:prstGeom prst="rect">
            <a:avLst/>
          </a:prstGeom>
          <a:noFill/>
        </p:spPr>
        <p:txBody>
          <a:bodyPr wrap="square" rtlCol="0">
            <a:spAutoFit/>
          </a:bodyPr>
          <a:lstStyle/>
          <a:p>
            <a:r>
              <a:rPr lang="en-US" sz="6000" b="1" dirty="0">
                <a:solidFill>
                  <a:srgbClr val="CF3338"/>
                </a:solidFill>
                <a:latin typeface="Pragmatica" panose="020B0403040502020204" pitchFamily="34" charset="0"/>
              </a:rPr>
              <a:t>Building flows with Copilot</a:t>
            </a:r>
          </a:p>
          <a:p>
            <a:endParaRPr lang="en-US" sz="4200" dirty="0">
              <a:solidFill>
                <a:srgbClr val="CF3338"/>
              </a:solidFill>
              <a:latin typeface="Pragmatica" panose="020B0403040502020204" pitchFamily="34" charset="0"/>
            </a:endParaRPr>
          </a:p>
          <a:p>
            <a:pPr marL="342900" marR="0" lvl="0" indent="-342900">
              <a:lnSpc>
                <a:spcPct val="115000"/>
              </a:lnSpc>
              <a:spcBef>
                <a:spcPts val="0"/>
              </a:spcBef>
              <a:spcAft>
                <a:spcPts val="0"/>
              </a:spcAft>
              <a:buFont typeface="+mj-lt"/>
              <a:buAutoNum type="arabicPeriod"/>
            </a:pPr>
            <a:r>
              <a:rPr lang="en-US" sz="3400" kern="100" dirty="0">
                <a:solidFill>
                  <a:srgbClr val="CF3338"/>
                </a:solidFill>
                <a:effectLst/>
                <a:latin typeface="Pragmatica" panose="020B0403040502020204"/>
                <a:ea typeface="Aptos" panose="020B0004020202020204" pitchFamily="34" charset="0"/>
                <a:cs typeface="Times New Roman" panose="02020603050405020304" pitchFamily="18" charset="0"/>
              </a:rPr>
              <a:t>Get AI assistance to build a flow</a:t>
            </a:r>
          </a:p>
          <a:p>
            <a:pPr marL="342900" marR="0" lvl="0" indent="-342900">
              <a:lnSpc>
                <a:spcPct val="115000"/>
              </a:lnSpc>
              <a:spcBef>
                <a:spcPts val="0"/>
              </a:spcBef>
              <a:spcAft>
                <a:spcPts val="0"/>
              </a:spcAft>
              <a:buFont typeface="+mj-lt"/>
              <a:buAutoNum type="arabicPeriod"/>
            </a:pPr>
            <a:r>
              <a:rPr lang="en-US" sz="3400" kern="100" dirty="0">
                <a:solidFill>
                  <a:srgbClr val="CF3338"/>
                </a:solidFill>
                <a:latin typeface="Pragmatica" panose="020B0403040502020204"/>
                <a:ea typeface="Aptos" panose="020B0004020202020204" pitchFamily="34" charset="0"/>
                <a:cs typeface="Times New Roman" panose="02020603050405020304" pitchFamily="18" charset="0"/>
              </a:rPr>
              <a:t>Create a monthly email/post to Teams based on data in a workbook</a:t>
            </a:r>
            <a:endParaRPr lang="en-US" sz="3400" kern="100" dirty="0">
              <a:solidFill>
                <a:srgbClr val="CF3338"/>
              </a:solidFill>
              <a:effectLst/>
              <a:latin typeface="Pragmatica" panose="020B0403040502020204"/>
              <a:ea typeface="Aptos" panose="020B0004020202020204" pitchFamily="34" charset="0"/>
              <a:cs typeface="Times New Roman" panose="02020603050405020304" pitchFamily="18" charset="0"/>
            </a:endParaRPr>
          </a:p>
          <a:p>
            <a:pPr marL="142875">
              <a:lnSpc>
                <a:spcPct val="115000"/>
              </a:lnSpc>
              <a:spcBef>
                <a:spcPts val="1125"/>
              </a:spcBef>
              <a:buClr>
                <a:srgbClr val="C00000"/>
              </a:buClr>
              <a:buSzPts val="2100"/>
            </a:pPr>
            <a:r>
              <a:rPr lang="en-US" sz="3400" dirty="0">
                <a:solidFill>
                  <a:srgbClr val="C00000"/>
                </a:solidFill>
                <a:latin typeface="Pragmatica" panose="020B0403040502020204"/>
                <a:sym typeface="Consolas"/>
              </a:rPr>
              <a:t>File: </a:t>
            </a:r>
            <a:r>
              <a:rPr lang="en-US" sz="3400" dirty="0">
                <a:solidFill>
                  <a:srgbClr val="C00000"/>
                </a:solidFill>
                <a:latin typeface="Consolas" panose="020B0609020204030204" pitchFamily="49" charset="0"/>
                <a:sym typeface="Consolas"/>
              </a:rPr>
              <a:t>power-automate-copilot.xlsx</a:t>
            </a:r>
          </a:p>
          <a:p>
            <a:pPr marL="142875">
              <a:lnSpc>
                <a:spcPct val="115000"/>
              </a:lnSpc>
              <a:spcBef>
                <a:spcPts val="1125"/>
              </a:spcBef>
              <a:buClr>
                <a:srgbClr val="C00000"/>
              </a:buClr>
              <a:buSzPts val="2100"/>
            </a:pPr>
            <a:r>
              <a:rPr lang="en-US" sz="3400" dirty="0">
                <a:solidFill>
                  <a:srgbClr val="C00000"/>
                </a:solidFill>
                <a:latin typeface="Pragmatica" panose="020B0403040502020204"/>
                <a:sym typeface="Consolas"/>
              </a:rPr>
              <a:t>Resource: https://stringfestanalytics.com/power-automate-for-excel-how-to-build-flows-with-copilot/</a:t>
            </a:r>
            <a:endParaRPr lang="en-US" sz="3400" dirty="0">
              <a:solidFill>
                <a:srgbClr val="CF3338"/>
              </a:solidFill>
              <a:latin typeface="Pragmatica" panose="020B0403040502020204"/>
            </a:endParaRPr>
          </a:p>
        </p:txBody>
      </p:sp>
    </p:spTree>
    <p:extLst>
      <p:ext uri="{BB962C8B-B14F-4D97-AF65-F5344CB8AC3E}">
        <p14:creationId xmlns:p14="http://schemas.microsoft.com/office/powerpoint/2010/main" val="4459534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9FB3F1-9316-2257-E940-CBECFDC9BB2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903994C-F67D-0DD9-CFFA-2B29D24922FF}"/>
              </a:ext>
            </a:extLst>
          </p:cNvPr>
          <p:cNvSpPr/>
          <p:nvPr/>
        </p:nvSpPr>
        <p:spPr>
          <a:xfrm>
            <a:off x="9861630" y="0"/>
            <a:ext cx="8426370" cy="10287000"/>
          </a:xfrm>
          <a:prstGeom prst="rect">
            <a:avLst/>
          </a:prstGeom>
          <a:solidFill>
            <a:srgbClr val="CF3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pic>
        <p:nvPicPr>
          <p:cNvPr id="2" name="Picture 1">
            <a:extLst>
              <a:ext uri="{FF2B5EF4-FFF2-40B4-BE49-F238E27FC236}">
                <a16:creationId xmlns:a16="http://schemas.microsoft.com/office/drawing/2014/main" id="{0B02452F-BF97-A300-6ACF-A7726E5CE129}"/>
              </a:ext>
            </a:extLst>
          </p:cNvPr>
          <p:cNvPicPr>
            <a:picLocks noChangeAspect="1"/>
          </p:cNvPicPr>
          <p:nvPr/>
        </p:nvPicPr>
        <p:blipFill rotWithShape="1">
          <a:blip r:embed="rId3">
            <a:extLst>
              <a:ext uri="{28A0092B-C50C-407E-A947-70E740481C1C}">
                <a14:useLocalDpi xmlns:a14="http://schemas.microsoft.com/office/drawing/2010/main" val="0"/>
              </a:ext>
            </a:extLst>
          </a:blip>
          <a:srcRect l="69227" t="33418" r="20112" b="50548"/>
          <a:stretch/>
        </p:blipFill>
        <p:spPr>
          <a:xfrm>
            <a:off x="15579524" y="7544693"/>
            <a:ext cx="2708477" cy="2987579"/>
          </a:xfrm>
          <a:prstGeom prst="rect">
            <a:avLst/>
          </a:prstGeom>
        </p:spPr>
      </p:pic>
      <p:sp>
        <p:nvSpPr>
          <p:cNvPr id="3" name="TextBox 2">
            <a:extLst>
              <a:ext uri="{FF2B5EF4-FFF2-40B4-BE49-F238E27FC236}">
                <a16:creationId xmlns:a16="http://schemas.microsoft.com/office/drawing/2014/main" id="{237EA42E-C722-4BC7-43F5-90F39EAD6D3B}"/>
              </a:ext>
            </a:extLst>
          </p:cNvPr>
          <p:cNvSpPr txBox="1"/>
          <p:nvPr/>
        </p:nvSpPr>
        <p:spPr>
          <a:xfrm>
            <a:off x="260431" y="329879"/>
            <a:ext cx="8906720" cy="7967309"/>
          </a:xfrm>
          <a:prstGeom prst="rect">
            <a:avLst/>
          </a:prstGeom>
          <a:noFill/>
        </p:spPr>
        <p:txBody>
          <a:bodyPr wrap="square" rtlCol="0">
            <a:spAutoFit/>
          </a:bodyPr>
          <a:lstStyle/>
          <a:p>
            <a:r>
              <a:rPr lang="en-US" sz="6000" b="1" dirty="0">
                <a:solidFill>
                  <a:srgbClr val="CF3338"/>
                </a:solidFill>
                <a:latin typeface="Pragmatica" panose="020B0403040502020204" pitchFamily="34" charset="0"/>
              </a:rPr>
              <a:t>Exercises</a:t>
            </a:r>
          </a:p>
          <a:p>
            <a:endParaRPr lang="en-US" sz="4200" dirty="0">
              <a:solidFill>
                <a:srgbClr val="CF3338"/>
              </a:solidFill>
              <a:latin typeface="Pragmatica" panose="020B0403040502020204" pitchFamily="34" charset="0"/>
            </a:endParaRPr>
          </a:p>
          <a:p>
            <a:pPr marL="457200" indent="-457200">
              <a:buFont typeface="Arial" panose="020B0604020202020204" pitchFamily="34" charset="0"/>
              <a:buChar char="•"/>
            </a:pPr>
            <a:r>
              <a:rPr lang="en-US" sz="3200" dirty="0">
                <a:solidFill>
                  <a:srgbClr val="CF3338"/>
                </a:solidFill>
                <a:latin typeface="Pragmatica" panose="020B0403040502020204" pitchFamily="34" charset="0"/>
              </a:rPr>
              <a:t>Build on the clock in/clock out workflow</a:t>
            </a:r>
          </a:p>
          <a:p>
            <a:endParaRPr lang="en-US" sz="3200" dirty="0">
              <a:solidFill>
                <a:srgbClr val="CF3338"/>
              </a:solidFill>
              <a:latin typeface="Pragmatica" panose="020B0403040502020204" pitchFamily="34" charset="0"/>
            </a:endParaRPr>
          </a:p>
          <a:p>
            <a:pPr marL="457200" indent="-457200">
              <a:buFont typeface="Arial" panose="020B0604020202020204" pitchFamily="34" charset="0"/>
              <a:buChar char="•"/>
            </a:pPr>
            <a:r>
              <a:rPr lang="en-US" sz="3200" dirty="0">
                <a:solidFill>
                  <a:srgbClr val="CF3338"/>
                </a:solidFill>
                <a:latin typeface="Pragmatica" panose="020B0403040502020204" pitchFamily="34" charset="0"/>
              </a:rPr>
              <a:t>Task: Modify the flow to prompt users for comments when clocking in or out</a:t>
            </a:r>
          </a:p>
          <a:p>
            <a:pPr marL="914400" lvl="1" indent="-457200">
              <a:buFont typeface="Arial" panose="020B0604020202020204" pitchFamily="34" charset="0"/>
              <a:buChar char="•"/>
            </a:pPr>
            <a:r>
              <a:rPr lang="en-US" sz="3200" dirty="0">
                <a:solidFill>
                  <a:srgbClr val="CF3338"/>
                </a:solidFill>
                <a:latin typeface="Pragmatica" panose="020B0403040502020204" pitchFamily="34" charset="0"/>
              </a:rPr>
              <a:t>Add the comment prompt where the in/out criteria is built with a yes/no checkbox</a:t>
            </a:r>
          </a:p>
          <a:p>
            <a:pPr marL="914400" lvl="1" indent="-457200">
              <a:buFont typeface="Arial" panose="020B0604020202020204" pitchFamily="34" charset="0"/>
              <a:buChar char="•"/>
            </a:pPr>
            <a:r>
              <a:rPr lang="en-US" sz="3200" dirty="0">
                <a:solidFill>
                  <a:srgbClr val="CF3338"/>
                </a:solidFill>
                <a:latin typeface="Pragmatica" panose="020B0403040502020204" pitchFamily="34" charset="0"/>
              </a:rPr>
              <a:t>Save the clock in/out data, including comments, to the worksheet</a:t>
            </a:r>
          </a:p>
          <a:p>
            <a:pPr marL="914400" lvl="1" indent="-457200">
              <a:buFont typeface="Arial" panose="020B0604020202020204" pitchFamily="34" charset="0"/>
              <a:buChar char="•"/>
            </a:pPr>
            <a:r>
              <a:rPr lang="en-US" sz="3200" dirty="0">
                <a:solidFill>
                  <a:srgbClr val="CF3338"/>
                </a:solidFill>
                <a:latin typeface="Pragmatica" panose="020B0403040502020204" pitchFamily="34" charset="0"/>
              </a:rPr>
              <a:t>Post an update to Teams with details (who clocked in/out, time, and comments)</a:t>
            </a:r>
          </a:p>
          <a:p>
            <a:pPr marL="142875">
              <a:lnSpc>
                <a:spcPct val="115000"/>
              </a:lnSpc>
              <a:spcBef>
                <a:spcPts val="1125"/>
              </a:spcBef>
              <a:buClr>
                <a:srgbClr val="C00000"/>
              </a:buClr>
              <a:buSzPts val="2100"/>
            </a:pPr>
            <a:endParaRPr lang="en-US" sz="3200" dirty="0">
              <a:solidFill>
                <a:srgbClr val="C00000"/>
              </a:solidFill>
              <a:latin typeface="Pragmatica" panose="020B0403040502020204"/>
              <a:sym typeface="Consolas"/>
            </a:endParaRPr>
          </a:p>
          <a:p>
            <a:pPr marL="142875">
              <a:lnSpc>
                <a:spcPct val="115000"/>
              </a:lnSpc>
              <a:spcBef>
                <a:spcPts val="1125"/>
              </a:spcBef>
              <a:buClr>
                <a:srgbClr val="C00000"/>
              </a:buClr>
              <a:buSzPts val="2100"/>
            </a:pPr>
            <a:r>
              <a:rPr lang="en-US" sz="3200" dirty="0">
                <a:solidFill>
                  <a:srgbClr val="C00000"/>
                </a:solidFill>
                <a:latin typeface="Pragmatica" panose="020B0403040502020204"/>
                <a:sym typeface="Consolas"/>
              </a:rPr>
              <a:t>File: </a:t>
            </a:r>
            <a:r>
              <a:rPr lang="en-US" sz="3200" dirty="0">
                <a:solidFill>
                  <a:srgbClr val="C00000"/>
                </a:solidFill>
                <a:latin typeface="Consolas" panose="020B0609020204030204" pitchFamily="49" charset="0"/>
                <a:sym typeface="Consolas"/>
              </a:rPr>
              <a:t>first-steps-exercises.xlsx</a:t>
            </a:r>
          </a:p>
        </p:txBody>
      </p:sp>
    </p:spTree>
    <p:extLst>
      <p:ext uri="{BB962C8B-B14F-4D97-AF65-F5344CB8AC3E}">
        <p14:creationId xmlns:p14="http://schemas.microsoft.com/office/powerpoint/2010/main" val="25569790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rotWithShape="1">
          <a:blip r:embed="rId2">
            <a:extLst>
              <a:ext uri="{28A0092B-C50C-407E-A947-70E740481C1C}">
                <a14:useLocalDpi xmlns:a14="http://schemas.microsoft.com/office/drawing/2010/main" val="0"/>
              </a:ext>
            </a:extLst>
          </a:blip>
          <a:srcRect l="50728" t="56371"/>
          <a:stretch/>
        </p:blipFill>
        <p:spPr>
          <a:xfrm>
            <a:off x="12204691" y="3316148"/>
            <a:ext cx="6083309" cy="6970854"/>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7744" y="-3724155"/>
            <a:ext cx="15257208" cy="11189825"/>
          </a:xfrm>
          <a:prstGeom prst="rect">
            <a:avLst/>
          </a:prstGeom>
        </p:spPr>
      </p:pic>
      <p:sp>
        <p:nvSpPr>
          <p:cNvPr id="11" name="TextBox 10"/>
          <p:cNvSpPr txBox="1"/>
          <p:nvPr/>
        </p:nvSpPr>
        <p:spPr>
          <a:xfrm>
            <a:off x="486137" y="2531318"/>
            <a:ext cx="11979797" cy="923330"/>
          </a:xfrm>
          <a:prstGeom prst="rect">
            <a:avLst/>
          </a:prstGeom>
          <a:noFill/>
        </p:spPr>
        <p:txBody>
          <a:bodyPr wrap="square" rtlCol="0">
            <a:spAutoFit/>
          </a:bodyPr>
          <a:lstStyle/>
          <a:p>
            <a:r>
              <a:rPr lang="en-US" sz="5400" b="1" dirty="0">
                <a:solidFill>
                  <a:srgbClr val="CF3338"/>
                </a:solidFill>
                <a:latin typeface="Pragmatica" panose="020B0403040502020204" pitchFamily="34" charset="0"/>
              </a:rPr>
              <a:t>Questions?</a:t>
            </a:r>
          </a:p>
        </p:txBody>
      </p:sp>
      <p:pic>
        <p:nvPicPr>
          <p:cNvPr id="5" name="Picture 4">
            <a:extLst>
              <a:ext uri="{FF2B5EF4-FFF2-40B4-BE49-F238E27FC236}">
                <a16:creationId xmlns:a16="http://schemas.microsoft.com/office/drawing/2014/main" id="{54A06221-5316-4BCF-9FDA-BDB95FF4A77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2204691" y="3317239"/>
            <a:ext cx="6083309" cy="6968672"/>
          </a:xfrm>
          <a:prstGeom prst="rect">
            <a:avLst/>
          </a:prstGeom>
        </p:spPr>
      </p:pic>
    </p:spTree>
    <p:extLst>
      <p:ext uri="{BB962C8B-B14F-4D97-AF65-F5344CB8AC3E}">
        <p14:creationId xmlns:p14="http://schemas.microsoft.com/office/powerpoint/2010/main" val="16898607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AD1E89-DF85-2717-CB7C-611205BA0CE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AAE8890-A125-C1F7-E345-728BA6EE9AB2}"/>
              </a:ext>
            </a:extLst>
          </p:cNvPr>
          <p:cNvSpPr/>
          <p:nvPr/>
        </p:nvSpPr>
        <p:spPr>
          <a:xfrm>
            <a:off x="0" y="0"/>
            <a:ext cx="18288000" cy="10287000"/>
          </a:xfrm>
          <a:prstGeom prst="rect">
            <a:avLst/>
          </a:prstGeom>
          <a:solidFill>
            <a:srgbClr val="CF3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5" name="TextBox 4">
            <a:extLst>
              <a:ext uri="{FF2B5EF4-FFF2-40B4-BE49-F238E27FC236}">
                <a16:creationId xmlns:a16="http://schemas.microsoft.com/office/drawing/2014/main" id="{D7E7C76E-07A8-E205-B090-2AB80EB3A153}"/>
              </a:ext>
            </a:extLst>
          </p:cNvPr>
          <p:cNvSpPr txBox="1"/>
          <p:nvPr/>
        </p:nvSpPr>
        <p:spPr>
          <a:xfrm>
            <a:off x="781292" y="590309"/>
            <a:ext cx="15486926" cy="3139321"/>
          </a:xfrm>
          <a:prstGeom prst="rect">
            <a:avLst/>
          </a:prstGeom>
          <a:noFill/>
        </p:spPr>
        <p:txBody>
          <a:bodyPr wrap="square" rtlCol="0">
            <a:spAutoFit/>
          </a:bodyPr>
          <a:lstStyle/>
          <a:p>
            <a:r>
              <a:rPr lang="en-US" sz="9900" b="1" dirty="0">
                <a:solidFill>
                  <a:schemeClr val="bg1"/>
                </a:solidFill>
                <a:latin typeface="Normafixed Tryout" panose="00000409000000000000" pitchFamily="49" charset="0"/>
              </a:rPr>
              <a:t>Building and managing Excel-related flows</a:t>
            </a:r>
          </a:p>
        </p:txBody>
      </p:sp>
    </p:spTree>
    <p:extLst>
      <p:ext uri="{BB962C8B-B14F-4D97-AF65-F5344CB8AC3E}">
        <p14:creationId xmlns:p14="http://schemas.microsoft.com/office/powerpoint/2010/main" val="31391972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8EB55-91D6-C27F-AAC1-D5B7022AE89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88F5155-AC67-B1E7-07B3-815AE617ACA4}"/>
              </a:ext>
            </a:extLst>
          </p:cNvPr>
          <p:cNvSpPr/>
          <p:nvPr/>
        </p:nvSpPr>
        <p:spPr>
          <a:xfrm>
            <a:off x="9861630" y="0"/>
            <a:ext cx="8426370" cy="10287000"/>
          </a:xfrm>
          <a:prstGeom prst="rect">
            <a:avLst/>
          </a:prstGeom>
          <a:solidFill>
            <a:srgbClr val="CF3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pic>
        <p:nvPicPr>
          <p:cNvPr id="2" name="Picture 1">
            <a:extLst>
              <a:ext uri="{FF2B5EF4-FFF2-40B4-BE49-F238E27FC236}">
                <a16:creationId xmlns:a16="http://schemas.microsoft.com/office/drawing/2014/main" id="{A626B147-5BD3-802B-DA2F-1AAEA90042A4}"/>
              </a:ext>
            </a:extLst>
          </p:cNvPr>
          <p:cNvPicPr>
            <a:picLocks noChangeAspect="1"/>
          </p:cNvPicPr>
          <p:nvPr/>
        </p:nvPicPr>
        <p:blipFill rotWithShape="1">
          <a:blip r:embed="rId3">
            <a:extLst>
              <a:ext uri="{28A0092B-C50C-407E-A947-70E740481C1C}">
                <a14:useLocalDpi xmlns:a14="http://schemas.microsoft.com/office/drawing/2010/main" val="0"/>
              </a:ext>
            </a:extLst>
          </a:blip>
          <a:srcRect l="69227" t="33418" r="20112" b="50548"/>
          <a:stretch/>
        </p:blipFill>
        <p:spPr>
          <a:xfrm>
            <a:off x="15579524" y="7544693"/>
            <a:ext cx="2708477" cy="2987579"/>
          </a:xfrm>
          <a:prstGeom prst="rect">
            <a:avLst/>
          </a:prstGeom>
        </p:spPr>
      </p:pic>
      <p:sp>
        <p:nvSpPr>
          <p:cNvPr id="3" name="TextBox 2">
            <a:extLst>
              <a:ext uri="{FF2B5EF4-FFF2-40B4-BE49-F238E27FC236}">
                <a16:creationId xmlns:a16="http://schemas.microsoft.com/office/drawing/2014/main" id="{82986F1D-83FB-8CDB-184F-AB36F8D41632}"/>
              </a:ext>
            </a:extLst>
          </p:cNvPr>
          <p:cNvSpPr txBox="1"/>
          <p:nvPr/>
        </p:nvSpPr>
        <p:spPr>
          <a:xfrm>
            <a:off x="260431" y="329879"/>
            <a:ext cx="8906720" cy="7668831"/>
          </a:xfrm>
          <a:prstGeom prst="rect">
            <a:avLst/>
          </a:prstGeom>
          <a:noFill/>
        </p:spPr>
        <p:txBody>
          <a:bodyPr wrap="square" rtlCol="0">
            <a:spAutoFit/>
          </a:bodyPr>
          <a:lstStyle/>
          <a:p>
            <a:r>
              <a:rPr lang="en-US" sz="6000" b="1" dirty="0">
                <a:solidFill>
                  <a:srgbClr val="CF3338"/>
                </a:solidFill>
                <a:latin typeface="Pragmatica" panose="020B0403040502020204" pitchFamily="34" charset="0"/>
              </a:rPr>
              <a:t>Automating Excel entry with Power Automate</a:t>
            </a:r>
          </a:p>
          <a:p>
            <a:pPr marL="142875">
              <a:lnSpc>
                <a:spcPct val="115000"/>
              </a:lnSpc>
              <a:spcBef>
                <a:spcPts val="1125"/>
              </a:spcBef>
              <a:buClr>
                <a:srgbClr val="C00000"/>
              </a:buClr>
              <a:buSzPts val="2100"/>
            </a:pPr>
            <a:endParaRPr lang="en-US" sz="4200" dirty="0">
              <a:solidFill>
                <a:srgbClr val="CF3338"/>
              </a:solidFill>
              <a:latin typeface="Pragmatica" panose="020B0403040502020204" pitchFamily="34" charset="0"/>
              <a:sym typeface="Consolas"/>
            </a:endParaRPr>
          </a:p>
          <a:p>
            <a:pPr marL="714375" indent="-571500">
              <a:lnSpc>
                <a:spcPct val="115000"/>
              </a:lnSpc>
              <a:spcBef>
                <a:spcPts val="1125"/>
              </a:spcBef>
              <a:buClr>
                <a:srgbClr val="C00000"/>
              </a:buClr>
              <a:buSzPts val="2100"/>
              <a:buFont typeface="Arial" panose="020B0604020202020204" pitchFamily="34" charset="0"/>
              <a:buChar char="•"/>
            </a:pPr>
            <a:r>
              <a:rPr lang="en-US" sz="3600" dirty="0">
                <a:solidFill>
                  <a:srgbClr val="C00000"/>
                </a:solidFill>
                <a:latin typeface="Pragmatica" panose="020B0403040502020204"/>
                <a:sym typeface="Consolas"/>
              </a:rPr>
              <a:t>Add summary of all incoming manager’s emails into a workbook</a:t>
            </a:r>
          </a:p>
          <a:p>
            <a:pPr marL="714375" indent="-571500">
              <a:lnSpc>
                <a:spcPct val="115000"/>
              </a:lnSpc>
              <a:spcBef>
                <a:spcPts val="1125"/>
              </a:spcBef>
              <a:buClr>
                <a:srgbClr val="C00000"/>
              </a:buClr>
              <a:buSzPts val="2100"/>
              <a:buFont typeface="Arial" panose="020B0604020202020204" pitchFamily="34" charset="0"/>
              <a:buChar char="•"/>
            </a:pPr>
            <a:r>
              <a:rPr lang="en-US" sz="3600" dirty="0">
                <a:solidFill>
                  <a:srgbClr val="C00000"/>
                </a:solidFill>
                <a:latin typeface="Pragmatica" panose="020B0403040502020204"/>
                <a:sym typeface="Consolas"/>
              </a:rPr>
              <a:t>File: </a:t>
            </a:r>
            <a:r>
              <a:rPr lang="en-US" sz="3600" dirty="0">
                <a:solidFill>
                  <a:srgbClr val="C00000"/>
                </a:solidFill>
                <a:latin typeface="Consolas" panose="020B0609020204030204" pitchFamily="49" charset="0"/>
                <a:sym typeface="Consolas"/>
              </a:rPr>
              <a:t>automate-excel-entry.xlsx</a:t>
            </a:r>
          </a:p>
          <a:p>
            <a:pPr marL="714375" indent="-571500">
              <a:lnSpc>
                <a:spcPct val="115000"/>
              </a:lnSpc>
              <a:spcBef>
                <a:spcPts val="1125"/>
              </a:spcBef>
              <a:buClr>
                <a:srgbClr val="C00000"/>
              </a:buClr>
              <a:buSzPts val="2100"/>
              <a:buFont typeface="Arial" panose="020B0604020202020204" pitchFamily="34" charset="0"/>
              <a:buChar char="•"/>
            </a:pPr>
            <a:r>
              <a:rPr lang="en-US" sz="3600" dirty="0">
                <a:solidFill>
                  <a:srgbClr val="C00000"/>
                </a:solidFill>
                <a:latin typeface="Pragmatica" panose="020B0403040502020204"/>
                <a:sym typeface="Consolas"/>
              </a:rPr>
              <a:t>Resource: </a:t>
            </a:r>
            <a:r>
              <a:rPr lang="en-US" sz="3600" dirty="0">
                <a:solidFill>
                  <a:srgbClr val="CF3338"/>
                </a:solidFill>
                <a:latin typeface="Pragmatica" panose="020B0403040502020204"/>
                <a:sym typeface="Consolas"/>
              </a:rPr>
              <a:t>https://stringfestanalytics.com/how-to-track-incoming-emails-in-excel-with-power-automate/</a:t>
            </a:r>
            <a:endParaRPr lang="en-US" sz="6000" dirty="0">
              <a:solidFill>
                <a:srgbClr val="CF3338"/>
              </a:solidFill>
              <a:latin typeface="Pragmatica" panose="020B0403040502020204" pitchFamily="34" charset="0"/>
            </a:endParaRPr>
          </a:p>
        </p:txBody>
      </p:sp>
    </p:spTree>
    <p:extLst>
      <p:ext uri="{BB962C8B-B14F-4D97-AF65-F5344CB8AC3E}">
        <p14:creationId xmlns:p14="http://schemas.microsoft.com/office/powerpoint/2010/main" val="24430743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AE25C6-D9BE-ACB3-A9D8-1E3F5AED953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BB2C0CB-609C-3DDF-0D6F-F0676C71A082}"/>
              </a:ext>
            </a:extLst>
          </p:cNvPr>
          <p:cNvSpPr/>
          <p:nvPr/>
        </p:nvSpPr>
        <p:spPr>
          <a:xfrm>
            <a:off x="9861630" y="0"/>
            <a:ext cx="8426370" cy="10287000"/>
          </a:xfrm>
          <a:prstGeom prst="rect">
            <a:avLst/>
          </a:prstGeom>
          <a:solidFill>
            <a:srgbClr val="CF3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pic>
        <p:nvPicPr>
          <p:cNvPr id="2" name="Picture 1">
            <a:extLst>
              <a:ext uri="{FF2B5EF4-FFF2-40B4-BE49-F238E27FC236}">
                <a16:creationId xmlns:a16="http://schemas.microsoft.com/office/drawing/2014/main" id="{364709B4-D842-0E90-CD06-E3ECC159C08A}"/>
              </a:ext>
            </a:extLst>
          </p:cNvPr>
          <p:cNvPicPr>
            <a:picLocks noChangeAspect="1"/>
          </p:cNvPicPr>
          <p:nvPr/>
        </p:nvPicPr>
        <p:blipFill rotWithShape="1">
          <a:blip r:embed="rId3">
            <a:extLst>
              <a:ext uri="{28A0092B-C50C-407E-A947-70E740481C1C}">
                <a14:useLocalDpi xmlns:a14="http://schemas.microsoft.com/office/drawing/2010/main" val="0"/>
              </a:ext>
            </a:extLst>
          </a:blip>
          <a:srcRect l="69227" t="33418" r="20112" b="50548"/>
          <a:stretch/>
        </p:blipFill>
        <p:spPr>
          <a:xfrm>
            <a:off x="15579524" y="7544693"/>
            <a:ext cx="2708477" cy="2987579"/>
          </a:xfrm>
          <a:prstGeom prst="rect">
            <a:avLst/>
          </a:prstGeom>
        </p:spPr>
      </p:pic>
      <p:sp>
        <p:nvSpPr>
          <p:cNvPr id="3" name="TextBox 2">
            <a:extLst>
              <a:ext uri="{FF2B5EF4-FFF2-40B4-BE49-F238E27FC236}">
                <a16:creationId xmlns:a16="http://schemas.microsoft.com/office/drawing/2014/main" id="{16B1D88B-224C-9AE6-5C78-176FD3CF957A}"/>
              </a:ext>
            </a:extLst>
          </p:cNvPr>
          <p:cNvSpPr txBox="1"/>
          <p:nvPr/>
        </p:nvSpPr>
        <p:spPr>
          <a:xfrm>
            <a:off x="260431" y="329879"/>
            <a:ext cx="8906720" cy="6886565"/>
          </a:xfrm>
          <a:prstGeom prst="rect">
            <a:avLst/>
          </a:prstGeom>
          <a:noFill/>
        </p:spPr>
        <p:txBody>
          <a:bodyPr wrap="square" rtlCol="0">
            <a:spAutoFit/>
          </a:bodyPr>
          <a:lstStyle/>
          <a:p>
            <a:r>
              <a:rPr lang="en-US" sz="6000" b="1" dirty="0">
                <a:solidFill>
                  <a:srgbClr val="CF3338"/>
                </a:solidFill>
                <a:latin typeface="Pragmatica" panose="020B0403040502020204" pitchFamily="34" charset="0"/>
              </a:rPr>
              <a:t>Creating conditional flows</a:t>
            </a:r>
          </a:p>
          <a:p>
            <a:pPr marL="142875">
              <a:lnSpc>
                <a:spcPct val="115000"/>
              </a:lnSpc>
              <a:spcBef>
                <a:spcPts val="1125"/>
              </a:spcBef>
              <a:buClr>
                <a:srgbClr val="C00000"/>
              </a:buClr>
              <a:buSzPts val="2100"/>
            </a:pPr>
            <a:endParaRPr lang="en-US" sz="4200" dirty="0">
              <a:solidFill>
                <a:srgbClr val="CF3338"/>
              </a:solidFill>
              <a:latin typeface="Pragmatica" panose="020B0403040502020204" pitchFamily="34" charset="0"/>
              <a:sym typeface="Consolas"/>
            </a:endParaRPr>
          </a:p>
          <a:p>
            <a:pPr marL="714375" indent="-571500">
              <a:lnSpc>
                <a:spcPct val="115000"/>
              </a:lnSpc>
              <a:spcBef>
                <a:spcPts val="1125"/>
              </a:spcBef>
              <a:buClr>
                <a:srgbClr val="C00000"/>
              </a:buClr>
              <a:buSzPts val="2100"/>
              <a:buFont typeface="Arial" panose="020B0604020202020204" pitchFamily="34" charset="0"/>
              <a:buChar char="•"/>
            </a:pPr>
            <a:r>
              <a:rPr lang="en-US" sz="3600" dirty="0">
                <a:solidFill>
                  <a:srgbClr val="C00000"/>
                </a:solidFill>
                <a:latin typeface="Pragmatica" panose="020B0403040502020204"/>
                <a:sym typeface="Consolas"/>
              </a:rPr>
              <a:t>Create emails </a:t>
            </a:r>
            <a:r>
              <a:rPr lang="en-US" sz="3600" i="1" dirty="0">
                <a:solidFill>
                  <a:srgbClr val="C00000"/>
                </a:solidFill>
                <a:latin typeface="Pragmatica" panose="020B0403040502020204"/>
                <a:sym typeface="Consolas"/>
              </a:rPr>
              <a:t>only </a:t>
            </a:r>
            <a:r>
              <a:rPr lang="en-US" sz="3600" dirty="0">
                <a:solidFill>
                  <a:srgbClr val="C00000"/>
                </a:solidFill>
                <a:latin typeface="Pragmatica" panose="020B0403040502020204"/>
                <a:sym typeface="Consolas"/>
              </a:rPr>
              <a:t>when project is delayed</a:t>
            </a:r>
          </a:p>
          <a:p>
            <a:pPr marL="714375" indent="-571500">
              <a:lnSpc>
                <a:spcPct val="115000"/>
              </a:lnSpc>
              <a:spcBef>
                <a:spcPts val="1125"/>
              </a:spcBef>
              <a:buClr>
                <a:srgbClr val="C00000"/>
              </a:buClr>
              <a:buSzPts val="2100"/>
              <a:buFont typeface="Arial" panose="020B0604020202020204" pitchFamily="34" charset="0"/>
              <a:buChar char="•"/>
            </a:pPr>
            <a:r>
              <a:rPr lang="en-US" sz="3600" dirty="0">
                <a:solidFill>
                  <a:srgbClr val="C00000"/>
                </a:solidFill>
                <a:latin typeface="Pragmatica" panose="020B0403040502020204"/>
                <a:sym typeface="Consolas"/>
              </a:rPr>
              <a:t>Test flow and put on schedule</a:t>
            </a:r>
          </a:p>
          <a:p>
            <a:pPr marL="714375" indent="-571500">
              <a:lnSpc>
                <a:spcPct val="115000"/>
              </a:lnSpc>
              <a:spcBef>
                <a:spcPts val="1125"/>
              </a:spcBef>
              <a:buClr>
                <a:srgbClr val="C00000"/>
              </a:buClr>
              <a:buSzPts val="2100"/>
              <a:buFont typeface="Arial" panose="020B0604020202020204" pitchFamily="34" charset="0"/>
              <a:buChar char="•"/>
            </a:pPr>
            <a:r>
              <a:rPr lang="en-US" sz="3600" dirty="0">
                <a:solidFill>
                  <a:srgbClr val="C00000"/>
                </a:solidFill>
                <a:latin typeface="Pragmatica" panose="020B0403040502020204"/>
                <a:sym typeface="Consolas"/>
              </a:rPr>
              <a:t>File: </a:t>
            </a:r>
            <a:r>
              <a:rPr lang="en-US" sz="3600" dirty="0">
                <a:solidFill>
                  <a:srgbClr val="C00000"/>
                </a:solidFill>
                <a:latin typeface="Consolas" panose="020B0609020204030204" pitchFamily="49" charset="0"/>
                <a:sym typeface="Consolas"/>
              </a:rPr>
              <a:t>conditional-logic.xlsx</a:t>
            </a:r>
          </a:p>
          <a:p>
            <a:pPr marL="714375" indent="-571500">
              <a:lnSpc>
                <a:spcPct val="115000"/>
              </a:lnSpc>
              <a:spcBef>
                <a:spcPts val="1125"/>
              </a:spcBef>
              <a:buClr>
                <a:srgbClr val="C00000"/>
              </a:buClr>
              <a:buSzPts val="2100"/>
              <a:buFont typeface="Arial" panose="020B0604020202020204" pitchFamily="34" charset="0"/>
              <a:buChar char="•"/>
            </a:pPr>
            <a:r>
              <a:rPr lang="en-US" sz="3600" dirty="0">
                <a:solidFill>
                  <a:srgbClr val="C00000"/>
                </a:solidFill>
                <a:latin typeface="Pragmatica" panose="020B0403040502020204"/>
                <a:sym typeface="Consolas"/>
              </a:rPr>
              <a:t>Resource: </a:t>
            </a:r>
            <a:r>
              <a:rPr lang="en-US" sz="3600" dirty="0">
                <a:solidFill>
                  <a:srgbClr val="CF3338"/>
                </a:solidFill>
                <a:latin typeface="Pragmatica" panose="020B0403040502020204"/>
                <a:sym typeface="Consolas"/>
              </a:rPr>
              <a:t>https://stringfestanalytics.com/power-automate-for-excel-how-to-understand-conditional-flows/</a:t>
            </a:r>
            <a:endParaRPr lang="en-US" sz="6000" dirty="0">
              <a:solidFill>
                <a:srgbClr val="CF3338"/>
              </a:solidFill>
              <a:latin typeface="Pragmatica" panose="020B0403040502020204" pitchFamily="34" charset="0"/>
            </a:endParaRPr>
          </a:p>
        </p:txBody>
      </p:sp>
    </p:spTree>
    <p:extLst>
      <p:ext uri="{BB962C8B-B14F-4D97-AF65-F5344CB8AC3E}">
        <p14:creationId xmlns:p14="http://schemas.microsoft.com/office/powerpoint/2010/main" val="8400092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5543C-FC2F-706C-0319-AF2E02C1797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90E9BB0-DF62-7CD8-AD9E-9B07D47A3EA3}"/>
              </a:ext>
            </a:extLst>
          </p:cNvPr>
          <p:cNvSpPr/>
          <p:nvPr/>
        </p:nvSpPr>
        <p:spPr>
          <a:xfrm>
            <a:off x="9861630" y="0"/>
            <a:ext cx="8426370" cy="10287000"/>
          </a:xfrm>
          <a:prstGeom prst="rect">
            <a:avLst/>
          </a:prstGeom>
          <a:solidFill>
            <a:srgbClr val="CF3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pic>
        <p:nvPicPr>
          <p:cNvPr id="2" name="Picture 1">
            <a:extLst>
              <a:ext uri="{FF2B5EF4-FFF2-40B4-BE49-F238E27FC236}">
                <a16:creationId xmlns:a16="http://schemas.microsoft.com/office/drawing/2014/main" id="{75EAA4D7-8279-B257-6D3E-F96D3198579A}"/>
              </a:ext>
            </a:extLst>
          </p:cNvPr>
          <p:cNvPicPr>
            <a:picLocks noChangeAspect="1"/>
          </p:cNvPicPr>
          <p:nvPr/>
        </p:nvPicPr>
        <p:blipFill rotWithShape="1">
          <a:blip r:embed="rId3">
            <a:extLst>
              <a:ext uri="{28A0092B-C50C-407E-A947-70E740481C1C}">
                <a14:useLocalDpi xmlns:a14="http://schemas.microsoft.com/office/drawing/2010/main" val="0"/>
              </a:ext>
            </a:extLst>
          </a:blip>
          <a:srcRect l="69227" t="33418" r="20112" b="50548"/>
          <a:stretch/>
        </p:blipFill>
        <p:spPr>
          <a:xfrm>
            <a:off x="15579524" y="7544693"/>
            <a:ext cx="2708477" cy="2987579"/>
          </a:xfrm>
          <a:prstGeom prst="rect">
            <a:avLst/>
          </a:prstGeom>
        </p:spPr>
      </p:pic>
      <p:sp>
        <p:nvSpPr>
          <p:cNvPr id="3" name="TextBox 2">
            <a:extLst>
              <a:ext uri="{FF2B5EF4-FFF2-40B4-BE49-F238E27FC236}">
                <a16:creationId xmlns:a16="http://schemas.microsoft.com/office/drawing/2014/main" id="{74B1D248-3DA4-EF63-972E-3DC8117D97E9}"/>
              </a:ext>
            </a:extLst>
          </p:cNvPr>
          <p:cNvSpPr txBox="1"/>
          <p:nvPr/>
        </p:nvSpPr>
        <p:spPr>
          <a:xfrm>
            <a:off x="260431" y="329879"/>
            <a:ext cx="8906720" cy="7668831"/>
          </a:xfrm>
          <a:prstGeom prst="rect">
            <a:avLst/>
          </a:prstGeom>
          <a:noFill/>
        </p:spPr>
        <p:txBody>
          <a:bodyPr wrap="square" rtlCol="0">
            <a:spAutoFit/>
          </a:bodyPr>
          <a:lstStyle/>
          <a:p>
            <a:r>
              <a:rPr lang="en-US" sz="6000" b="1" dirty="0">
                <a:solidFill>
                  <a:srgbClr val="CF3338"/>
                </a:solidFill>
                <a:latin typeface="Pragmatica" panose="020B0403040502020204" pitchFamily="34" charset="0"/>
              </a:rPr>
              <a:t>Office Scripts + Power Automate, part 1</a:t>
            </a:r>
          </a:p>
          <a:p>
            <a:pPr marL="142875">
              <a:lnSpc>
                <a:spcPct val="115000"/>
              </a:lnSpc>
              <a:spcBef>
                <a:spcPts val="1125"/>
              </a:spcBef>
              <a:buClr>
                <a:srgbClr val="C00000"/>
              </a:buClr>
              <a:buSzPts val="2100"/>
            </a:pPr>
            <a:endParaRPr lang="en-US" sz="4200" dirty="0">
              <a:solidFill>
                <a:srgbClr val="CF3338"/>
              </a:solidFill>
              <a:latin typeface="Pragmatica" panose="020B0403040502020204" pitchFamily="34" charset="0"/>
              <a:sym typeface="Consolas"/>
            </a:endParaRPr>
          </a:p>
          <a:p>
            <a:pPr marL="714375" indent="-571500">
              <a:lnSpc>
                <a:spcPct val="115000"/>
              </a:lnSpc>
              <a:spcBef>
                <a:spcPts val="1125"/>
              </a:spcBef>
              <a:buClr>
                <a:srgbClr val="C00000"/>
              </a:buClr>
              <a:buSzPts val="2100"/>
              <a:buFont typeface="Arial" panose="020B0604020202020204" pitchFamily="34" charset="0"/>
              <a:buChar char="•"/>
            </a:pPr>
            <a:r>
              <a:rPr lang="en-US" sz="3600" dirty="0">
                <a:solidFill>
                  <a:srgbClr val="C00000"/>
                </a:solidFill>
                <a:latin typeface="Pragmatica" panose="020B0403040502020204"/>
                <a:sym typeface="Consolas"/>
              </a:rPr>
              <a:t>Run a TOC updater script on schedule</a:t>
            </a:r>
          </a:p>
          <a:p>
            <a:pPr marL="714375" indent="-571500">
              <a:lnSpc>
                <a:spcPct val="115000"/>
              </a:lnSpc>
              <a:spcBef>
                <a:spcPts val="1125"/>
              </a:spcBef>
              <a:buClr>
                <a:srgbClr val="C00000"/>
              </a:buClr>
              <a:buSzPts val="2100"/>
              <a:buFont typeface="Arial" panose="020B0604020202020204" pitchFamily="34" charset="0"/>
              <a:buChar char="•"/>
            </a:pPr>
            <a:r>
              <a:rPr lang="en-US" sz="3600" dirty="0">
                <a:solidFill>
                  <a:srgbClr val="C00000"/>
                </a:solidFill>
                <a:latin typeface="Pragmatica" panose="020B0403040502020204"/>
                <a:sym typeface="Consolas"/>
              </a:rPr>
              <a:t>Files: </a:t>
            </a:r>
            <a:r>
              <a:rPr lang="en-US" sz="3600" dirty="0">
                <a:solidFill>
                  <a:srgbClr val="C00000"/>
                </a:solidFill>
                <a:latin typeface="Consolas" panose="020B0609020204030204" pitchFamily="49" charset="0"/>
                <a:sym typeface="Consolas"/>
              </a:rPr>
              <a:t>power-automate-office-scripts.xlsx</a:t>
            </a:r>
            <a:r>
              <a:rPr lang="en-US" sz="3600" dirty="0">
                <a:solidFill>
                  <a:srgbClr val="C00000"/>
                </a:solidFill>
                <a:latin typeface="Pragmatica" panose="020B0403040502020204"/>
                <a:sym typeface="Consolas"/>
              </a:rPr>
              <a:t>, </a:t>
            </a:r>
            <a:r>
              <a:rPr lang="en-US" sz="3600" dirty="0">
                <a:solidFill>
                  <a:srgbClr val="C00000"/>
                </a:solidFill>
                <a:latin typeface="Consolas" panose="020B0609020204030204" pitchFamily="49" charset="0"/>
                <a:sym typeface="Consolas"/>
              </a:rPr>
              <a:t>add-toc.txt</a:t>
            </a:r>
          </a:p>
          <a:p>
            <a:pPr marL="714375" indent="-571500">
              <a:lnSpc>
                <a:spcPct val="115000"/>
              </a:lnSpc>
              <a:spcBef>
                <a:spcPts val="1125"/>
              </a:spcBef>
              <a:buClr>
                <a:srgbClr val="C00000"/>
              </a:buClr>
              <a:buSzPts val="2100"/>
              <a:buFont typeface="Arial" panose="020B0604020202020204" pitchFamily="34" charset="0"/>
              <a:buChar char="•"/>
            </a:pPr>
            <a:r>
              <a:rPr lang="en-US" sz="3600" dirty="0">
                <a:solidFill>
                  <a:srgbClr val="C00000"/>
                </a:solidFill>
                <a:latin typeface="Pragmatica" panose="020B0403040502020204"/>
                <a:sym typeface="Consolas"/>
              </a:rPr>
              <a:t>Resource: </a:t>
            </a:r>
            <a:r>
              <a:rPr lang="en-US" sz="3600" dirty="0">
                <a:solidFill>
                  <a:srgbClr val="CF3338"/>
                </a:solidFill>
                <a:latin typeface="Pragmatica" panose="020B0403040502020204"/>
                <a:sym typeface="Consolas"/>
              </a:rPr>
              <a:t>https://stringfestanalytics.com/how-to-get-started-with-power-automate-for-excel/</a:t>
            </a:r>
            <a:endParaRPr lang="en-US" sz="6000" dirty="0">
              <a:solidFill>
                <a:srgbClr val="CF3338"/>
              </a:solidFill>
              <a:latin typeface="Pragmatica" panose="020B0403040502020204" pitchFamily="34" charset="0"/>
            </a:endParaRPr>
          </a:p>
        </p:txBody>
      </p:sp>
    </p:spTree>
    <p:extLst>
      <p:ext uri="{BB962C8B-B14F-4D97-AF65-F5344CB8AC3E}">
        <p14:creationId xmlns:p14="http://schemas.microsoft.com/office/powerpoint/2010/main" val="22102770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F59BA-0C2F-2749-8CB4-7E6DE874369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454C4F1-8816-5B7C-5A36-487DF1D2DC2B}"/>
              </a:ext>
            </a:extLst>
          </p:cNvPr>
          <p:cNvSpPr/>
          <p:nvPr/>
        </p:nvSpPr>
        <p:spPr>
          <a:xfrm>
            <a:off x="9861630" y="0"/>
            <a:ext cx="8426370" cy="10287000"/>
          </a:xfrm>
          <a:prstGeom prst="rect">
            <a:avLst/>
          </a:prstGeom>
          <a:solidFill>
            <a:srgbClr val="CF3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pic>
        <p:nvPicPr>
          <p:cNvPr id="2" name="Picture 1">
            <a:extLst>
              <a:ext uri="{FF2B5EF4-FFF2-40B4-BE49-F238E27FC236}">
                <a16:creationId xmlns:a16="http://schemas.microsoft.com/office/drawing/2014/main" id="{8FD33BFB-92A5-B8BE-BE2A-90100EC88BE0}"/>
              </a:ext>
            </a:extLst>
          </p:cNvPr>
          <p:cNvPicPr>
            <a:picLocks noChangeAspect="1"/>
          </p:cNvPicPr>
          <p:nvPr/>
        </p:nvPicPr>
        <p:blipFill rotWithShape="1">
          <a:blip r:embed="rId3">
            <a:extLst>
              <a:ext uri="{28A0092B-C50C-407E-A947-70E740481C1C}">
                <a14:useLocalDpi xmlns:a14="http://schemas.microsoft.com/office/drawing/2010/main" val="0"/>
              </a:ext>
            </a:extLst>
          </a:blip>
          <a:srcRect l="69227" t="33418" r="20112" b="50548"/>
          <a:stretch/>
        </p:blipFill>
        <p:spPr>
          <a:xfrm>
            <a:off x="15579524" y="7544693"/>
            <a:ext cx="2708477" cy="2987579"/>
          </a:xfrm>
          <a:prstGeom prst="rect">
            <a:avLst/>
          </a:prstGeom>
        </p:spPr>
      </p:pic>
      <p:sp>
        <p:nvSpPr>
          <p:cNvPr id="3" name="TextBox 2">
            <a:extLst>
              <a:ext uri="{FF2B5EF4-FFF2-40B4-BE49-F238E27FC236}">
                <a16:creationId xmlns:a16="http://schemas.microsoft.com/office/drawing/2014/main" id="{DB60F8A7-E120-24F7-0163-56AAE5565745}"/>
              </a:ext>
            </a:extLst>
          </p:cNvPr>
          <p:cNvSpPr txBox="1"/>
          <p:nvPr/>
        </p:nvSpPr>
        <p:spPr>
          <a:xfrm>
            <a:off x="260431" y="329879"/>
            <a:ext cx="8906720" cy="9084090"/>
          </a:xfrm>
          <a:prstGeom prst="rect">
            <a:avLst/>
          </a:prstGeom>
          <a:noFill/>
        </p:spPr>
        <p:txBody>
          <a:bodyPr wrap="square" rtlCol="0">
            <a:spAutoFit/>
          </a:bodyPr>
          <a:lstStyle/>
          <a:p>
            <a:r>
              <a:rPr lang="en-US" sz="6000" b="1" dirty="0">
                <a:solidFill>
                  <a:srgbClr val="CF3338"/>
                </a:solidFill>
                <a:latin typeface="Pragmatica" panose="020B0403040502020204" pitchFamily="34" charset="0"/>
              </a:rPr>
              <a:t>Office Scripts + Power Automate, part 2</a:t>
            </a:r>
          </a:p>
          <a:p>
            <a:pPr marL="142875">
              <a:lnSpc>
                <a:spcPct val="115000"/>
              </a:lnSpc>
              <a:spcBef>
                <a:spcPts val="1125"/>
              </a:spcBef>
              <a:buClr>
                <a:srgbClr val="C00000"/>
              </a:buClr>
              <a:buSzPts val="2100"/>
            </a:pPr>
            <a:endParaRPr lang="en-US" sz="4200" dirty="0">
              <a:solidFill>
                <a:srgbClr val="CF3338"/>
              </a:solidFill>
              <a:latin typeface="Pragmatica" panose="020B0403040502020204" pitchFamily="34" charset="0"/>
              <a:sym typeface="Consolas"/>
            </a:endParaRPr>
          </a:p>
          <a:p>
            <a:pPr marL="714375" indent="-571500">
              <a:lnSpc>
                <a:spcPct val="115000"/>
              </a:lnSpc>
              <a:spcBef>
                <a:spcPts val="1125"/>
              </a:spcBef>
              <a:buClr>
                <a:srgbClr val="C00000"/>
              </a:buClr>
              <a:buSzPts val="2100"/>
              <a:buFont typeface="Arial" panose="020B0604020202020204" pitchFamily="34" charset="0"/>
              <a:buChar char="•"/>
            </a:pPr>
            <a:r>
              <a:rPr lang="en-US" sz="3600" dirty="0">
                <a:solidFill>
                  <a:srgbClr val="C00000"/>
                </a:solidFill>
                <a:latin typeface="Pragmatica" panose="020B0403040502020204"/>
                <a:sym typeface="Consolas"/>
              </a:rPr>
              <a:t>How can we apply the same script to multiple workbooks? </a:t>
            </a:r>
          </a:p>
          <a:p>
            <a:pPr marL="714375" indent="-571500">
              <a:lnSpc>
                <a:spcPct val="115000"/>
              </a:lnSpc>
              <a:spcBef>
                <a:spcPts val="1125"/>
              </a:spcBef>
              <a:buClr>
                <a:srgbClr val="C00000"/>
              </a:buClr>
              <a:buSzPts val="2100"/>
              <a:buFont typeface="Arial" panose="020B0604020202020204" pitchFamily="34" charset="0"/>
              <a:buChar char="•"/>
            </a:pPr>
            <a:r>
              <a:rPr lang="en-US" sz="3600" dirty="0">
                <a:solidFill>
                  <a:srgbClr val="C00000"/>
                </a:solidFill>
                <a:latin typeface="Pragmatica" panose="020B0403040502020204"/>
                <a:sym typeface="Consolas"/>
              </a:rPr>
              <a:t>Use conditional logic to validate filetype</a:t>
            </a:r>
          </a:p>
          <a:p>
            <a:pPr marL="714375" indent="-571500">
              <a:lnSpc>
                <a:spcPct val="115000"/>
              </a:lnSpc>
              <a:spcBef>
                <a:spcPts val="1125"/>
              </a:spcBef>
              <a:buClr>
                <a:srgbClr val="C00000"/>
              </a:buClr>
              <a:buSzPts val="2100"/>
              <a:buFont typeface="Arial" panose="020B0604020202020204" pitchFamily="34" charset="0"/>
              <a:buChar char="•"/>
            </a:pPr>
            <a:r>
              <a:rPr lang="en-US" sz="3600" dirty="0">
                <a:solidFill>
                  <a:srgbClr val="C00000"/>
                </a:solidFill>
                <a:latin typeface="Pragmatica" panose="020B0403040502020204"/>
                <a:sym typeface="Consolas"/>
              </a:rPr>
              <a:t>Folder: </a:t>
            </a:r>
            <a:r>
              <a:rPr lang="en-US" sz="3600" dirty="0">
                <a:solidFill>
                  <a:srgbClr val="C00000"/>
                </a:solidFill>
                <a:latin typeface="Consolas" panose="020B0609020204030204" pitchFamily="49" charset="0"/>
                <a:sym typeface="Consolas"/>
              </a:rPr>
              <a:t>multiple-workbooks</a:t>
            </a:r>
          </a:p>
          <a:p>
            <a:pPr marL="714375" indent="-571500">
              <a:lnSpc>
                <a:spcPct val="115000"/>
              </a:lnSpc>
              <a:spcBef>
                <a:spcPts val="1125"/>
              </a:spcBef>
              <a:buClr>
                <a:srgbClr val="C00000"/>
              </a:buClr>
              <a:buSzPts val="2100"/>
              <a:buFont typeface="Arial" panose="020B0604020202020204" pitchFamily="34" charset="0"/>
              <a:buChar char="•"/>
            </a:pPr>
            <a:r>
              <a:rPr lang="en-US" sz="3600" dirty="0">
                <a:solidFill>
                  <a:srgbClr val="C00000"/>
                </a:solidFill>
                <a:latin typeface="Pragmatica" panose="020B0403040502020204"/>
                <a:sym typeface="Consolas"/>
              </a:rPr>
              <a:t>Resource: </a:t>
            </a:r>
            <a:r>
              <a:rPr lang="en-US" sz="3600" dirty="0">
                <a:solidFill>
                  <a:srgbClr val="CF3338"/>
                </a:solidFill>
                <a:latin typeface="Pragmatica" panose="020B0403040502020204"/>
                <a:sym typeface="Consolas"/>
              </a:rPr>
              <a:t>https://stringfestanalytics.com/how-to-run-an-office-script-on-all-excel-workbooks-in-a-folder-with-power-automate/</a:t>
            </a:r>
            <a:endParaRPr lang="en-US" sz="6000" dirty="0">
              <a:solidFill>
                <a:srgbClr val="CF3338"/>
              </a:solidFill>
              <a:latin typeface="Pragmatica" panose="020B0403040502020204" pitchFamily="34" charset="0"/>
            </a:endParaRPr>
          </a:p>
        </p:txBody>
      </p:sp>
    </p:spTree>
    <p:extLst>
      <p:ext uri="{BB962C8B-B14F-4D97-AF65-F5344CB8AC3E}">
        <p14:creationId xmlns:p14="http://schemas.microsoft.com/office/powerpoint/2010/main" val="14066645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CE2D92-E493-1DD9-72E6-ACC94BA7AFC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06F4AE9-80A1-26DB-FCA0-2CF02A251A93}"/>
              </a:ext>
            </a:extLst>
          </p:cNvPr>
          <p:cNvSpPr/>
          <p:nvPr/>
        </p:nvSpPr>
        <p:spPr>
          <a:xfrm>
            <a:off x="12954000" y="0"/>
            <a:ext cx="5334000" cy="10287000"/>
          </a:xfrm>
          <a:prstGeom prst="rect">
            <a:avLst/>
          </a:prstGeom>
          <a:solidFill>
            <a:srgbClr val="CF3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pic>
        <p:nvPicPr>
          <p:cNvPr id="2" name="Picture 1">
            <a:extLst>
              <a:ext uri="{FF2B5EF4-FFF2-40B4-BE49-F238E27FC236}">
                <a16:creationId xmlns:a16="http://schemas.microsoft.com/office/drawing/2014/main" id="{DD359C3C-F6DC-89F1-C2E6-400CCA8A1637}"/>
              </a:ext>
            </a:extLst>
          </p:cNvPr>
          <p:cNvPicPr>
            <a:picLocks noChangeAspect="1"/>
          </p:cNvPicPr>
          <p:nvPr/>
        </p:nvPicPr>
        <p:blipFill rotWithShape="1">
          <a:blip r:embed="rId3">
            <a:extLst>
              <a:ext uri="{28A0092B-C50C-407E-A947-70E740481C1C}">
                <a14:useLocalDpi xmlns:a14="http://schemas.microsoft.com/office/drawing/2010/main" val="0"/>
              </a:ext>
            </a:extLst>
          </a:blip>
          <a:srcRect l="69227" t="33418" r="20112" b="50548"/>
          <a:stretch/>
        </p:blipFill>
        <p:spPr>
          <a:xfrm>
            <a:off x="15579524" y="7544693"/>
            <a:ext cx="2708477" cy="2987579"/>
          </a:xfrm>
          <a:prstGeom prst="rect">
            <a:avLst/>
          </a:prstGeom>
        </p:spPr>
      </p:pic>
      <p:sp>
        <p:nvSpPr>
          <p:cNvPr id="3" name="TextBox 2">
            <a:extLst>
              <a:ext uri="{FF2B5EF4-FFF2-40B4-BE49-F238E27FC236}">
                <a16:creationId xmlns:a16="http://schemas.microsoft.com/office/drawing/2014/main" id="{D5B0DBF2-77D4-A760-CF57-E60E6CB7A501}"/>
              </a:ext>
            </a:extLst>
          </p:cNvPr>
          <p:cNvSpPr txBox="1"/>
          <p:nvPr/>
        </p:nvSpPr>
        <p:spPr>
          <a:xfrm>
            <a:off x="260430" y="329879"/>
            <a:ext cx="12464969" cy="5505482"/>
          </a:xfrm>
          <a:prstGeom prst="rect">
            <a:avLst/>
          </a:prstGeom>
          <a:noFill/>
        </p:spPr>
        <p:txBody>
          <a:bodyPr wrap="square" rtlCol="0">
            <a:spAutoFit/>
          </a:bodyPr>
          <a:lstStyle/>
          <a:p>
            <a:r>
              <a:rPr lang="en-US" sz="6000" b="1" dirty="0">
                <a:solidFill>
                  <a:srgbClr val="CF3338"/>
                </a:solidFill>
                <a:latin typeface="Pragmatica" panose="020B0403040502020204" pitchFamily="34" charset="0"/>
              </a:rPr>
              <a:t>Exercises</a:t>
            </a:r>
          </a:p>
          <a:p>
            <a:pPr marL="714375" indent="-571500">
              <a:lnSpc>
                <a:spcPct val="115000"/>
              </a:lnSpc>
              <a:spcBef>
                <a:spcPts val="1125"/>
              </a:spcBef>
              <a:buClr>
                <a:srgbClr val="C00000"/>
              </a:buClr>
              <a:buSzPts val="2100"/>
              <a:buFont typeface="Arial" panose="020B0604020202020204" pitchFamily="34" charset="0"/>
              <a:buChar char="•"/>
            </a:pPr>
            <a:r>
              <a:rPr lang="en-US" sz="3600" dirty="0">
                <a:solidFill>
                  <a:srgbClr val="C00000"/>
                </a:solidFill>
                <a:latin typeface="Pragmatica" panose="020B0403040502020204"/>
                <a:sym typeface="Consolas"/>
              </a:rPr>
              <a:t>Folder: </a:t>
            </a:r>
            <a:r>
              <a:rPr lang="en-US" sz="3600" dirty="0">
                <a:solidFill>
                  <a:srgbClr val="C00000"/>
                </a:solidFill>
                <a:latin typeface="Consolas" panose="020B0609020204030204" pitchFamily="49" charset="0"/>
                <a:sym typeface="Consolas"/>
              </a:rPr>
              <a:t>pa-challenge</a:t>
            </a:r>
          </a:p>
          <a:p>
            <a:pPr marL="714375" indent="-571500">
              <a:lnSpc>
                <a:spcPct val="115000"/>
              </a:lnSpc>
              <a:spcBef>
                <a:spcPts val="1125"/>
              </a:spcBef>
              <a:buClr>
                <a:srgbClr val="C00000"/>
              </a:buClr>
              <a:buSzPts val="2100"/>
              <a:buFont typeface="Arial" panose="020B0604020202020204" pitchFamily="34" charset="0"/>
              <a:buChar char="•"/>
            </a:pPr>
            <a:r>
              <a:rPr lang="en-US" sz="3600" dirty="0">
                <a:solidFill>
                  <a:srgbClr val="C00000"/>
                </a:solidFill>
                <a:latin typeface="Pragmatica" panose="020B0403040502020204"/>
                <a:sym typeface="Consolas"/>
              </a:rPr>
              <a:t>Task: Create a log in </a:t>
            </a:r>
            <a:r>
              <a:rPr lang="en-US" sz="3600" dirty="0">
                <a:solidFill>
                  <a:srgbClr val="C00000"/>
                </a:solidFill>
                <a:latin typeface="Consolas" panose="020B0609020204030204" pitchFamily="49" charset="0"/>
                <a:sym typeface="Consolas"/>
              </a:rPr>
              <a:t>file-log.xlsx</a:t>
            </a:r>
            <a:r>
              <a:rPr lang="en-US" sz="3600" dirty="0">
                <a:solidFill>
                  <a:srgbClr val="C00000"/>
                </a:solidFill>
                <a:latin typeface="Pragmatica" panose="020B0403040502020204"/>
                <a:sym typeface="Consolas"/>
              </a:rPr>
              <a:t> every time a workbook is uploaded to incoming-files folder</a:t>
            </a:r>
          </a:p>
          <a:p>
            <a:pPr marL="1171575" lvl="1" indent="-571500">
              <a:lnSpc>
                <a:spcPct val="115000"/>
              </a:lnSpc>
              <a:spcBef>
                <a:spcPts val="1125"/>
              </a:spcBef>
              <a:buClr>
                <a:srgbClr val="C00000"/>
              </a:buClr>
              <a:buSzPts val="2100"/>
              <a:buFont typeface="Arial" panose="020B0604020202020204" pitchFamily="34" charset="0"/>
              <a:buChar char="•"/>
            </a:pPr>
            <a:r>
              <a:rPr lang="en-US" sz="3600" dirty="0">
                <a:solidFill>
                  <a:srgbClr val="C00000"/>
                </a:solidFill>
                <a:latin typeface="Pragmatica" panose="020B0403040502020204"/>
                <a:sym typeface="Consolas"/>
              </a:rPr>
              <a:t>Trigger: When a file is created (properties only)</a:t>
            </a:r>
          </a:p>
          <a:p>
            <a:pPr marL="1171575" lvl="1" indent="-571500">
              <a:lnSpc>
                <a:spcPct val="115000"/>
              </a:lnSpc>
              <a:spcBef>
                <a:spcPts val="1125"/>
              </a:spcBef>
              <a:buClr>
                <a:srgbClr val="C00000"/>
              </a:buClr>
              <a:buSzPts val="2100"/>
              <a:buFont typeface="Arial" panose="020B0604020202020204" pitchFamily="34" charset="0"/>
              <a:buChar char="•"/>
            </a:pPr>
            <a:r>
              <a:rPr lang="en-US" sz="3600" dirty="0">
                <a:solidFill>
                  <a:srgbClr val="C00000"/>
                </a:solidFill>
                <a:latin typeface="Pragmatica" panose="020B0403040502020204"/>
                <a:sym typeface="Consolas"/>
              </a:rPr>
              <a:t>Use conditional logic for file type</a:t>
            </a:r>
          </a:p>
          <a:p>
            <a:pPr marL="1171575" lvl="1" indent="-571500">
              <a:lnSpc>
                <a:spcPct val="115000"/>
              </a:lnSpc>
              <a:spcBef>
                <a:spcPts val="1125"/>
              </a:spcBef>
              <a:buClr>
                <a:srgbClr val="C00000"/>
              </a:buClr>
              <a:buSzPts val="2100"/>
              <a:buFont typeface="Arial" panose="020B0604020202020204" pitchFamily="34" charset="0"/>
              <a:buChar char="•"/>
            </a:pPr>
            <a:r>
              <a:rPr lang="en-US" sz="3600" dirty="0">
                <a:solidFill>
                  <a:srgbClr val="C00000"/>
                </a:solidFill>
                <a:latin typeface="Pragmatica" panose="020B0403040502020204"/>
                <a:sym typeface="Consolas"/>
              </a:rPr>
              <a:t>Consider using Power </a:t>
            </a:r>
            <a:r>
              <a:rPr lang="en-US" sz="3600" dirty="0" err="1">
                <a:solidFill>
                  <a:srgbClr val="C00000"/>
                </a:solidFill>
                <a:latin typeface="Pragmatica" panose="020B0403040502020204"/>
                <a:sym typeface="Consolas"/>
              </a:rPr>
              <a:t>Fx</a:t>
            </a:r>
            <a:r>
              <a:rPr lang="en-US" sz="3600" dirty="0">
                <a:solidFill>
                  <a:srgbClr val="C00000"/>
                </a:solidFill>
                <a:latin typeface="Pragmatica" panose="020B0403040502020204"/>
                <a:sym typeface="Consolas"/>
              </a:rPr>
              <a:t> to format upload date</a:t>
            </a:r>
            <a:endParaRPr lang="en-US" sz="3600" dirty="0">
              <a:solidFill>
                <a:srgbClr val="C00000"/>
              </a:solidFill>
              <a:latin typeface="Consolas" panose="020B0609020204030204" pitchFamily="49" charset="0"/>
              <a:sym typeface="Consolas"/>
            </a:endParaRPr>
          </a:p>
        </p:txBody>
      </p:sp>
    </p:spTree>
    <p:extLst>
      <p:ext uri="{BB962C8B-B14F-4D97-AF65-F5344CB8AC3E}">
        <p14:creationId xmlns:p14="http://schemas.microsoft.com/office/powerpoint/2010/main" val="34692892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8288000" cy="10287000"/>
          </a:xfrm>
          <a:prstGeom prst="rect">
            <a:avLst/>
          </a:prstGeom>
          <a:solidFill>
            <a:srgbClr val="CF3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5" name="TextBox 4"/>
          <p:cNvSpPr txBox="1"/>
          <p:nvPr/>
        </p:nvSpPr>
        <p:spPr>
          <a:xfrm>
            <a:off x="781292" y="590309"/>
            <a:ext cx="15486926" cy="3139321"/>
          </a:xfrm>
          <a:prstGeom prst="rect">
            <a:avLst/>
          </a:prstGeom>
          <a:noFill/>
        </p:spPr>
        <p:txBody>
          <a:bodyPr wrap="square" rtlCol="0">
            <a:spAutoFit/>
          </a:bodyPr>
          <a:lstStyle/>
          <a:p>
            <a:r>
              <a:rPr lang="en-US" sz="9900" b="1" dirty="0">
                <a:solidFill>
                  <a:schemeClr val="bg1"/>
                </a:solidFill>
                <a:latin typeface="Normafixed Tryout" panose="00000409000000000000" pitchFamily="49" charset="0"/>
              </a:rPr>
              <a:t>Advanced Flow Configuration</a:t>
            </a:r>
          </a:p>
        </p:txBody>
      </p:sp>
    </p:spTree>
    <p:extLst>
      <p:ext uri="{BB962C8B-B14F-4D97-AF65-F5344CB8AC3E}">
        <p14:creationId xmlns:p14="http://schemas.microsoft.com/office/powerpoint/2010/main" val="24915884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200E3-03FF-C33B-37A3-157DBBE5A7C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6F9AABC-14AB-F52B-9781-1CFAB616CFD1}"/>
              </a:ext>
            </a:extLst>
          </p:cNvPr>
          <p:cNvSpPr/>
          <p:nvPr/>
        </p:nvSpPr>
        <p:spPr>
          <a:xfrm>
            <a:off x="9861630" y="0"/>
            <a:ext cx="8426370" cy="10287000"/>
          </a:xfrm>
          <a:prstGeom prst="rect">
            <a:avLst/>
          </a:prstGeom>
          <a:solidFill>
            <a:srgbClr val="CF3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pic>
        <p:nvPicPr>
          <p:cNvPr id="2" name="Picture 1">
            <a:extLst>
              <a:ext uri="{FF2B5EF4-FFF2-40B4-BE49-F238E27FC236}">
                <a16:creationId xmlns:a16="http://schemas.microsoft.com/office/drawing/2014/main" id="{2C962416-2C62-6592-096F-3F56A39891C3}"/>
              </a:ext>
            </a:extLst>
          </p:cNvPr>
          <p:cNvPicPr>
            <a:picLocks noChangeAspect="1"/>
          </p:cNvPicPr>
          <p:nvPr/>
        </p:nvPicPr>
        <p:blipFill rotWithShape="1">
          <a:blip r:embed="rId3">
            <a:extLst>
              <a:ext uri="{28A0092B-C50C-407E-A947-70E740481C1C}">
                <a14:useLocalDpi xmlns:a14="http://schemas.microsoft.com/office/drawing/2010/main" val="0"/>
              </a:ext>
            </a:extLst>
          </a:blip>
          <a:srcRect l="69227" t="33418" r="20112" b="50548"/>
          <a:stretch/>
        </p:blipFill>
        <p:spPr>
          <a:xfrm>
            <a:off x="15579524" y="7544693"/>
            <a:ext cx="2708477" cy="2987579"/>
          </a:xfrm>
          <a:prstGeom prst="rect">
            <a:avLst/>
          </a:prstGeom>
        </p:spPr>
      </p:pic>
      <p:sp>
        <p:nvSpPr>
          <p:cNvPr id="3" name="TextBox 2">
            <a:extLst>
              <a:ext uri="{FF2B5EF4-FFF2-40B4-BE49-F238E27FC236}">
                <a16:creationId xmlns:a16="http://schemas.microsoft.com/office/drawing/2014/main" id="{13856ACB-80E4-14D1-6F51-6DD5B1BFA4EB}"/>
              </a:ext>
            </a:extLst>
          </p:cNvPr>
          <p:cNvSpPr txBox="1"/>
          <p:nvPr/>
        </p:nvSpPr>
        <p:spPr>
          <a:xfrm>
            <a:off x="260431" y="329879"/>
            <a:ext cx="8906720" cy="7430817"/>
          </a:xfrm>
          <a:prstGeom prst="rect">
            <a:avLst/>
          </a:prstGeom>
          <a:noFill/>
        </p:spPr>
        <p:txBody>
          <a:bodyPr wrap="square" rtlCol="0">
            <a:spAutoFit/>
          </a:bodyPr>
          <a:lstStyle/>
          <a:p>
            <a:r>
              <a:rPr lang="en-US" sz="6000" b="1" dirty="0">
                <a:solidFill>
                  <a:srgbClr val="CF3338"/>
                </a:solidFill>
                <a:latin typeface="Pragmatica" panose="020B0403040502020204" pitchFamily="34" charset="0"/>
              </a:rPr>
              <a:t>Creating an expense approval process</a:t>
            </a:r>
          </a:p>
          <a:p>
            <a:endParaRPr lang="en-US" sz="4200" dirty="0">
              <a:solidFill>
                <a:srgbClr val="CF3338"/>
              </a:solidFill>
              <a:latin typeface="Pragmatica" panose="020B0403040502020204" pitchFamily="34" charset="0"/>
            </a:endParaRPr>
          </a:p>
          <a:p>
            <a:pPr marL="714375" indent="-571500">
              <a:lnSpc>
                <a:spcPct val="115000"/>
              </a:lnSpc>
              <a:spcBef>
                <a:spcPts val="1125"/>
              </a:spcBef>
              <a:buClr>
                <a:srgbClr val="C00000"/>
              </a:buClr>
              <a:buSzPts val="2100"/>
              <a:buFont typeface="Arial" panose="020B0604020202020204" pitchFamily="34" charset="0"/>
              <a:buChar char="•"/>
            </a:pPr>
            <a:r>
              <a:rPr lang="en-US" sz="3600" dirty="0">
                <a:solidFill>
                  <a:srgbClr val="C00000"/>
                </a:solidFill>
                <a:latin typeface="Pragmatica" panose="020B0403040502020204"/>
                <a:sym typeface="Consolas"/>
              </a:rPr>
              <a:t>Create and track expense approval process using Forms, Excel and Power Automate</a:t>
            </a:r>
          </a:p>
          <a:p>
            <a:pPr marL="714375" indent="-571500">
              <a:lnSpc>
                <a:spcPct val="115000"/>
              </a:lnSpc>
              <a:spcBef>
                <a:spcPts val="1125"/>
              </a:spcBef>
              <a:buClr>
                <a:srgbClr val="C00000"/>
              </a:buClr>
              <a:buSzPts val="2100"/>
              <a:buFont typeface="Arial" panose="020B0604020202020204" pitchFamily="34" charset="0"/>
              <a:buChar char="•"/>
            </a:pPr>
            <a:r>
              <a:rPr lang="en-US" sz="3600" dirty="0">
                <a:solidFill>
                  <a:srgbClr val="C00000"/>
                </a:solidFill>
                <a:latin typeface="Pragmatica" panose="020B0403040502020204"/>
                <a:sym typeface="Consolas"/>
              </a:rPr>
              <a:t>File: </a:t>
            </a:r>
            <a:r>
              <a:rPr lang="en-US" sz="3600" dirty="0">
                <a:solidFill>
                  <a:srgbClr val="C00000"/>
                </a:solidFill>
                <a:latin typeface="Consolas" panose="020B0609020204030204" pitchFamily="49" charset="0"/>
                <a:sym typeface="Consolas"/>
              </a:rPr>
              <a:t>expense-approval.xlsx</a:t>
            </a:r>
          </a:p>
          <a:p>
            <a:pPr marL="714375" indent="-571500">
              <a:lnSpc>
                <a:spcPct val="115000"/>
              </a:lnSpc>
              <a:spcBef>
                <a:spcPts val="1125"/>
              </a:spcBef>
              <a:buClr>
                <a:srgbClr val="C00000"/>
              </a:buClr>
              <a:buSzPts val="2100"/>
              <a:buFont typeface="Arial" panose="020B0604020202020204" pitchFamily="34" charset="0"/>
              <a:buChar char="•"/>
            </a:pPr>
            <a:r>
              <a:rPr lang="en-US" sz="3600" dirty="0">
                <a:solidFill>
                  <a:srgbClr val="CF3338"/>
                </a:solidFill>
                <a:latin typeface="Pragmatica" panose="020B0403040502020204"/>
                <a:sym typeface="Consolas"/>
              </a:rPr>
              <a:t>Resource: https://stringfestanalytics.com/power-automate-for-excel-how-to-create-an-approval-process-with-microsoft-forms/</a:t>
            </a:r>
          </a:p>
        </p:txBody>
      </p:sp>
    </p:spTree>
    <p:extLst>
      <p:ext uri="{BB962C8B-B14F-4D97-AF65-F5344CB8AC3E}">
        <p14:creationId xmlns:p14="http://schemas.microsoft.com/office/powerpoint/2010/main" val="23786107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0421F-C5E1-ADD5-ECE4-6375F4060D9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3DC417D-3C2B-9646-8064-7207B5E8C158}"/>
              </a:ext>
            </a:extLst>
          </p:cNvPr>
          <p:cNvSpPr/>
          <p:nvPr/>
        </p:nvSpPr>
        <p:spPr>
          <a:xfrm>
            <a:off x="9861630" y="0"/>
            <a:ext cx="8426370" cy="10287000"/>
          </a:xfrm>
          <a:prstGeom prst="rect">
            <a:avLst/>
          </a:prstGeom>
          <a:solidFill>
            <a:srgbClr val="CF3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pic>
        <p:nvPicPr>
          <p:cNvPr id="2" name="Picture 1">
            <a:extLst>
              <a:ext uri="{FF2B5EF4-FFF2-40B4-BE49-F238E27FC236}">
                <a16:creationId xmlns:a16="http://schemas.microsoft.com/office/drawing/2014/main" id="{15E6A925-96D6-30E2-A5B5-35BD6D37A76D}"/>
              </a:ext>
            </a:extLst>
          </p:cNvPr>
          <p:cNvPicPr>
            <a:picLocks noChangeAspect="1"/>
          </p:cNvPicPr>
          <p:nvPr/>
        </p:nvPicPr>
        <p:blipFill rotWithShape="1">
          <a:blip r:embed="rId3">
            <a:extLst>
              <a:ext uri="{28A0092B-C50C-407E-A947-70E740481C1C}">
                <a14:useLocalDpi xmlns:a14="http://schemas.microsoft.com/office/drawing/2010/main" val="0"/>
              </a:ext>
            </a:extLst>
          </a:blip>
          <a:srcRect l="69227" t="33418" r="20112" b="50548"/>
          <a:stretch/>
        </p:blipFill>
        <p:spPr>
          <a:xfrm>
            <a:off x="15579524" y="7544693"/>
            <a:ext cx="2708477" cy="2987579"/>
          </a:xfrm>
          <a:prstGeom prst="rect">
            <a:avLst/>
          </a:prstGeom>
        </p:spPr>
      </p:pic>
      <p:sp>
        <p:nvSpPr>
          <p:cNvPr id="3" name="TextBox 2">
            <a:extLst>
              <a:ext uri="{FF2B5EF4-FFF2-40B4-BE49-F238E27FC236}">
                <a16:creationId xmlns:a16="http://schemas.microsoft.com/office/drawing/2014/main" id="{FC39674B-DCCF-96D6-E9FB-01B7CBAB50AF}"/>
              </a:ext>
            </a:extLst>
          </p:cNvPr>
          <p:cNvSpPr txBox="1"/>
          <p:nvPr/>
        </p:nvSpPr>
        <p:spPr>
          <a:xfrm>
            <a:off x="260431" y="329879"/>
            <a:ext cx="8906720" cy="8846076"/>
          </a:xfrm>
          <a:prstGeom prst="rect">
            <a:avLst/>
          </a:prstGeom>
          <a:noFill/>
        </p:spPr>
        <p:txBody>
          <a:bodyPr wrap="square" rtlCol="0">
            <a:spAutoFit/>
          </a:bodyPr>
          <a:lstStyle/>
          <a:p>
            <a:r>
              <a:rPr lang="en-US" sz="6000" b="1" dirty="0">
                <a:solidFill>
                  <a:srgbClr val="CF3338"/>
                </a:solidFill>
                <a:latin typeface="Pragmatica" panose="020B0403040502020204" pitchFamily="34" charset="0"/>
              </a:rPr>
              <a:t>Retrieving data from external sources</a:t>
            </a:r>
          </a:p>
          <a:p>
            <a:endParaRPr lang="en-US" sz="4200" dirty="0">
              <a:solidFill>
                <a:srgbClr val="CF3338"/>
              </a:solidFill>
              <a:latin typeface="Pragmatica" panose="020B0403040502020204" pitchFamily="34" charset="0"/>
            </a:endParaRPr>
          </a:p>
          <a:p>
            <a:pPr marL="714375" indent="-571500">
              <a:lnSpc>
                <a:spcPct val="115000"/>
              </a:lnSpc>
              <a:spcBef>
                <a:spcPts val="1125"/>
              </a:spcBef>
              <a:buClr>
                <a:srgbClr val="C00000"/>
              </a:buClr>
              <a:buSzPts val="2100"/>
              <a:buFont typeface="Arial" panose="020B0604020202020204" pitchFamily="34" charset="0"/>
              <a:buChar char="•"/>
            </a:pPr>
            <a:r>
              <a:rPr lang="en-US" sz="3600" dirty="0">
                <a:solidFill>
                  <a:srgbClr val="C00000"/>
                </a:solidFill>
                <a:latin typeface="Pragmatica" panose="020B0403040502020204"/>
                <a:sym typeface="Consolas"/>
              </a:rPr>
              <a:t>How can we check and collect data from outside sources, e.g. RSS feeds?</a:t>
            </a:r>
          </a:p>
          <a:p>
            <a:pPr marL="714375" indent="-571500">
              <a:lnSpc>
                <a:spcPct val="115000"/>
              </a:lnSpc>
              <a:spcBef>
                <a:spcPts val="1125"/>
              </a:spcBef>
              <a:buClr>
                <a:srgbClr val="C00000"/>
              </a:buClr>
              <a:buSzPts val="2100"/>
              <a:buFont typeface="Arial" panose="020B0604020202020204" pitchFamily="34" charset="0"/>
              <a:buChar char="•"/>
            </a:pPr>
            <a:r>
              <a:rPr lang="en-US" sz="3600" dirty="0">
                <a:solidFill>
                  <a:srgbClr val="C00000"/>
                </a:solidFill>
                <a:latin typeface="Pragmatica" panose="020B0403040502020204"/>
                <a:sym typeface="Consolas"/>
              </a:rPr>
              <a:t>Power Automate vs Power Query for data collection</a:t>
            </a:r>
          </a:p>
          <a:p>
            <a:pPr marL="714375" indent="-571500">
              <a:lnSpc>
                <a:spcPct val="115000"/>
              </a:lnSpc>
              <a:spcBef>
                <a:spcPts val="1125"/>
              </a:spcBef>
              <a:buClr>
                <a:srgbClr val="C00000"/>
              </a:buClr>
              <a:buSzPts val="2100"/>
              <a:buFont typeface="Arial" panose="020B0604020202020204" pitchFamily="34" charset="0"/>
              <a:buChar char="•"/>
            </a:pPr>
            <a:r>
              <a:rPr lang="en-US" sz="3600" dirty="0">
                <a:solidFill>
                  <a:srgbClr val="C00000"/>
                </a:solidFill>
                <a:latin typeface="Pragmatica" panose="020B0403040502020204"/>
                <a:sym typeface="Consolas"/>
              </a:rPr>
              <a:t>Fils: </a:t>
            </a:r>
            <a:r>
              <a:rPr lang="en-US" sz="3600" dirty="0">
                <a:solidFill>
                  <a:srgbClr val="C00000"/>
                </a:solidFill>
                <a:latin typeface="Consolas" panose="020B0609020204030204" pitchFamily="49" charset="0"/>
                <a:sym typeface="Consolas"/>
              </a:rPr>
              <a:t>get-rss.xlsx</a:t>
            </a:r>
            <a:r>
              <a:rPr lang="en-US" sz="3600" dirty="0">
                <a:solidFill>
                  <a:srgbClr val="C00000"/>
                </a:solidFill>
                <a:latin typeface="Pragmatica" panose="020B0403040502020204"/>
                <a:sym typeface="Consolas"/>
              </a:rPr>
              <a:t>, </a:t>
            </a:r>
            <a:r>
              <a:rPr lang="en-US" sz="3600" dirty="0">
                <a:solidFill>
                  <a:srgbClr val="C00000"/>
                </a:solidFill>
                <a:latin typeface="Consolas" panose="020B0609020204030204" pitchFamily="49" charset="0"/>
                <a:sym typeface="Consolas"/>
              </a:rPr>
              <a:t>bbc-rss.txt</a:t>
            </a:r>
          </a:p>
          <a:p>
            <a:pPr marL="714375" indent="-571500">
              <a:lnSpc>
                <a:spcPct val="115000"/>
              </a:lnSpc>
              <a:spcBef>
                <a:spcPts val="1125"/>
              </a:spcBef>
              <a:buClr>
                <a:srgbClr val="C00000"/>
              </a:buClr>
              <a:buSzPts val="2100"/>
              <a:buFont typeface="Arial" panose="020B0604020202020204" pitchFamily="34" charset="0"/>
              <a:buChar char="•"/>
            </a:pPr>
            <a:r>
              <a:rPr lang="en-US" sz="3600" dirty="0">
                <a:solidFill>
                  <a:srgbClr val="CF3338"/>
                </a:solidFill>
                <a:latin typeface="Pragmatica" panose="020B0403040502020204"/>
                <a:sym typeface="Consolas"/>
              </a:rPr>
              <a:t>Resource: https://stringfestanalytics.com/power-automate-for-excel-how-to-work-with-rss-feeds/</a:t>
            </a:r>
          </a:p>
        </p:txBody>
      </p:sp>
    </p:spTree>
    <p:extLst>
      <p:ext uri="{BB962C8B-B14F-4D97-AF65-F5344CB8AC3E}">
        <p14:creationId xmlns:p14="http://schemas.microsoft.com/office/powerpoint/2010/main" val="12422596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399860-2957-C1D7-6CB0-C24ADF9AA52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3173427-48A7-8207-E396-20C6F2E927BC}"/>
              </a:ext>
            </a:extLst>
          </p:cNvPr>
          <p:cNvSpPr/>
          <p:nvPr/>
        </p:nvSpPr>
        <p:spPr>
          <a:xfrm>
            <a:off x="13944600" y="0"/>
            <a:ext cx="4343400" cy="10287000"/>
          </a:xfrm>
          <a:prstGeom prst="rect">
            <a:avLst/>
          </a:prstGeom>
          <a:solidFill>
            <a:srgbClr val="CF3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pic>
        <p:nvPicPr>
          <p:cNvPr id="2" name="Picture 1">
            <a:extLst>
              <a:ext uri="{FF2B5EF4-FFF2-40B4-BE49-F238E27FC236}">
                <a16:creationId xmlns:a16="http://schemas.microsoft.com/office/drawing/2014/main" id="{7C72F9CE-C03B-D3BB-0DEA-A384AB64D3CE}"/>
              </a:ext>
            </a:extLst>
          </p:cNvPr>
          <p:cNvPicPr>
            <a:picLocks noChangeAspect="1"/>
          </p:cNvPicPr>
          <p:nvPr/>
        </p:nvPicPr>
        <p:blipFill rotWithShape="1">
          <a:blip r:embed="rId3">
            <a:extLst>
              <a:ext uri="{28A0092B-C50C-407E-A947-70E740481C1C}">
                <a14:useLocalDpi xmlns:a14="http://schemas.microsoft.com/office/drawing/2010/main" val="0"/>
              </a:ext>
            </a:extLst>
          </a:blip>
          <a:srcRect l="69227" t="33418" r="20112" b="50548"/>
          <a:stretch/>
        </p:blipFill>
        <p:spPr>
          <a:xfrm>
            <a:off x="15579524" y="7544693"/>
            <a:ext cx="2708477" cy="2987579"/>
          </a:xfrm>
          <a:prstGeom prst="rect">
            <a:avLst/>
          </a:prstGeom>
        </p:spPr>
      </p:pic>
      <p:sp>
        <p:nvSpPr>
          <p:cNvPr id="3" name="TextBox 2">
            <a:extLst>
              <a:ext uri="{FF2B5EF4-FFF2-40B4-BE49-F238E27FC236}">
                <a16:creationId xmlns:a16="http://schemas.microsoft.com/office/drawing/2014/main" id="{F66284FF-EB9F-6FD6-AE52-491CE524A986}"/>
              </a:ext>
            </a:extLst>
          </p:cNvPr>
          <p:cNvSpPr txBox="1"/>
          <p:nvPr/>
        </p:nvSpPr>
        <p:spPr>
          <a:xfrm>
            <a:off x="260430" y="329879"/>
            <a:ext cx="12998369" cy="8700908"/>
          </a:xfrm>
          <a:prstGeom prst="rect">
            <a:avLst/>
          </a:prstGeom>
          <a:noFill/>
        </p:spPr>
        <p:txBody>
          <a:bodyPr wrap="square" rtlCol="0">
            <a:spAutoFit/>
          </a:bodyPr>
          <a:lstStyle/>
          <a:p>
            <a:r>
              <a:rPr lang="en-US" sz="6000" b="1" dirty="0">
                <a:solidFill>
                  <a:srgbClr val="CF3338"/>
                </a:solidFill>
                <a:latin typeface="Pragmatica" panose="020B0403040502020204" pitchFamily="34" charset="0"/>
              </a:rPr>
              <a:t>Exercises</a:t>
            </a:r>
          </a:p>
          <a:p>
            <a:endParaRPr lang="en-US" sz="4200" dirty="0">
              <a:solidFill>
                <a:srgbClr val="CF3338"/>
              </a:solidFill>
              <a:latin typeface="Pragmatica" panose="020B0403040502020204" pitchFamily="34" charset="0"/>
            </a:endParaRPr>
          </a:p>
          <a:p>
            <a:pPr marL="714375" indent="-571500">
              <a:lnSpc>
                <a:spcPct val="115000"/>
              </a:lnSpc>
              <a:spcBef>
                <a:spcPts val="1125"/>
              </a:spcBef>
              <a:buClr>
                <a:srgbClr val="C00000"/>
              </a:buClr>
              <a:buSzPts val="2100"/>
              <a:buFont typeface="Arial" panose="020B0604020202020204" pitchFamily="34" charset="0"/>
              <a:buChar char="•"/>
            </a:pPr>
            <a:r>
              <a:rPr lang="en-US" sz="3600" dirty="0">
                <a:solidFill>
                  <a:srgbClr val="C00000"/>
                </a:solidFill>
                <a:latin typeface="Pragmatica" panose="020B0403040502020204"/>
                <a:sym typeface="Consolas"/>
              </a:rPr>
              <a:t>Create a customer feedback review process</a:t>
            </a:r>
          </a:p>
          <a:p>
            <a:pPr marL="714375" indent="-571500">
              <a:lnSpc>
                <a:spcPct val="115000"/>
              </a:lnSpc>
              <a:spcBef>
                <a:spcPts val="1125"/>
              </a:spcBef>
              <a:buClr>
                <a:srgbClr val="C00000"/>
              </a:buClr>
              <a:buSzPts val="2100"/>
              <a:buFont typeface="Arial" panose="020B0604020202020204" pitchFamily="34" charset="0"/>
              <a:buChar char="•"/>
            </a:pPr>
            <a:r>
              <a:rPr lang="en-US" sz="3600" dirty="0">
                <a:solidFill>
                  <a:srgbClr val="C00000"/>
                </a:solidFill>
                <a:latin typeface="Pragmatica" panose="020B0403040502020204"/>
                <a:sym typeface="Consolas"/>
              </a:rPr>
              <a:t>Start with: “When a new response is submitted &gt; Get response details”</a:t>
            </a:r>
          </a:p>
          <a:p>
            <a:pPr marL="714375" indent="-571500">
              <a:lnSpc>
                <a:spcPct val="115000"/>
              </a:lnSpc>
              <a:spcBef>
                <a:spcPts val="1125"/>
              </a:spcBef>
              <a:buClr>
                <a:srgbClr val="C00000"/>
              </a:buClr>
              <a:buSzPts val="2100"/>
              <a:buFont typeface="Arial" panose="020B0604020202020204" pitchFamily="34" charset="0"/>
              <a:buChar char="•"/>
            </a:pPr>
            <a:r>
              <a:rPr lang="en-US" sz="3600" dirty="0">
                <a:solidFill>
                  <a:srgbClr val="C00000"/>
                </a:solidFill>
                <a:latin typeface="Pragmatica" panose="020B0403040502020204"/>
                <a:sym typeface="Consolas"/>
              </a:rPr>
              <a:t>Add a conditional operation: if the "Overall Experience" score is 4 stars and up, email the recipient thanking them for their business. If it's less, email the recipient apologizing and also send an email notification to a manager.</a:t>
            </a:r>
          </a:p>
          <a:p>
            <a:pPr marL="1171575" lvl="1" indent="-571500">
              <a:lnSpc>
                <a:spcPct val="115000"/>
              </a:lnSpc>
              <a:spcBef>
                <a:spcPts val="1125"/>
              </a:spcBef>
              <a:buClr>
                <a:srgbClr val="C00000"/>
              </a:buClr>
              <a:buSzPts val="2100"/>
              <a:buFont typeface="Arial" panose="020B0604020202020204" pitchFamily="34" charset="0"/>
              <a:buChar char="•"/>
            </a:pPr>
            <a:r>
              <a:rPr lang="en-US" sz="3600" dirty="0">
                <a:solidFill>
                  <a:srgbClr val="C00000"/>
                </a:solidFill>
                <a:latin typeface="Pragmatica" panose="020B0403040502020204"/>
                <a:sym typeface="Consolas"/>
              </a:rPr>
              <a:t>Use Power Automate to convert feedback score to text with INT() function</a:t>
            </a:r>
          </a:p>
          <a:p>
            <a:pPr marL="714375" indent="-571500">
              <a:lnSpc>
                <a:spcPct val="115000"/>
              </a:lnSpc>
              <a:spcBef>
                <a:spcPts val="1125"/>
              </a:spcBef>
              <a:buClr>
                <a:srgbClr val="C00000"/>
              </a:buClr>
              <a:buSzPts val="2100"/>
              <a:buFont typeface="Arial" panose="020B0604020202020204" pitchFamily="34" charset="0"/>
              <a:buChar char="•"/>
            </a:pPr>
            <a:r>
              <a:rPr lang="en-US" sz="3600" dirty="0">
                <a:solidFill>
                  <a:srgbClr val="C00000"/>
                </a:solidFill>
                <a:latin typeface="Pragmatica" panose="020B0403040502020204"/>
                <a:sym typeface="Consolas"/>
              </a:rPr>
              <a:t>Feel free to use Copilot for help!</a:t>
            </a:r>
            <a:endParaRPr lang="en-US" sz="3600" dirty="0">
              <a:solidFill>
                <a:srgbClr val="CF3338"/>
              </a:solidFill>
              <a:latin typeface="Pragmatica" panose="020B0403040502020204"/>
              <a:sym typeface="Consolas"/>
            </a:endParaRPr>
          </a:p>
        </p:txBody>
      </p:sp>
    </p:spTree>
    <p:extLst>
      <p:ext uri="{BB962C8B-B14F-4D97-AF65-F5344CB8AC3E}">
        <p14:creationId xmlns:p14="http://schemas.microsoft.com/office/powerpoint/2010/main" val="40868255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rotWithShape="1">
          <a:blip r:embed="rId2">
            <a:extLst>
              <a:ext uri="{28A0092B-C50C-407E-A947-70E740481C1C}">
                <a14:useLocalDpi xmlns:a14="http://schemas.microsoft.com/office/drawing/2010/main" val="0"/>
              </a:ext>
            </a:extLst>
          </a:blip>
          <a:srcRect l="50728" t="56371"/>
          <a:stretch/>
        </p:blipFill>
        <p:spPr>
          <a:xfrm>
            <a:off x="12204691" y="3316148"/>
            <a:ext cx="6083309" cy="6970854"/>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7744" y="-3724155"/>
            <a:ext cx="15257208" cy="11189825"/>
          </a:xfrm>
          <a:prstGeom prst="rect">
            <a:avLst/>
          </a:prstGeom>
        </p:spPr>
      </p:pic>
      <p:sp>
        <p:nvSpPr>
          <p:cNvPr id="11" name="TextBox 10"/>
          <p:cNvSpPr txBox="1"/>
          <p:nvPr/>
        </p:nvSpPr>
        <p:spPr>
          <a:xfrm>
            <a:off x="486137" y="2531318"/>
            <a:ext cx="11979797" cy="923330"/>
          </a:xfrm>
          <a:prstGeom prst="rect">
            <a:avLst/>
          </a:prstGeom>
          <a:noFill/>
        </p:spPr>
        <p:txBody>
          <a:bodyPr wrap="square" rtlCol="0">
            <a:spAutoFit/>
          </a:bodyPr>
          <a:lstStyle/>
          <a:p>
            <a:r>
              <a:rPr lang="en-US" sz="5400" b="1" dirty="0">
                <a:solidFill>
                  <a:srgbClr val="CF3338"/>
                </a:solidFill>
                <a:latin typeface="Pragmatica" panose="020B0403040502020204" pitchFamily="34" charset="0"/>
              </a:rPr>
              <a:t>Questions?</a:t>
            </a:r>
          </a:p>
        </p:txBody>
      </p:sp>
      <p:pic>
        <p:nvPicPr>
          <p:cNvPr id="5" name="Picture 4">
            <a:extLst>
              <a:ext uri="{FF2B5EF4-FFF2-40B4-BE49-F238E27FC236}">
                <a16:creationId xmlns:a16="http://schemas.microsoft.com/office/drawing/2014/main" id="{54A06221-5316-4BCF-9FDA-BDB95FF4A77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2204691" y="3317239"/>
            <a:ext cx="6083309" cy="6968672"/>
          </a:xfrm>
          <a:prstGeom prst="rect">
            <a:avLst/>
          </a:prstGeom>
        </p:spPr>
      </p:pic>
    </p:spTree>
    <p:extLst>
      <p:ext uri="{BB962C8B-B14F-4D97-AF65-F5344CB8AC3E}">
        <p14:creationId xmlns:p14="http://schemas.microsoft.com/office/powerpoint/2010/main" val="28996250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85AF58-B539-6405-F9EB-60E684D8A34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0D374C8-2CA1-DD4E-76DB-9BFBAD860E88}"/>
              </a:ext>
            </a:extLst>
          </p:cNvPr>
          <p:cNvSpPr/>
          <p:nvPr/>
        </p:nvSpPr>
        <p:spPr>
          <a:xfrm>
            <a:off x="0" y="0"/>
            <a:ext cx="18288000" cy="10287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5" name="TextBox 4">
            <a:extLst>
              <a:ext uri="{FF2B5EF4-FFF2-40B4-BE49-F238E27FC236}">
                <a16:creationId xmlns:a16="http://schemas.microsoft.com/office/drawing/2014/main" id="{8C881570-7206-4F33-711D-F5ED9CE73123}"/>
              </a:ext>
            </a:extLst>
          </p:cNvPr>
          <p:cNvSpPr txBox="1"/>
          <p:nvPr/>
        </p:nvSpPr>
        <p:spPr>
          <a:xfrm>
            <a:off x="781292" y="590309"/>
            <a:ext cx="15486926" cy="3139321"/>
          </a:xfrm>
          <a:prstGeom prst="rect">
            <a:avLst/>
          </a:prstGeom>
          <a:noFill/>
        </p:spPr>
        <p:txBody>
          <a:bodyPr wrap="square" rtlCol="0">
            <a:spAutoFit/>
          </a:bodyPr>
          <a:lstStyle/>
          <a:p>
            <a:r>
              <a:rPr lang="en-US" sz="9900" b="1" dirty="0">
                <a:solidFill>
                  <a:schemeClr val="bg1"/>
                </a:solidFill>
                <a:latin typeface="Normafixed Tryout" panose="00000409000000000000" pitchFamily="49" charset="0"/>
              </a:rPr>
              <a:t>Building interactive dashboards with Power BI</a:t>
            </a:r>
          </a:p>
        </p:txBody>
      </p:sp>
    </p:spTree>
    <p:extLst>
      <p:ext uri="{BB962C8B-B14F-4D97-AF65-F5344CB8AC3E}">
        <p14:creationId xmlns:p14="http://schemas.microsoft.com/office/powerpoint/2010/main" val="19378024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861630" y="0"/>
            <a:ext cx="8426370" cy="10287000"/>
          </a:xfrm>
          <a:prstGeom prst="rect">
            <a:avLst/>
          </a:prstGeom>
          <a:solidFill>
            <a:srgbClr val="CF3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pic>
        <p:nvPicPr>
          <p:cNvPr id="2" name="Picture 1"/>
          <p:cNvPicPr>
            <a:picLocks noChangeAspect="1"/>
          </p:cNvPicPr>
          <p:nvPr/>
        </p:nvPicPr>
        <p:blipFill rotWithShape="1">
          <a:blip r:embed="rId3">
            <a:extLst>
              <a:ext uri="{28A0092B-C50C-407E-A947-70E740481C1C}">
                <a14:useLocalDpi xmlns:a14="http://schemas.microsoft.com/office/drawing/2010/main" val="0"/>
              </a:ext>
            </a:extLst>
          </a:blip>
          <a:srcRect l="69227" t="33418" r="20112" b="50548"/>
          <a:stretch/>
        </p:blipFill>
        <p:spPr>
          <a:xfrm>
            <a:off x="15579524" y="7544693"/>
            <a:ext cx="2708477" cy="2987579"/>
          </a:xfrm>
          <a:prstGeom prst="rect">
            <a:avLst/>
          </a:prstGeom>
        </p:spPr>
      </p:pic>
      <p:sp>
        <p:nvSpPr>
          <p:cNvPr id="3" name="TextBox 2"/>
          <p:cNvSpPr txBox="1"/>
          <p:nvPr/>
        </p:nvSpPr>
        <p:spPr>
          <a:xfrm>
            <a:off x="260431" y="329879"/>
            <a:ext cx="8906720" cy="6306214"/>
          </a:xfrm>
          <a:prstGeom prst="rect">
            <a:avLst/>
          </a:prstGeom>
          <a:noFill/>
        </p:spPr>
        <p:txBody>
          <a:bodyPr wrap="square" rtlCol="0">
            <a:spAutoFit/>
          </a:bodyPr>
          <a:lstStyle/>
          <a:p>
            <a:r>
              <a:rPr lang="en-US" sz="6000" b="1" dirty="0">
                <a:solidFill>
                  <a:srgbClr val="CF3338"/>
                </a:solidFill>
                <a:latin typeface="Pragmatica" panose="020B0403040502020204" pitchFamily="34" charset="0"/>
              </a:rPr>
              <a:t>Loading, profiling and transforming data</a:t>
            </a:r>
          </a:p>
          <a:p>
            <a:endParaRPr lang="en-US" sz="4200" dirty="0">
              <a:solidFill>
                <a:srgbClr val="CF3338"/>
              </a:solidFill>
              <a:latin typeface="Pragmatica" panose="020B0403040502020204" pitchFamily="34" charset="0"/>
            </a:endParaRPr>
          </a:p>
          <a:p>
            <a:r>
              <a:rPr lang="en-US" sz="4200" dirty="0">
                <a:solidFill>
                  <a:srgbClr val="CF3338"/>
                </a:solidFill>
                <a:latin typeface="Pragmatica" panose="020B0403040502020204" pitchFamily="34" charset="0"/>
              </a:rPr>
              <a:t>Using Power Query in Power BI:</a:t>
            </a:r>
          </a:p>
          <a:p>
            <a:pPr marL="685800" indent="-542925">
              <a:lnSpc>
                <a:spcPct val="115000"/>
              </a:lnSpc>
              <a:spcBef>
                <a:spcPts val="1125"/>
              </a:spcBef>
              <a:buClr>
                <a:srgbClr val="C00000"/>
              </a:buClr>
              <a:buSzPts val="2100"/>
              <a:buFont typeface="Arial"/>
              <a:buAutoNum type="arabicPeriod"/>
            </a:pPr>
            <a:r>
              <a:rPr lang="en-US" sz="3600" dirty="0">
                <a:solidFill>
                  <a:srgbClr val="C00000"/>
                </a:solidFill>
                <a:latin typeface="Pragmatica" panose="020B0403040502020204"/>
                <a:sym typeface="Consolas"/>
              </a:rPr>
              <a:t>Read in workbook data</a:t>
            </a:r>
          </a:p>
          <a:p>
            <a:pPr marL="685800" indent="-542925">
              <a:lnSpc>
                <a:spcPct val="115000"/>
              </a:lnSpc>
              <a:spcBef>
                <a:spcPts val="1125"/>
              </a:spcBef>
              <a:buClr>
                <a:srgbClr val="C00000"/>
              </a:buClr>
              <a:buSzPts val="2100"/>
              <a:buFont typeface="Arial"/>
              <a:buAutoNum type="arabicPeriod"/>
            </a:pPr>
            <a:r>
              <a:rPr lang="en-US" sz="3600" dirty="0">
                <a:solidFill>
                  <a:srgbClr val="C00000"/>
                </a:solidFill>
                <a:latin typeface="Pragmatica" panose="020B0403040502020204"/>
                <a:sym typeface="Consolas"/>
              </a:rPr>
              <a:t>Profile, explore and transform the data via </a:t>
            </a:r>
          </a:p>
          <a:p>
            <a:pPr marL="685800" indent="-542925">
              <a:lnSpc>
                <a:spcPct val="115000"/>
              </a:lnSpc>
              <a:spcBef>
                <a:spcPts val="1125"/>
              </a:spcBef>
              <a:buClr>
                <a:srgbClr val="C00000"/>
              </a:buClr>
              <a:buSzPts val="2100"/>
              <a:buFont typeface="Arial"/>
              <a:buAutoNum type="arabicPeriod"/>
            </a:pPr>
            <a:endParaRPr lang="en-US" sz="3600" dirty="0">
              <a:solidFill>
                <a:srgbClr val="C00000"/>
              </a:solidFill>
              <a:latin typeface="Pragmatica" panose="020B0403040502020204"/>
              <a:sym typeface="Consolas"/>
            </a:endParaRPr>
          </a:p>
          <a:p>
            <a:pPr marL="142875">
              <a:lnSpc>
                <a:spcPct val="115000"/>
              </a:lnSpc>
              <a:spcBef>
                <a:spcPts val="1125"/>
              </a:spcBef>
              <a:buClr>
                <a:srgbClr val="C00000"/>
              </a:buClr>
              <a:buSzPts val="2100"/>
            </a:pPr>
            <a:r>
              <a:rPr lang="en-US" sz="3600" dirty="0">
                <a:solidFill>
                  <a:srgbClr val="C00000"/>
                </a:solidFill>
                <a:latin typeface="Pragmatica" panose="020B0403040502020204"/>
                <a:sym typeface="Consolas"/>
              </a:rPr>
              <a:t>Folder: </a:t>
            </a:r>
            <a:r>
              <a:rPr lang="en-US" sz="3600" dirty="0">
                <a:solidFill>
                  <a:srgbClr val="C00000"/>
                </a:solidFill>
                <a:latin typeface="Consolas" panose="020B0609020204030204" pitchFamily="49" charset="0"/>
                <a:sym typeface="Consolas"/>
              </a:rPr>
              <a:t>1-load-worksheet-to-power-bi</a:t>
            </a:r>
          </a:p>
        </p:txBody>
      </p:sp>
    </p:spTree>
    <p:extLst>
      <p:ext uri="{BB962C8B-B14F-4D97-AF65-F5344CB8AC3E}">
        <p14:creationId xmlns:p14="http://schemas.microsoft.com/office/powerpoint/2010/main" val="35856804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A71254-7D70-0AD5-8345-3A503A3DF9B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75D80F1-9995-A85D-5874-3DFF757AD9C4}"/>
              </a:ext>
            </a:extLst>
          </p:cNvPr>
          <p:cNvSpPr/>
          <p:nvPr/>
        </p:nvSpPr>
        <p:spPr>
          <a:xfrm>
            <a:off x="9861630" y="0"/>
            <a:ext cx="8426370" cy="10287000"/>
          </a:xfrm>
          <a:prstGeom prst="rect">
            <a:avLst/>
          </a:prstGeom>
          <a:solidFill>
            <a:srgbClr val="CF3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pic>
        <p:nvPicPr>
          <p:cNvPr id="2" name="Picture 1">
            <a:extLst>
              <a:ext uri="{FF2B5EF4-FFF2-40B4-BE49-F238E27FC236}">
                <a16:creationId xmlns:a16="http://schemas.microsoft.com/office/drawing/2014/main" id="{D178E631-F0B4-0B54-F4C0-AA7525DE6A08}"/>
              </a:ext>
            </a:extLst>
          </p:cNvPr>
          <p:cNvPicPr>
            <a:picLocks noChangeAspect="1"/>
          </p:cNvPicPr>
          <p:nvPr/>
        </p:nvPicPr>
        <p:blipFill rotWithShape="1">
          <a:blip r:embed="rId3">
            <a:extLst>
              <a:ext uri="{28A0092B-C50C-407E-A947-70E740481C1C}">
                <a14:useLocalDpi xmlns:a14="http://schemas.microsoft.com/office/drawing/2010/main" val="0"/>
              </a:ext>
            </a:extLst>
          </a:blip>
          <a:srcRect l="69227" t="33418" r="20112" b="50548"/>
          <a:stretch/>
        </p:blipFill>
        <p:spPr>
          <a:xfrm>
            <a:off x="15579524" y="7544693"/>
            <a:ext cx="2708477" cy="2987579"/>
          </a:xfrm>
          <a:prstGeom prst="rect">
            <a:avLst/>
          </a:prstGeom>
        </p:spPr>
      </p:pic>
      <p:sp>
        <p:nvSpPr>
          <p:cNvPr id="3" name="TextBox 2">
            <a:extLst>
              <a:ext uri="{FF2B5EF4-FFF2-40B4-BE49-F238E27FC236}">
                <a16:creationId xmlns:a16="http://schemas.microsoft.com/office/drawing/2014/main" id="{73F503D0-7644-10B8-0502-3703F23BEE6F}"/>
              </a:ext>
            </a:extLst>
          </p:cNvPr>
          <p:cNvSpPr txBox="1"/>
          <p:nvPr/>
        </p:nvSpPr>
        <p:spPr>
          <a:xfrm>
            <a:off x="260431" y="329879"/>
            <a:ext cx="8906720" cy="7709803"/>
          </a:xfrm>
          <a:prstGeom prst="rect">
            <a:avLst/>
          </a:prstGeom>
          <a:noFill/>
        </p:spPr>
        <p:txBody>
          <a:bodyPr wrap="square" rtlCol="0">
            <a:spAutoFit/>
          </a:bodyPr>
          <a:lstStyle/>
          <a:p>
            <a:r>
              <a:rPr lang="en-US" sz="6000" b="1" dirty="0">
                <a:solidFill>
                  <a:srgbClr val="CF3338"/>
                </a:solidFill>
                <a:latin typeface="Pragmatica" panose="020B0403040502020204" pitchFamily="34" charset="0"/>
              </a:rPr>
              <a:t>Load Excel data model to Power BI</a:t>
            </a:r>
          </a:p>
          <a:p>
            <a:endParaRPr lang="en-US" sz="4200" dirty="0">
              <a:solidFill>
                <a:srgbClr val="CF3338"/>
              </a:solidFill>
              <a:latin typeface="Pragmatica" panose="020B0403040502020204" pitchFamily="34" charset="0"/>
            </a:endParaRPr>
          </a:p>
          <a:p>
            <a:pPr marL="685800" indent="-542925">
              <a:lnSpc>
                <a:spcPct val="115000"/>
              </a:lnSpc>
              <a:spcBef>
                <a:spcPts val="1125"/>
              </a:spcBef>
              <a:buClr>
                <a:srgbClr val="C00000"/>
              </a:buClr>
              <a:buSzPts val="2100"/>
              <a:buFont typeface="Arial"/>
              <a:buAutoNum type="arabicPeriod"/>
            </a:pPr>
            <a:r>
              <a:rPr lang="en-US" sz="3600" dirty="0">
                <a:solidFill>
                  <a:srgbClr val="C00000"/>
                </a:solidFill>
                <a:latin typeface="Pragmatica" panose="020B0403040502020204"/>
                <a:sym typeface="Consolas"/>
              </a:rPr>
              <a:t>Port a Power Pivot data model into Power BI</a:t>
            </a:r>
          </a:p>
          <a:p>
            <a:pPr marL="685800" indent="-542925">
              <a:lnSpc>
                <a:spcPct val="115000"/>
              </a:lnSpc>
              <a:spcBef>
                <a:spcPts val="1125"/>
              </a:spcBef>
              <a:buClr>
                <a:srgbClr val="C00000"/>
              </a:buClr>
              <a:buSzPts val="2100"/>
              <a:buFont typeface="Arial"/>
              <a:buAutoNum type="arabicPeriod"/>
            </a:pPr>
            <a:r>
              <a:rPr lang="en-US" sz="3600" dirty="0">
                <a:solidFill>
                  <a:srgbClr val="C00000"/>
                </a:solidFill>
                <a:latin typeface="Pragmatica" panose="020B0403040502020204"/>
                <a:sym typeface="Consolas"/>
              </a:rPr>
              <a:t>Strengths, weaknesses, limitations</a:t>
            </a:r>
          </a:p>
          <a:p>
            <a:pPr marL="685800" indent="-542925">
              <a:lnSpc>
                <a:spcPct val="115000"/>
              </a:lnSpc>
              <a:spcBef>
                <a:spcPts val="1125"/>
              </a:spcBef>
              <a:buClr>
                <a:srgbClr val="C00000"/>
              </a:buClr>
              <a:buSzPts val="2100"/>
              <a:buFont typeface="Arial"/>
              <a:buAutoNum type="arabicPeriod"/>
            </a:pPr>
            <a:endParaRPr lang="en-US" sz="3600" dirty="0">
              <a:solidFill>
                <a:srgbClr val="C00000"/>
              </a:solidFill>
              <a:latin typeface="Pragmatica" panose="020B0403040502020204"/>
              <a:sym typeface="Consolas"/>
            </a:endParaRPr>
          </a:p>
          <a:p>
            <a:pPr marL="142875">
              <a:lnSpc>
                <a:spcPct val="115000"/>
              </a:lnSpc>
              <a:spcBef>
                <a:spcPts val="1125"/>
              </a:spcBef>
              <a:buClr>
                <a:srgbClr val="C00000"/>
              </a:buClr>
              <a:buSzPts val="2100"/>
            </a:pPr>
            <a:r>
              <a:rPr lang="en-US" sz="3600" dirty="0">
                <a:solidFill>
                  <a:srgbClr val="C00000"/>
                </a:solidFill>
                <a:latin typeface="Pragmatica" panose="020B0403040502020204"/>
                <a:sym typeface="Consolas"/>
              </a:rPr>
              <a:t>Folder: </a:t>
            </a:r>
            <a:r>
              <a:rPr lang="en-US" sz="3600" dirty="0">
                <a:solidFill>
                  <a:srgbClr val="C00000"/>
                </a:solidFill>
                <a:latin typeface="Consolas" panose="020B0609020204030204" pitchFamily="49" charset="0"/>
                <a:sym typeface="Consolas"/>
              </a:rPr>
              <a:t>2-load-data-model-to-power-bi</a:t>
            </a:r>
          </a:p>
          <a:p>
            <a:pPr marL="142875">
              <a:lnSpc>
                <a:spcPct val="115000"/>
              </a:lnSpc>
              <a:spcBef>
                <a:spcPts val="1125"/>
              </a:spcBef>
              <a:buClr>
                <a:srgbClr val="C00000"/>
              </a:buClr>
              <a:buSzPts val="2100"/>
            </a:pPr>
            <a:endParaRPr lang="en-US" sz="3600" dirty="0">
              <a:solidFill>
                <a:srgbClr val="C00000"/>
              </a:solidFill>
              <a:latin typeface="Consolas" panose="020B0609020204030204" pitchFamily="49" charset="0"/>
              <a:sym typeface="Consolas"/>
            </a:endParaRPr>
          </a:p>
        </p:txBody>
      </p:sp>
    </p:spTree>
    <p:extLst>
      <p:ext uri="{BB962C8B-B14F-4D97-AF65-F5344CB8AC3E}">
        <p14:creationId xmlns:p14="http://schemas.microsoft.com/office/powerpoint/2010/main" val="23220757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861630" y="0"/>
            <a:ext cx="8426370" cy="10287000"/>
          </a:xfrm>
          <a:prstGeom prst="rect">
            <a:avLst/>
          </a:prstGeom>
          <a:solidFill>
            <a:srgbClr val="CF3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pic>
        <p:nvPicPr>
          <p:cNvPr id="2" name="Picture 1"/>
          <p:cNvPicPr>
            <a:picLocks noChangeAspect="1"/>
          </p:cNvPicPr>
          <p:nvPr/>
        </p:nvPicPr>
        <p:blipFill rotWithShape="1">
          <a:blip r:embed="rId3">
            <a:extLst>
              <a:ext uri="{28A0092B-C50C-407E-A947-70E740481C1C}">
                <a14:useLocalDpi xmlns:a14="http://schemas.microsoft.com/office/drawing/2010/main" val="0"/>
              </a:ext>
            </a:extLst>
          </a:blip>
          <a:srcRect l="69227" t="33418" r="20112" b="50548"/>
          <a:stretch/>
        </p:blipFill>
        <p:spPr>
          <a:xfrm>
            <a:off x="15579524" y="7544693"/>
            <a:ext cx="2708477" cy="2987579"/>
          </a:xfrm>
          <a:prstGeom prst="rect">
            <a:avLst/>
          </a:prstGeom>
        </p:spPr>
      </p:pic>
      <p:sp>
        <p:nvSpPr>
          <p:cNvPr id="3" name="TextBox 2"/>
          <p:cNvSpPr txBox="1"/>
          <p:nvPr/>
        </p:nvSpPr>
        <p:spPr>
          <a:xfrm>
            <a:off x="260431" y="329879"/>
            <a:ext cx="8906720" cy="7817525"/>
          </a:xfrm>
          <a:prstGeom prst="rect">
            <a:avLst/>
          </a:prstGeom>
          <a:noFill/>
        </p:spPr>
        <p:txBody>
          <a:bodyPr wrap="square" rtlCol="0">
            <a:spAutoFit/>
          </a:bodyPr>
          <a:lstStyle/>
          <a:p>
            <a:r>
              <a:rPr lang="en-US" sz="6000" b="1" dirty="0">
                <a:solidFill>
                  <a:srgbClr val="CF3338"/>
                </a:solidFill>
                <a:latin typeface="Pragmatica" panose="020B0403040502020204" pitchFamily="34" charset="0"/>
              </a:rPr>
              <a:t>Creating interactive dashboards and reports</a:t>
            </a:r>
          </a:p>
          <a:p>
            <a:endParaRPr lang="en-US" sz="4200" dirty="0">
              <a:solidFill>
                <a:srgbClr val="CF3338"/>
              </a:solidFill>
              <a:latin typeface="Pragmatica" panose="020B0403040502020204" pitchFamily="34" charset="0"/>
            </a:endParaRPr>
          </a:p>
          <a:p>
            <a:pPr marL="342900" marR="0" lvl="0" indent="-342900">
              <a:lnSpc>
                <a:spcPct val="115000"/>
              </a:lnSpc>
              <a:spcBef>
                <a:spcPts val="0"/>
              </a:spcBef>
              <a:spcAft>
                <a:spcPts val="0"/>
              </a:spcAft>
              <a:buFont typeface="+mj-lt"/>
              <a:buAutoNum type="arabicPeriod"/>
            </a:pPr>
            <a:r>
              <a:rPr lang="en-US" sz="3200" kern="100" dirty="0">
                <a:solidFill>
                  <a:srgbClr val="C00000"/>
                </a:solidFill>
                <a:effectLst/>
                <a:latin typeface="Pragmatica" panose="020B0403040502020204"/>
                <a:ea typeface="Aptos" panose="020B0004020202020204" pitchFamily="34" charset="0"/>
                <a:cs typeface="Times New Roman" panose="02020603050405020304" pitchFamily="18" charset="0"/>
              </a:rPr>
              <a:t>Continue with </a:t>
            </a:r>
            <a:r>
              <a:rPr lang="en-US" sz="3200" kern="100" dirty="0">
                <a:solidFill>
                  <a:srgbClr val="C00000"/>
                </a:solidFill>
                <a:latin typeface="Pragmatica" panose="020B0403040502020204"/>
                <a:ea typeface="Aptos" panose="020B0004020202020204" pitchFamily="34" charset="0"/>
                <a:cs typeface="Times New Roman" panose="02020603050405020304" pitchFamily="18" charset="0"/>
              </a:rPr>
              <a:t>penguins dataset</a:t>
            </a:r>
            <a:endParaRPr lang="en-US" sz="3200" kern="100" dirty="0">
              <a:solidFill>
                <a:srgbClr val="C00000"/>
              </a:solidFill>
              <a:effectLst/>
              <a:latin typeface="Pragmatica" panose="020B0403040502020204"/>
              <a:ea typeface="Aptos" panose="020B0004020202020204" pitchFamily="34" charset="0"/>
              <a:cs typeface="Times New Roman" panose="02020603050405020304" pitchFamily="18" charset="0"/>
            </a:endParaRPr>
          </a:p>
          <a:p>
            <a:pPr marL="342900" marR="0" lvl="0" indent="-342900">
              <a:lnSpc>
                <a:spcPct val="115000"/>
              </a:lnSpc>
              <a:spcBef>
                <a:spcPts val="0"/>
              </a:spcBef>
              <a:spcAft>
                <a:spcPts val="0"/>
              </a:spcAft>
              <a:buFont typeface="+mj-lt"/>
              <a:buAutoNum type="arabicPeriod"/>
            </a:pPr>
            <a:r>
              <a:rPr lang="en-US" sz="3200" kern="100" dirty="0">
                <a:solidFill>
                  <a:srgbClr val="C00000"/>
                </a:solidFill>
                <a:latin typeface="Pragmatica" panose="020B0403040502020204"/>
                <a:ea typeface="Aptos" panose="020B0004020202020204" pitchFamily="34" charset="0"/>
                <a:cs typeface="Times New Roman" panose="02020603050405020304" pitchFamily="18" charset="0"/>
              </a:rPr>
              <a:t>Creating interactive reports with Power BI</a:t>
            </a:r>
          </a:p>
          <a:p>
            <a:pPr marL="914400" lvl="1" indent="-457200">
              <a:lnSpc>
                <a:spcPct val="115000"/>
              </a:lnSpc>
              <a:buFont typeface="Arial" panose="020B0604020202020204" pitchFamily="34" charset="0"/>
              <a:buChar char="•"/>
            </a:pPr>
            <a:r>
              <a:rPr lang="en-US" sz="3200" kern="100" dirty="0">
                <a:solidFill>
                  <a:srgbClr val="C00000"/>
                </a:solidFill>
                <a:effectLst/>
                <a:latin typeface="Pragmatica" panose="020B0403040502020204"/>
                <a:ea typeface="Aptos" panose="020B0004020202020204" pitchFamily="34" charset="0"/>
                <a:cs typeface="Times New Roman" panose="02020603050405020304" pitchFamily="18" charset="0"/>
              </a:rPr>
              <a:t>Slice</a:t>
            </a:r>
            <a:r>
              <a:rPr lang="en-US" sz="3200" kern="100" dirty="0">
                <a:solidFill>
                  <a:srgbClr val="C00000"/>
                </a:solidFill>
                <a:latin typeface="Pragmatica" panose="020B0403040502020204"/>
                <a:ea typeface="Aptos" panose="020B0004020202020204" pitchFamily="34" charset="0"/>
                <a:cs typeface="Times New Roman" panose="02020603050405020304" pitchFamily="18" charset="0"/>
              </a:rPr>
              <a:t>rs/Timelines</a:t>
            </a:r>
          </a:p>
          <a:p>
            <a:pPr marL="914400" lvl="1" indent="-457200">
              <a:lnSpc>
                <a:spcPct val="115000"/>
              </a:lnSpc>
              <a:buFont typeface="Arial" panose="020B0604020202020204" pitchFamily="34" charset="0"/>
              <a:buChar char="•"/>
            </a:pPr>
            <a:r>
              <a:rPr lang="en-US" sz="3200" kern="100" dirty="0">
                <a:solidFill>
                  <a:srgbClr val="C00000"/>
                </a:solidFill>
                <a:effectLst/>
                <a:latin typeface="Pragmatica" panose="020B0403040502020204"/>
                <a:ea typeface="Aptos" panose="020B0004020202020204" pitchFamily="34" charset="0"/>
                <a:cs typeface="Times New Roman" panose="02020603050405020304" pitchFamily="18" charset="0"/>
              </a:rPr>
              <a:t>Cross filter functionality</a:t>
            </a:r>
          </a:p>
          <a:p>
            <a:pPr marL="914400" lvl="1" indent="-457200">
              <a:lnSpc>
                <a:spcPct val="115000"/>
              </a:lnSpc>
              <a:buFont typeface="Arial" panose="020B0604020202020204" pitchFamily="34" charset="0"/>
              <a:buChar char="•"/>
            </a:pPr>
            <a:r>
              <a:rPr lang="en-US" sz="3200" kern="100" dirty="0">
                <a:solidFill>
                  <a:srgbClr val="C00000"/>
                </a:solidFill>
                <a:effectLst/>
                <a:latin typeface="Pragmatica" panose="020B0403040502020204"/>
                <a:ea typeface="Aptos" panose="020B0004020202020204" pitchFamily="34" charset="0"/>
                <a:cs typeface="Times New Roman" panose="02020603050405020304" pitchFamily="18" charset="0"/>
              </a:rPr>
              <a:t>Additional plot functionality vs Excel</a:t>
            </a:r>
          </a:p>
          <a:p>
            <a:endParaRPr lang="en-US" sz="4200" dirty="0">
              <a:solidFill>
                <a:srgbClr val="CF3338"/>
              </a:solidFill>
              <a:latin typeface="Pragmatica" panose="020B0403040502020204" pitchFamily="34" charset="0"/>
            </a:endParaRPr>
          </a:p>
          <a:p>
            <a:r>
              <a:rPr lang="en-US" sz="3600" kern="100" dirty="0">
                <a:solidFill>
                  <a:srgbClr val="C00000"/>
                </a:solidFill>
                <a:effectLst/>
                <a:latin typeface="Pragmatica" panose="020B0403040502020204"/>
                <a:ea typeface="Aptos" panose="020B0004020202020204" pitchFamily="34" charset="0"/>
                <a:cs typeface="Times New Roman" panose="02020603050405020304" pitchFamily="18" charset="0"/>
              </a:rPr>
              <a:t>Folder: </a:t>
            </a:r>
            <a:r>
              <a:rPr lang="en-US" sz="3600" kern="100" dirty="0">
                <a:solidFill>
                  <a:srgbClr val="C00000"/>
                </a:solidFill>
                <a:effectLst/>
                <a:latin typeface="Consolas" panose="020B0609020204030204" pitchFamily="49" charset="0"/>
                <a:ea typeface="Aptos" panose="020B0004020202020204" pitchFamily="34" charset="0"/>
                <a:cs typeface="Times New Roman" panose="02020603050405020304" pitchFamily="18" charset="0"/>
              </a:rPr>
              <a:t>3-creating-interactive-visuals</a:t>
            </a:r>
          </a:p>
          <a:p>
            <a:endParaRPr lang="en-US" sz="4200" dirty="0">
              <a:solidFill>
                <a:srgbClr val="CF3338"/>
              </a:solidFill>
              <a:latin typeface="Pragmatica" panose="020B0403040502020204" pitchFamily="34" charset="0"/>
            </a:endParaRPr>
          </a:p>
        </p:txBody>
      </p:sp>
    </p:spTree>
    <p:extLst>
      <p:ext uri="{BB962C8B-B14F-4D97-AF65-F5344CB8AC3E}">
        <p14:creationId xmlns:p14="http://schemas.microsoft.com/office/powerpoint/2010/main" val="5545679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9DE51-3698-19A7-2410-9FF95955B10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07311E4-483B-E0EC-2A09-57DA32632608}"/>
              </a:ext>
            </a:extLst>
          </p:cNvPr>
          <p:cNvSpPr/>
          <p:nvPr/>
        </p:nvSpPr>
        <p:spPr>
          <a:xfrm>
            <a:off x="14249400" y="0"/>
            <a:ext cx="4038600" cy="10287000"/>
          </a:xfrm>
          <a:prstGeom prst="rect">
            <a:avLst/>
          </a:prstGeom>
          <a:solidFill>
            <a:srgbClr val="CF3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pic>
        <p:nvPicPr>
          <p:cNvPr id="2" name="Picture 1">
            <a:extLst>
              <a:ext uri="{FF2B5EF4-FFF2-40B4-BE49-F238E27FC236}">
                <a16:creationId xmlns:a16="http://schemas.microsoft.com/office/drawing/2014/main" id="{C925E978-5853-7382-33B7-E92E58A94E1A}"/>
              </a:ext>
            </a:extLst>
          </p:cNvPr>
          <p:cNvPicPr>
            <a:picLocks noChangeAspect="1"/>
          </p:cNvPicPr>
          <p:nvPr/>
        </p:nvPicPr>
        <p:blipFill rotWithShape="1">
          <a:blip r:embed="rId3">
            <a:extLst>
              <a:ext uri="{28A0092B-C50C-407E-A947-70E740481C1C}">
                <a14:useLocalDpi xmlns:a14="http://schemas.microsoft.com/office/drawing/2010/main" val="0"/>
              </a:ext>
            </a:extLst>
          </a:blip>
          <a:srcRect l="69227" t="33418" r="20112" b="50548"/>
          <a:stretch/>
        </p:blipFill>
        <p:spPr>
          <a:xfrm>
            <a:off x="15579524" y="7544693"/>
            <a:ext cx="2708477" cy="2987579"/>
          </a:xfrm>
          <a:prstGeom prst="rect">
            <a:avLst/>
          </a:prstGeom>
        </p:spPr>
      </p:pic>
      <p:sp>
        <p:nvSpPr>
          <p:cNvPr id="3" name="TextBox 2">
            <a:extLst>
              <a:ext uri="{FF2B5EF4-FFF2-40B4-BE49-F238E27FC236}">
                <a16:creationId xmlns:a16="http://schemas.microsoft.com/office/drawing/2014/main" id="{AD1D6570-8423-6016-5997-5C5C44F51FC3}"/>
              </a:ext>
            </a:extLst>
          </p:cNvPr>
          <p:cNvSpPr txBox="1"/>
          <p:nvPr/>
        </p:nvSpPr>
        <p:spPr>
          <a:xfrm>
            <a:off x="260430" y="329879"/>
            <a:ext cx="13150769" cy="7066550"/>
          </a:xfrm>
          <a:prstGeom prst="rect">
            <a:avLst/>
          </a:prstGeom>
          <a:noFill/>
        </p:spPr>
        <p:txBody>
          <a:bodyPr wrap="square" rtlCol="0">
            <a:spAutoFit/>
          </a:bodyPr>
          <a:lstStyle/>
          <a:p>
            <a:r>
              <a:rPr lang="en-US" sz="6000" b="1" dirty="0">
                <a:solidFill>
                  <a:srgbClr val="CF3338"/>
                </a:solidFill>
                <a:latin typeface="Pragmatica" panose="020B0403040502020204" pitchFamily="34" charset="0"/>
              </a:rPr>
              <a:t>Exercises</a:t>
            </a:r>
          </a:p>
          <a:p>
            <a:endParaRPr lang="en-US" sz="4200" dirty="0">
              <a:solidFill>
                <a:srgbClr val="CF3338"/>
              </a:solidFill>
              <a:latin typeface="Pragmatica" panose="020B0403040502020204" pitchFamily="34" charset="0"/>
            </a:endParaRPr>
          </a:p>
          <a:p>
            <a:r>
              <a:rPr lang="en-US" sz="3600" dirty="0">
                <a:solidFill>
                  <a:srgbClr val="CF3338"/>
                </a:solidFill>
                <a:latin typeface="Pragmatica" panose="020B0403040502020204" pitchFamily="34" charset="0"/>
              </a:rPr>
              <a:t>For all data since 1970: </a:t>
            </a:r>
          </a:p>
          <a:p>
            <a:endParaRPr lang="en-US" sz="4200" dirty="0">
              <a:solidFill>
                <a:srgbClr val="CF3338"/>
              </a:solidFill>
              <a:latin typeface="Pragmatica" panose="020B0403040502020204" pitchFamily="34" charset="0"/>
            </a:endParaRPr>
          </a:p>
          <a:p>
            <a:pPr marL="342900" marR="0" lvl="0" indent="-342900">
              <a:lnSpc>
                <a:spcPct val="115000"/>
              </a:lnSpc>
              <a:spcBef>
                <a:spcPts val="0"/>
              </a:spcBef>
              <a:spcAft>
                <a:spcPts val="0"/>
              </a:spcAft>
              <a:buFont typeface="+mj-lt"/>
              <a:buAutoNum type="arabicPeriod"/>
            </a:pPr>
            <a:r>
              <a:rPr lang="en-US" sz="3200" kern="100" dirty="0">
                <a:solidFill>
                  <a:srgbClr val="C00000"/>
                </a:solidFill>
                <a:effectLst/>
                <a:latin typeface="Pragmatica" panose="020B0403040502020204"/>
                <a:ea typeface="Aptos" panose="020B0004020202020204" pitchFamily="34" charset="0"/>
                <a:cs typeface="Times New Roman" panose="02020603050405020304" pitchFamily="18" charset="0"/>
              </a:rPr>
              <a:t>Create stolen base percentage measure: SUM(SB) / (SUM(SB) + SUM(SC))</a:t>
            </a:r>
          </a:p>
          <a:p>
            <a:pPr marL="342900" marR="0" lvl="0" indent="-342900">
              <a:lnSpc>
                <a:spcPct val="115000"/>
              </a:lnSpc>
              <a:spcBef>
                <a:spcPts val="0"/>
              </a:spcBef>
              <a:spcAft>
                <a:spcPts val="0"/>
              </a:spcAft>
              <a:buFont typeface="+mj-lt"/>
              <a:buAutoNum type="arabicPeriod"/>
            </a:pPr>
            <a:r>
              <a:rPr lang="en-US" sz="3200" kern="100" dirty="0">
                <a:solidFill>
                  <a:srgbClr val="C00000"/>
                </a:solidFill>
                <a:effectLst/>
                <a:latin typeface="Pragmatica" panose="020B0403040502020204"/>
                <a:ea typeface="Aptos" panose="020B0004020202020204" pitchFamily="34" charset="0"/>
                <a:cs typeface="Times New Roman" panose="02020603050405020304" pitchFamily="18" charset="0"/>
              </a:rPr>
              <a:t>Compare SBP over time by league</a:t>
            </a:r>
          </a:p>
          <a:p>
            <a:pPr marL="342900" marR="0" lvl="0" indent="-342900">
              <a:lnSpc>
                <a:spcPct val="115000"/>
              </a:lnSpc>
              <a:spcBef>
                <a:spcPts val="0"/>
              </a:spcBef>
              <a:spcAft>
                <a:spcPts val="0"/>
              </a:spcAft>
              <a:buFont typeface="+mj-lt"/>
              <a:buAutoNum type="arabicPeriod"/>
            </a:pPr>
            <a:r>
              <a:rPr lang="en-US" sz="3200" kern="100" dirty="0">
                <a:solidFill>
                  <a:srgbClr val="C00000"/>
                </a:solidFill>
                <a:latin typeface="Pragmatica" panose="020B0403040502020204"/>
                <a:ea typeface="Aptos" panose="020B0004020202020204" pitchFamily="34" charset="0"/>
                <a:cs typeface="Times New Roman" panose="02020603050405020304" pitchFamily="18" charset="0"/>
              </a:rPr>
              <a:t>Compare relationship between runs (R) and wins (W)</a:t>
            </a:r>
          </a:p>
          <a:p>
            <a:pPr marL="342900" marR="0" lvl="0" indent="-342900">
              <a:lnSpc>
                <a:spcPct val="115000"/>
              </a:lnSpc>
              <a:spcBef>
                <a:spcPts val="0"/>
              </a:spcBef>
              <a:spcAft>
                <a:spcPts val="0"/>
              </a:spcAft>
              <a:buFont typeface="+mj-lt"/>
              <a:buAutoNum type="arabicPeriod"/>
            </a:pPr>
            <a:r>
              <a:rPr lang="en-US" sz="3200" kern="100" dirty="0">
                <a:solidFill>
                  <a:srgbClr val="C00000"/>
                </a:solidFill>
                <a:effectLst/>
                <a:latin typeface="Pragmatica" panose="020B0403040502020204"/>
                <a:ea typeface="Aptos" panose="020B0004020202020204" pitchFamily="34" charset="0"/>
                <a:cs typeface="Times New Roman" panose="02020603050405020304" pitchFamily="18" charset="0"/>
              </a:rPr>
              <a:t>Add a timeline-based slicer to the report</a:t>
            </a:r>
          </a:p>
          <a:p>
            <a:endParaRPr lang="en-US" sz="4200" dirty="0">
              <a:solidFill>
                <a:srgbClr val="CF3338"/>
              </a:solidFill>
              <a:latin typeface="Pragmatica" panose="020B0403040502020204" pitchFamily="34" charset="0"/>
            </a:endParaRPr>
          </a:p>
          <a:p>
            <a:r>
              <a:rPr lang="en-US" sz="3600" kern="100" dirty="0">
                <a:solidFill>
                  <a:srgbClr val="C00000"/>
                </a:solidFill>
                <a:effectLst/>
                <a:latin typeface="Pragmatica" panose="020B0403040502020204"/>
                <a:ea typeface="Aptos" panose="020B0004020202020204" pitchFamily="34" charset="0"/>
                <a:cs typeface="Times New Roman" panose="02020603050405020304" pitchFamily="18" charset="0"/>
              </a:rPr>
              <a:t>Folder: </a:t>
            </a:r>
            <a:r>
              <a:rPr lang="en-US" sz="3600" kern="100" dirty="0">
                <a:solidFill>
                  <a:srgbClr val="C00000"/>
                </a:solidFill>
                <a:latin typeface="Consolas" panose="020B0609020204030204" pitchFamily="49" charset="0"/>
                <a:ea typeface="Aptos" panose="020B0004020202020204" pitchFamily="34" charset="0"/>
                <a:cs typeface="Times New Roman" panose="02020603050405020304" pitchFamily="18" charset="0"/>
              </a:rPr>
              <a:t>4</a:t>
            </a:r>
            <a:r>
              <a:rPr lang="en-US" sz="3600" kern="100" dirty="0">
                <a:solidFill>
                  <a:srgbClr val="C00000"/>
                </a:solidFill>
                <a:effectLst/>
                <a:latin typeface="Consolas" panose="020B0609020204030204" pitchFamily="49" charset="0"/>
                <a:ea typeface="Aptos" panose="020B0004020202020204" pitchFamily="34" charset="0"/>
                <a:cs typeface="Times New Roman" panose="02020603050405020304" pitchFamily="18" charset="0"/>
              </a:rPr>
              <a:t>-power-bi-challenge</a:t>
            </a:r>
          </a:p>
          <a:p>
            <a:endParaRPr lang="en-US" sz="4200" dirty="0">
              <a:solidFill>
                <a:srgbClr val="CF3338"/>
              </a:solidFill>
              <a:latin typeface="Pragmatica" panose="020B0403040502020204" pitchFamily="34" charset="0"/>
            </a:endParaRPr>
          </a:p>
        </p:txBody>
      </p:sp>
    </p:spTree>
    <p:extLst>
      <p:ext uri="{BB962C8B-B14F-4D97-AF65-F5344CB8AC3E}">
        <p14:creationId xmlns:p14="http://schemas.microsoft.com/office/powerpoint/2010/main" val="32974084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rotWithShape="1">
          <a:blip r:embed="rId2">
            <a:extLst>
              <a:ext uri="{28A0092B-C50C-407E-A947-70E740481C1C}">
                <a14:useLocalDpi xmlns:a14="http://schemas.microsoft.com/office/drawing/2010/main" val="0"/>
              </a:ext>
            </a:extLst>
          </a:blip>
          <a:srcRect l="50728" t="56371"/>
          <a:stretch/>
        </p:blipFill>
        <p:spPr>
          <a:xfrm>
            <a:off x="12204691" y="3316148"/>
            <a:ext cx="6083309" cy="6970854"/>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7744" y="-3724155"/>
            <a:ext cx="15257208" cy="11189825"/>
          </a:xfrm>
          <a:prstGeom prst="rect">
            <a:avLst/>
          </a:prstGeom>
        </p:spPr>
      </p:pic>
      <p:sp>
        <p:nvSpPr>
          <p:cNvPr id="11" name="TextBox 10"/>
          <p:cNvSpPr txBox="1"/>
          <p:nvPr/>
        </p:nvSpPr>
        <p:spPr>
          <a:xfrm>
            <a:off x="486137" y="2531318"/>
            <a:ext cx="11979797" cy="923330"/>
          </a:xfrm>
          <a:prstGeom prst="rect">
            <a:avLst/>
          </a:prstGeom>
          <a:noFill/>
        </p:spPr>
        <p:txBody>
          <a:bodyPr wrap="square" rtlCol="0">
            <a:spAutoFit/>
          </a:bodyPr>
          <a:lstStyle/>
          <a:p>
            <a:r>
              <a:rPr lang="en-US" sz="5400" b="1" dirty="0">
                <a:solidFill>
                  <a:srgbClr val="CF3338"/>
                </a:solidFill>
                <a:latin typeface="Pragmatica" panose="020B0403040502020204" pitchFamily="34" charset="0"/>
              </a:rPr>
              <a:t>Questions?</a:t>
            </a:r>
          </a:p>
        </p:txBody>
      </p:sp>
      <p:pic>
        <p:nvPicPr>
          <p:cNvPr id="5" name="Picture 4">
            <a:extLst>
              <a:ext uri="{FF2B5EF4-FFF2-40B4-BE49-F238E27FC236}">
                <a16:creationId xmlns:a16="http://schemas.microsoft.com/office/drawing/2014/main" id="{54A06221-5316-4BCF-9FDA-BDB95FF4A77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2204691" y="3317239"/>
            <a:ext cx="6083309" cy="6968672"/>
          </a:xfrm>
          <a:prstGeom prst="rect">
            <a:avLst/>
          </a:prstGeom>
        </p:spPr>
      </p:pic>
    </p:spTree>
    <p:extLst>
      <p:ext uri="{BB962C8B-B14F-4D97-AF65-F5344CB8AC3E}">
        <p14:creationId xmlns:p14="http://schemas.microsoft.com/office/powerpoint/2010/main" val="20814738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2110DC-5945-F67F-552F-6B4AD37258A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4E7494E-F506-3611-8E16-B310FC07AE4D}"/>
              </a:ext>
            </a:extLst>
          </p:cNvPr>
          <p:cNvSpPr/>
          <p:nvPr/>
        </p:nvSpPr>
        <p:spPr>
          <a:xfrm>
            <a:off x="0" y="0"/>
            <a:ext cx="18288000" cy="10287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5" name="TextBox 4">
            <a:extLst>
              <a:ext uri="{FF2B5EF4-FFF2-40B4-BE49-F238E27FC236}">
                <a16:creationId xmlns:a16="http://schemas.microsoft.com/office/drawing/2014/main" id="{8ED115EA-44DB-AAF3-936A-1719A3969B08}"/>
              </a:ext>
            </a:extLst>
          </p:cNvPr>
          <p:cNvSpPr txBox="1"/>
          <p:nvPr/>
        </p:nvSpPr>
        <p:spPr>
          <a:xfrm>
            <a:off x="781292" y="590309"/>
            <a:ext cx="15486926" cy="3139321"/>
          </a:xfrm>
          <a:prstGeom prst="rect">
            <a:avLst/>
          </a:prstGeom>
          <a:noFill/>
        </p:spPr>
        <p:txBody>
          <a:bodyPr wrap="square" rtlCol="0">
            <a:spAutoFit/>
          </a:bodyPr>
          <a:lstStyle/>
          <a:p>
            <a:r>
              <a:rPr lang="en-US" sz="9900" b="1" dirty="0">
                <a:solidFill>
                  <a:schemeClr val="bg1"/>
                </a:solidFill>
                <a:latin typeface="Normafixed Tryout" panose="00000409000000000000" pitchFamily="49" charset="0"/>
              </a:rPr>
              <a:t>Designing simple business apps with Power Apps</a:t>
            </a:r>
          </a:p>
        </p:txBody>
      </p:sp>
    </p:spTree>
    <p:extLst>
      <p:ext uri="{BB962C8B-B14F-4D97-AF65-F5344CB8AC3E}">
        <p14:creationId xmlns:p14="http://schemas.microsoft.com/office/powerpoint/2010/main" val="16403924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861630" y="0"/>
            <a:ext cx="8426370" cy="10287000"/>
          </a:xfrm>
          <a:prstGeom prst="rect">
            <a:avLst/>
          </a:prstGeom>
          <a:solidFill>
            <a:srgbClr val="CF3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pic>
        <p:nvPicPr>
          <p:cNvPr id="2" name="Picture 1"/>
          <p:cNvPicPr>
            <a:picLocks noChangeAspect="1"/>
          </p:cNvPicPr>
          <p:nvPr/>
        </p:nvPicPr>
        <p:blipFill rotWithShape="1">
          <a:blip r:embed="rId3">
            <a:extLst>
              <a:ext uri="{28A0092B-C50C-407E-A947-70E740481C1C}">
                <a14:useLocalDpi xmlns:a14="http://schemas.microsoft.com/office/drawing/2010/main" val="0"/>
              </a:ext>
            </a:extLst>
          </a:blip>
          <a:srcRect l="69227" t="33418" r="20112" b="50548"/>
          <a:stretch/>
        </p:blipFill>
        <p:spPr>
          <a:xfrm>
            <a:off x="15579524" y="7544693"/>
            <a:ext cx="2708477" cy="2987579"/>
          </a:xfrm>
          <a:prstGeom prst="rect">
            <a:avLst/>
          </a:prstGeom>
        </p:spPr>
      </p:pic>
      <p:sp>
        <p:nvSpPr>
          <p:cNvPr id="3" name="TextBox 2"/>
          <p:cNvSpPr txBox="1"/>
          <p:nvPr/>
        </p:nvSpPr>
        <p:spPr>
          <a:xfrm>
            <a:off x="260431" y="329879"/>
            <a:ext cx="8906720" cy="6438044"/>
          </a:xfrm>
          <a:prstGeom prst="rect">
            <a:avLst/>
          </a:prstGeom>
          <a:noFill/>
        </p:spPr>
        <p:txBody>
          <a:bodyPr wrap="square" rtlCol="0">
            <a:spAutoFit/>
          </a:bodyPr>
          <a:lstStyle/>
          <a:p>
            <a:r>
              <a:rPr lang="en-US" sz="6000" b="1" dirty="0">
                <a:solidFill>
                  <a:srgbClr val="CF3338"/>
                </a:solidFill>
                <a:latin typeface="Pragmatica" panose="020B0403040502020204" pitchFamily="34" charset="0"/>
              </a:rPr>
              <a:t>Creating a Power App from Excel</a:t>
            </a:r>
          </a:p>
          <a:p>
            <a:endParaRPr lang="en-US" sz="4200" dirty="0">
              <a:solidFill>
                <a:srgbClr val="CF3338"/>
              </a:solidFill>
              <a:latin typeface="Pragmatica" panose="020B0403040502020204" pitchFamily="34" charset="0"/>
            </a:endParaRPr>
          </a:p>
          <a:p>
            <a:pPr marL="685800" indent="-542925">
              <a:lnSpc>
                <a:spcPct val="115000"/>
              </a:lnSpc>
              <a:spcBef>
                <a:spcPts val="1125"/>
              </a:spcBef>
              <a:buClr>
                <a:srgbClr val="C00000"/>
              </a:buClr>
              <a:buSzPts val="2100"/>
              <a:buFont typeface="Arial"/>
              <a:buAutoNum type="arabicPeriod"/>
            </a:pPr>
            <a:r>
              <a:rPr lang="en-US" sz="3600" dirty="0">
                <a:solidFill>
                  <a:srgbClr val="C00000"/>
                </a:solidFill>
                <a:latin typeface="Pragmatica" panose="020B0403040502020204"/>
                <a:sym typeface="Consolas"/>
              </a:rPr>
              <a:t>Upload Excel table to Power Apps</a:t>
            </a:r>
          </a:p>
          <a:p>
            <a:pPr marL="685800" indent="-542925">
              <a:lnSpc>
                <a:spcPct val="115000"/>
              </a:lnSpc>
              <a:spcBef>
                <a:spcPts val="1125"/>
              </a:spcBef>
              <a:buClr>
                <a:srgbClr val="C00000"/>
              </a:buClr>
              <a:buSzPts val="2100"/>
              <a:buFont typeface="Arial"/>
              <a:buAutoNum type="arabicPeriod"/>
            </a:pPr>
            <a:r>
              <a:rPr lang="en-US" sz="3600" dirty="0">
                <a:solidFill>
                  <a:srgbClr val="C00000"/>
                </a:solidFill>
                <a:latin typeface="Pragmatica" panose="020B0403040502020204"/>
                <a:sym typeface="Consolas"/>
              </a:rPr>
              <a:t>Create basic three-screen app</a:t>
            </a:r>
          </a:p>
          <a:p>
            <a:pPr marL="685800" indent="-542925">
              <a:lnSpc>
                <a:spcPct val="115000"/>
              </a:lnSpc>
              <a:spcBef>
                <a:spcPts val="1125"/>
              </a:spcBef>
              <a:buClr>
                <a:srgbClr val="C00000"/>
              </a:buClr>
              <a:buSzPts val="2100"/>
              <a:buFont typeface="Arial"/>
              <a:buAutoNum type="arabicPeriod"/>
            </a:pPr>
            <a:r>
              <a:rPr lang="en-US" sz="3600" dirty="0">
                <a:solidFill>
                  <a:srgbClr val="C00000"/>
                </a:solidFill>
                <a:latin typeface="Pragmatica" panose="020B0403040502020204"/>
                <a:sym typeface="Consolas"/>
              </a:rPr>
              <a:t>Add and edit records</a:t>
            </a:r>
          </a:p>
          <a:p>
            <a:pPr marL="685800" indent="-542925">
              <a:lnSpc>
                <a:spcPct val="115000"/>
              </a:lnSpc>
              <a:spcBef>
                <a:spcPts val="1125"/>
              </a:spcBef>
              <a:buClr>
                <a:srgbClr val="C00000"/>
              </a:buClr>
              <a:buSzPts val="2100"/>
              <a:buFont typeface="Arial"/>
              <a:buAutoNum type="arabicPeriod"/>
            </a:pPr>
            <a:r>
              <a:rPr lang="en-US" sz="3600" dirty="0">
                <a:solidFill>
                  <a:srgbClr val="C00000"/>
                </a:solidFill>
                <a:latin typeface="Pragmatica" panose="020B0403040502020204"/>
                <a:sym typeface="Consolas"/>
              </a:rPr>
              <a:t>Preview app in development</a:t>
            </a:r>
          </a:p>
          <a:p>
            <a:pPr marL="142875">
              <a:lnSpc>
                <a:spcPct val="115000"/>
              </a:lnSpc>
              <a:spcBef>
                <a:spcPts val="1125"/>
              </a:spcBef>
              <a:buClr>
                <a:srgbClr val="C00000"/>
              </a:buClr>
              <a:buSzPts val="2100"/>
            </a:pPr>
            <a:r>
              <a:rPr lang="en-US" sz="3600" dirty="0">
                <a:solidFill>
                  <a:srgbClr val="C00000"/>
                </a:solidFill>
                <a:latin typeface="Pragmatica" panose="020B0403040502020204"/>
                <a:sym typeface="Consolas"/>
              </a:rPr>
              <a:t>File: </a:t>
            </a:r>
            <a:r>
              <a:rPr lang="en-US" sz="3600" dirty="0">
                <a:solidFill>
                  <a:srgbClr val="C00000"/>
                </a:solidFill>
                <a:latin typeface="Consolas" panose="020B0609020204030204" pitchFamily="49" charset="0"/>
                <a:sym typeface="Consolas"/>
              </a:rPr>
              <a:t>first-power-app.xlsx</a:t>
            </a:r>
          </a:p>
        </p:txBody>
      </p:sp>
    </p:spTree>
    <p:extLst>
      <p:ext uri="{BB962C8B-B14F-4D97-AF65-F5344CB8AC3E}">
        <p14:creationId xmlns:p14="http://schemas.microsoft.com/office/powerpoint/2010/main" val="35821541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861630" y="0"/>
            <a:ext cx="8426370" cy="10287000"/>
          </a:xfrm>
          <a:prstGeom prst="rect">
            <a:avLst/>
          </a:prstGeom>
          <a:solidFill>
            <a:srgbClr val="CF3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pic>
        <p:nvPicPr>
          <p:cNvPr id="2" name="Picture 1"/>
          <p:cNvPicPr>
            <a:picLocks noChangeAspect="1"/>
          </p:cNvPicPr>
          <p:nvPr/>
        </p:nvPicPr>
        <p:blipFill rotWithShape="1">
          <a:blip r:embed="rId3">
            <a:extLst>
              <a:ext uri="{28A0092B-C50C-407E-A947-70E740481C1C}">
                <a14:useLocalDpi xmlns:a14="http://schemas.microsoft.com/office/drawing/2010/main" val="0"/>
              </a:ext>
            </a:extLst>
          </a:blip>
          <a:srcRect l="69227" t="33418" r="20112" b="50548"/>
          <a:stretch/>
        </p:blipFill>
        <p:spPr>
          <a:xfrm>
            <a:off x="15579524" y="7544693"/>
            <a:ext cx="2708477" cy="2987579"/>
          </a:xfrm>
          <a:prstGeom prst="rect">
            <a:avLst/>
          </a:prstGeom>
        </p:spPr>
      </p:pic>
      <p:sp>
        <p:nvSpPr>
          <p:cNvPr id="3" name="TextBox 2"/>
          <p:cNvSpPr txBox="1"/>
          <p:nvPr/>
        </p:nvSpPr>
        <p:spPr>
          <a:xfrm>
            <a:off x="260431" y="329879"/>
            <a:ext cx="8906720" cy="5186676"/>
          </a:xfrm>
          <a:prstGeom prst="rect">
            <a:avLst/>
          </a:prstGeom>
          <a:noFill/>
        </p:spPr>
        <p:txBody>
          <a:bodyPr wrap="square" rtlCol="0">
            <a:spAutoFit/>
          </a:bodyPr>
          <a:lstStyle/>
          <a:p>
            <a:r>
              <a:rPr lang="en-US" sz="6000" b="1" dirty="0">
                <a:solidFill>
                  <a:srgbClr val="CF3338"/>
                </a:solidFill>
                <a:latin typeface="Pragmatica" panose="020B0403040502020204" pitchFamily="34" charset="0"/>
              </a:rPr>
              <a:t>Modifying your Power App</a:t>
            </a:r>
          </a:p>
          <a:p>
            <a:endParaRPr lang="en-US" sz="4200" dirty="0">
              <a:solidFill>
                <a:srgbClr val="CF3338"/>
              </a:solidFill>
              <a:latin typeface="Pragmatica" panose="020B0403040502020204" pitchFamily="34" charset="0"/>
            </a:endParaRPr>
          </a:p>
          <a:p>
            <a:r>
              <a:rPr lang="en-US" sz="4200" dirty="0">
                <a:solidFill>
                  <a:srgbClr val="CF3338"/>
                </a:solidFill>
                <a:latin typeface="Pragmatica" panose="020B0403040502020204" pitchFamily="34" charset="0"/>
              </a:rPr>
              <a:t>Continuing with our example:</a:t>
            </a:r>
          </a:p>
          <a:p>
            <a:endParaRPr lang="en-US" sz="4200" dirty="0">
              <a:solidFill>
                <a:srgbClr val="CF3338"/>
              </a:solidFill>
              <a:latin typeface="Pragmatica" panose="020B0403040502020204" pitchFamily="34" charset="0"/>
            </a:endParaRPr>
          </a:p>
          <a:p>
            <a:pPr marL="342900" marR="0" lvl="0" indent="-342900">
              <a:lnSpc>
                <a:spcPct val="115000"/>
              </a:lnSpc>
              <a:spcBef>
                <a:spcPts val="0"/>
              </a:spcBef>
              <a:spcAft>
                <a:spcPts val="0"/>
              </a:spcAft>
              <a:buFont typeface="+mj-lt"/>
              <a:buAutoNum type="arabicPeriod"/>
            </a:pPr>
            <a:r>
              <a:rPr lang="en-US" sz="3200" kern="100" dirty="0">
                <a:solidFill>
                  <a:srgbClr val="CF3338"/>
                </a:solidFill>
                <a:effectLst/>
                <a:latin typeface="Pragmatica" panose="020B0403040502020204"/>
                <a:ea typeface="Aptos" panose="020B0004020202020204" pitchFamily="34" charset="0"/>
                <a:cs typeface="Times New Roman" panose="02020603050405020304" pitchFamily="18" charset="0"/>
              </a:rPr>
              <a:t>Adding required fields</a:t>
            </a:r>
          </a:p>
          <a:p>
            <a:pPr marL="342900" marR="0" lvl="0" indent="-342900">
              <a:lnSpc>
                <a:spcPct val="115000"/>
              </a:lnSpc>
              <a:spcBef>
                <a:spcPts val="0"/>
              </a:spcBef>
              <a:spcAft>
                <a:spcPts val="0"/>
              </a:spcAft>
              <a:buFont typeface="+mj-lt"/>
              <a:buAutoNum type="arabicPeriod"/>
            </a:pPr>
            <a:r>
              <a:rPr lang="en-US" sz="3200" kern="100" dirty="0">
                <a:solidFill>
                  <a:srgbClr val="CF3338"/>
                </a:solidFill>
                <a:latin typeface="Pragmatica" panose="020B0403040502020204"/>
                <a:ea typeface="Aptos" panose="020B0004020202020204" pitchFamily="34" charset="0"/>
                <a:cs typeface="Times New Roman" panose="02020603050405020304" pitchFamily="18" charset="0"/>
              </a:rPr>
              <a:t>Creating data validation dropdowns</a:t>
            </a:r>
          </a:p>
          <a:p>
            <a:pPr marL="342900" marR="0" lvl="0" indent="-342900">
              <a:lnSpc>
                <a:spcPct val="115000"/>
              </a:lnSpc>
              <a:spcBef>
                <a:spcPts val="0"/>
              </a:spcBef>
              <a:spcAft>
                <a:spcPts val="0"/>
              </a:spcAft>
              <a:buFont typeface="+mj-lt"/>
              <a:buAutoNum type="arabicPeriod"/>
            </a:pPr>
            <a:r>
              <a:rPr lang="en-US" sz="3200" kern="100" dirty="0">
                <a:solidFill>
                  <a:srgbClr val="CF3338"/>
                </a:solidFill>
                <a:effectLst/>
                <a:latin typeface="Pragmatica" panose="020B0403040502020204"/>
                <a:ea typeface="Aptos" panose="020B0004020202020204" pitchFamily="34" charset="0"/>
                <a:cs typeface="Times New Roman" panose="02020603050405020304" pitchFamily="18" charset="0"/>
              </a:rPr>
              <a:t>Creating data validation on date ranges</a:t>
            </a:r>
          </a:p>
          <a:p>
            <a:pPr marR="0" lvl="0">
              <a:lnSpc>
                <a:spcPct val="115000"/>
              </a:lnSpc>
              <a:spcBef>
                <a:spcPts val="0"/>
              </a:spcBef>
              <a:spcAft>
                <a:spcPts val="0"/>
              </a:spcAft>
            </a:pPr>
            <a:endParaRPr lang="en-US" sz="3200" kern="100" dirty="0">
              <a:solidFill>
                <a:srgbClr val="CF3338"/>
              </a:solidFill>
              <a:effectLst/>
              <a:latin typeface="Pragmatica" panose="020B0403040502020204"/>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6631753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679BB-E487-A9E3-1278-DBD7FB7F19F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B8E3D40-A823-8428-6682-B724027EAF41}"/>
              </a:ext>
            </a:extLst>
          </p:cNvPr>
          <p:cNvSpPr/>
          <p:nvPr/>
        </p:nvSpPr>
        <p:spPr>
          <a:xfrm>
            <a:off x="9861630" y="0"/>
            <a:ext cx="8426370" cy="10287000"/>
          </a:xfrm>
          <a:prstGeom prst="rect">
            <a:avLst/>
          </a:prstGeom>
          <a:solidFill>
            <a:srgbClr val="CF3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pic>
        <p:nvPicPr>
          <p:cNvPr id="2" name="Picture 1">
            <a:extLst>
              <a:ext uri="{FF2B5EF4-FFF2-40B4-BE49-F238E27FC236}">
                <a16:creationId xmlns:a16="http://schemas.microsoft.com/office/drawing/2014/main" id="{F524E154-15C4-0B23-E9C5-29E2DD497327}"/>
              </a:ext>
            </a:extLst>
          </p:cNvPr>
          <p:cNvPicPr>
            <a:picLocks noChangeAspect="1"/>
          </p:cNvPicPr>
          <p:nvPr/>
        </p:nvPicPr>
        <p:blipFill rotWithShape="1">
          <a:blip r:embed="rId3">
            <a:extLst>
              <a:ext uri="{28A0092B-C50C-407E-A947-70E740481C1C}">
                <a14:useLocalDpi xmlns:a14="http://schemas.microsoft.com/office/drawing/2010/main" val="0"/>
              </a:ext>
            </a:extLst>
          </a:blip>
          <a:srcRect l="69227" t="33418" r="20112" b="50548"/>
          <a:stretch/>
        </p:blipFill>
        <p:spPr>
          <a:xfrm>
            <a:off x="15579524" y="7544693"/>
            <a:ext cx="2708477" cy="2987579"/>
          </a:xfrm>
          <a:prstGeom prst="rect">
            <a:avLst/>
          </a:prstGeom>
        </p:spPr>
      </p:pic>
      <p:sp>
        <p:nvSpPr>
          <p:cNvPr id="3" name="TextBox 2">
            <a:extLst>
              <a:ext uri="{FF2B5EF4-FFF2-40B4-BE49-F238E27FC236}">
                <a16:creationId xmlns:a16="http://schemas.microsoft.com/office/drawing/2014/main" id="{E1343823-9545-2632-2777-4994B59C3581}"/>
              </a:ext>
            </a:extLst>
          </p:cNvPr>
          <p:cNvSpPr txBox="1"/>
          <p:nvPr/>
        </p:nvSpPr>
        <p:spPr>
          <a:xfrm>
            <a:off x="260431" y="329879"/>
            <a:ext cx="8906720" cy="4897366"/>
          </a:xfrm>
          <a:prstGeom prst="rect">
            <a:avLst/>
          </a:prstGeom>
          <a:noFill/>
        </p:spPr>
        <p:txBody>
          <a:bodyPr wrap="square" rtlCol="0">
            <a:spAutoFit/>
          </a:bodyPr>
          <a:lstStyle/>
          <a:p>
            <a:r>
              <a:rPr lang="en-US" sz="6000" b="1" dirty="0">
                <a:solidFill>
                  <a:srgbClr val="CF3338"/>
                </a:solidFill>
                <a:latin typeface="Pragmatica" panose="020B0403040502020204" pitchFamily="34" charset="0"/>
              </a:rPr>
              <a:t>Deploying your Power App</a:t>
            </a:r>
          </a:p>
          <a:p>
            <a:endParaRPr lang="en-US" sz="4200" dirty="0">
              <a:solidFill>
                <a:srgbClr val="CF3338"/>
              </a:solidFill>
              <a:latin typeface="Pragmatica" panose="020B0403040502020204" pitchFamily="34" charset="0"/>
            </a:endParaRPr>
          </a:p>
          <a:p>
            <a:r>
              <a:rPr lang="en-US" sz="4200" dirty="0">
                <a:solidFill>
                  <a:srgbClr val="CF3338"/>
                </a:solidFill>
                <a:latin typeface="Pragmatica" panose="020B0403040502020204" pitchFamily="34" charset="0"/>
              </a:rPr>
              <a:t>Continuing with our example:</a:t>
            </a:r>
          </a:p>
          <a:p>
            <a:endParaRPr lang="en-US" sz="6000" dirty="0">
              <a:solidFill>
                <a:srgbClr val="CF3338"/>
              </a:solidFill>
              <a:latin typeface="Pragmatica" panose="020B0403040502020204" pitchFamily="34" charset="0"/>
            </a:endParaRPr>
          </a:p>
          <a:p>
            <a:pPr marL="342900" marR="0" lvl="0" indent="-342900">
              <a:lnSpc>
                <a:spcPct val="115000"/>
              </a:lnSpc>
              <a:spcBef>
                <a:spcPts val="0"/>
              </a:spcBef>
              <a:spcAft>
                <a:spcPts val="0"/>
              </a:spcAft>
              <a:buFont typeface="+mj-lt"/>
              <a:buAutoNum type="arabicPeriod"/>
            </a:pPr>
            <a:r>
              <a:rPr lang="en-US" sz="3200" kern="100" dirty="0">
                <a:solidFill>
                  <a:srgbClr val="CF3338"/>
                </a:solidFill>
                <a:effectLst/>
                <a:latin typeface="Pragmatica" panose="020B0403040502020204"/>
                <a:ea typeface="Aptos" panose="020B0004020202020204" pitchFamily="34" charset="0"/>
                <a:cs typeface="Times New Roman" panose="02020603050405020304" pitchFamily="18" charset="0"/>
              </a:rPr>
              <a:t>Preparing Excel workbook for external use</a:t>
            </a:r>
          </a:p>
          <a:p>
            <a:pPr marL="342900" marR="0" lvl="0" indent="-342900">
              <a:lnSpc>
                <a:spcPct val="115000"/>
              </a:lnSpc>
              <a:spcBef>
                <a:spcPts val="0"/>
              </a:spcBef>
              <a:spcAft>
                <a:spcPts val="0"/>
              </a:spcAft>
              <a:buFont typeface="+mj-lt"/>
              <a:buAutoNum type="arabicPeriod"/>
            </a:pPr>
            <a:r>
              <a:rPr lang="en-US" sz="3200" kern="100" dirty="0">
                <a:solidFill>
                  <a:srgbClr val="CF3338"/>
                </a:solidFill>
                <a:latin typeface="Pragmatica" panose="020B0403040502020204"/>
                <a:ea typeface="Aptos" panose="020B0004020202020204" pitchFamily="34" charset="0"/>
                <a:cs typeface="Times New Roman" panose="02020603050405020304" pitchFamily="18" charset="0"/>
              </a:rPr>
              <a:t>Migrating our app from development to production via ZIP folder</a:t>
            </a:r>
            <a:endParaRPr lang="en-US" sz="4200" dirty="0">
              <a:solidFill>
                <a:srgbClr val="CF3338"/>
              </a:solidFill>
              <a:latin typeface="Pragmatica" panose="020B0403040502020204" pitchFamily="34" charset="0"/>
            </a:endParaRPr>
          </a:p>
        </p:txBody>
      </p:sp>
    </p:spTree>
    <p:extLst>
      <p:ext uri="{BB962C8B-B14F-4D97-AF65-F5344CB8AC3E}">
        <p14:creationId xmlns:p14="http://schemas.microsoft.com/office/powerpoint/2010/main" val="9460799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C0A7D7-7C73-6748-ED7C-823D116B885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FF099B0-C241-9D8F-6F66-8DF3A6C8C78C}"/>
              </a:ext>
            </a:extLst>
          </p:cNvPr>
          <p:cNvSpPr/>
          <p:nvPr/>
        </p:nvSpPr>
        <p:spPr>
          <a:xfrm>
            <a:off x="9861630" y="0"/>
            <a:ext cx="8426370" cy="10287000"/>
          </a:xfrm>
          <a:prstGeom prst="rect">
            <a:avLst/>
          </a:prstGeom>
          <a:solidFill>
            <a:srgbClr val="CF3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pic>
        <p:nvPicPr>
          <p:cNvPr id="2" name="Picture 1">
            <a:extLst>
              <a:ext uri="{FF2B5EF4-FFF2-40B4-BE49-F238E27FC236}">
                <a16:creationId xmlns:a16="http://schemas.microsoft.com/office/drawing/2014/main" id="{37009866-9C2D-166E-C0AF-AFB64B0A7C55}"/>
              </a:ext>
            </a:extLst>
          </p:cNvPr>
          <p:cNvPicPr>
            <a:picLocks noChangeAspect="1"/>
          </p:cNvPicPr>
          <p:nvPr/>
        </p:nvPicPr>
        <p:blipFill rotWithShape="1">
          <a:blip r:embed="rId3">
            <a:extLst>
              <a:ext uri="{28A0092B-C50C-407E-A947-70E740481C1C}">
                <a14:useLocalDpi xmlns:a14="http://schemas.microsoft.com/office/drawing/2010/main" val="0"/>
              </a:ext>
            </a:extLst>
          </a:blip>
          <a:srcRect l="69227" t="33418" r="20112" b="50548"/>
          <a:stretch/>
        </p:blipFill>
        <p:spPr>
          <a:xfrm>
            <a:off x="15579524" y="7544693"/>
            <a:ext cx="2708477" cy="2987579"/>
          </a:xfrm>
          <a:prstGeom prst="rect">
            <a:avLst/>
          </a:prstGeom>
        </p:spPr>
      </p:pic>
      <p:sp>
        <p:nvSpPr>
          <p:cNvPr id="3" name="TextBox 2">
            <a:extLst>
              <a:ext uri="{FF2B5EF4-FFF2-40B4-BE49-F238E27FC236}">
                <a16:creationId xmlns:a16="http://schemas.microsoft.com/office/drawing/2014/main" id="{66D3EED5-4019-81EE-EB75-DDA5FF2D412E}"/>
              </a:ext>
            </a:extLst>
          </p:cNvPr>
          <p:cNvSpPr txBox="1"/>
          <p:nvPr/>
        </p:nvSpPr>
        <p:spPr>
          <a:xfrm>
            <a:off x="260431" y="329879"/>
            <a:ext cx="8906720" cy="4528034"/>
          </a:xfrm>
          <a:prstGeom prst="rect">
            <a:avLst/>
          </a:prstGeom>
          <a:noFill/>
        </p:spPr>
        <p:txBody>
          <a:bodyPr wrap="square" rtlCol="0">
            <a:spAutoFit/>
          </a:bodyPr>
          <a:lstStyle/>
          <a:p>
            <a:r>
              <a:rPr lang="en-US" sz="6000" b="1" dirty="0">
                <a:solidFill>
                  <a:srgbClr val="CF3338"/>
                </a:solidFill>
                <a:latin typeface="Pragmatica" panose="020B0403040502020204" pitchFamily="34" charset="0"/>
              </a:rPr>
              <a:t>Creating a Power App with images</a:t>
            </a:r>
          </a:p>
          <a:p>
            <a:endParaRPr lang="en-US" sz="6000" dirty="0">
              <a:solidFill>
                <a:srgbClr val="CF3338"/>
              </a:solidFill>
              <a:latin typeface="Pragmatica" panose="020B0403040502020204" pitchFamily="34" charset="0"/>
            </a:endParaRPr>
          </a:p>
          <a:p>
            <a:pPr marL="342900" marR="0" lvl="0" indent="-342900">
              <a:lnSpc>
                <a:spcPct val="115000"/>
              </a:lnSpc>
              <a:spcBef>
                <a:spcPts val="0"/>
              </a:spcBef>
              <a:spcAft>
                <a:spcPts val="0"/>
              </a:spcAft>
              <a:buFont typeface="+mj-lt"/>
              <a:buAutoNum type="arabicPeriod"/>
            </a:pPr>
            <a:r>
              <a:rPr lang="en-US" sz="3200" kern="100" dirty="0">
                <a:solidFill>
                  <a:srgbClr val="CF3338"/>
                </a:solidFill>
                <a:effectLst/>
                <a:latin typeface="Pragmatica" panose="020B0403040502020204"/>
                <a:ea typeface="Aptos" panose="020B0004020202020204" pitchFamily="34" charset="0"/>
                <a:cs typeface="Times New Roman" panose="02020603050405020304" pitchFamily="18" charset="0"/>
              </a:rPr>
              <a:t>Folder: </a:t>
            </a:r>
            <a:r>
              <a:rPr lang="en-US" sz="3200" kern="100" dirty="0">
                <a:solidFill>
                  <a:srgbClr val="CF3338"/>
                </a:solidFill>
                <a:effectLst/>
                <a:latin typeface="Consolas" panose="020B0609020204030204" pitchFamily="49" charset="0"/>
                <a:ea typeface="Aptos" panose="020B0004020202020204" pitchFamily="34" charset="0"/>
                <a:cs typeface="Times New Roman" panose="02020603050405020304" pitchFamily="18" charset="0"/>
              </a:rPr>
              <a:t>power-apps-challenge</a:t>
            </a:r>
          </a:p>
          <a:p>
            <a:pPr marL="342900" marR="0" lvl="0" indent="-342900">
              <a:lnSpc>
                <a:spcPct val="115000"/>
              </a:lnSpc>
              <a:spcBef>
                <a:spcPts val="0"/>
              </a:spcBef>
              <a:spcAft>
                <a:spcPts val="0"/>
              </a:spcAft>
              <a:buFont typeface="+mj-lt"/>
              <a:buAutoNum type="arabicPeriod"/>
            </a:pPr>
            <a:r>
              <a:rPr lang="en-US" sz="3200" kern="100" dirty="0">
                <a:solidFill>
                  <a:srgbClr val="CF3338"/>
                </a:solidFill>
                <a:latin typeface="Pragmatica" panose="020B0403040502020204"/>
                <a:cs typeface="Times New Roman" panose="02020603050405020304" pitchFamily="18" charset="0"/>
              </a:rPr>
              <a:t>Turn this into an app with photos!</a:t>
            </a:r>
          </a:p>
          <a:p>
            <a:pPr marL="342900" marR="0" lvl="0" indent="-342900">
              <a:lnSpc>
                <a:spcPct val="115000"/>
              </a:lnSpc>
              <a:spcBef>
                <a:spcPts val="0"/>
              </a:spcBef>
              <a:spcAft>
                <a:spcPts val="0"/>
              </a:spcAft>
              <a:buFont typeface="+mj-lt"/>
              <a:buAutoNum type="arabicPeriod"/>
            </a:pPr>
            <a:r>
              <a:rPr lang="en-US" sz="3200" kern="100" dirty="0">
                <a:solidFill>
                  <a:srgbClr val="CF3338"/>
                </a:solidFill>
                <a:latin typeface="Pragmatica" panose="020B0403040502020204"/>
                <a:cs typeface="Times New Roman" panose="02020603050405020304" pitchFamily="18" charset="0"/>
              </a:rPr>
              <a:t>Use image URLs to populate values</a:t>
            </a:r>
          </a:p>
        </p:txBody>
      </p:sp>
    </p:spTree>
    <p:extLst>
      <p:ext uri="{BB962C8B-B14F-4D97-AF65-F5344CB8AC3E}">
        <p14:creationId xmlns:p14="http://schemas.microsoft.com/office/powerpoint/2010/main" val="27891967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rotWithShape="1">
          <a:blip r:embed="rId2">
            <a:extLst>
              <a:ext uri="{28A0092B-C50C-407E-A947-70E740481C1C}">
                <a14:useLocalDpi xmlns:a14="http://schemas.microsoft.com/office/drawing/2010/main" val="0"/>
              </a:ext>
            </a:extLst>
          </a:blip>
          <a:srcRect l="50728" t="56371"/>
          <a:stretch/>
        </p:blipFill>
        <p:spPr>
          <a:xfrm>
            <a:off x="12204691" y="3316148"/>
            <a:ext cx="6083309" cy="6970854"/>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7744" y="-3724155"/>
            <a:ext cx="15257208" cy="11189825"/>
          </a:xfrm>
          <a:prstGeom prst="rect">
            <a:avLst/>
          </a:prstGeom>
        </p:spPr>
      </p:pic>
      <p:sp>
        <p:nvSpPr>
          <p:cNvPr id="11" name="TextBox 10"/>
          <p:cNvSpPr txBox="1"/>
          <p:nvPr/>
        </p:nvSpPr>
        <p:spPr>
          <a:xfrm>
            <a:off x="486137" y="2531318"/>
            <a:ext cx="11979797" cy="923330"/>
          </a:xfrm>
          <a:prstGeom prst="rect">
            <a:avLst/>
          </a:prstGeom>
          <a:noFill/>
        </p:spPr>
        <p:txBody>
          <a:bodyPr wrap="square" rtlCol="0">
            <a:spAutoFit/>
          </a:bodyPr>
          <a:lstStyle/>
          <a:p>
            <a:r>
              <a:rPr lang="en-US" sz="5400" b="1" dirty="0">
                <a:solidFill>
                  <a:srgbClr val="CF3338"/>
                </a:solidFill>
                <a:latin typeface="Pragmatica" panose="020B0403040502020204" pitchFamily="34" charset="0"/>
              </a:rPr>
              <a:t>Questions?</a:t>
            </a:r>
          </a:p>
        </p:txBody>
      </p:sp>
      <p:pic>
        <p:nvPicPr>
          <p:cNvPr id="5" name="Picture 4">
            <a:extLst>
              <a:ext uri="{FF2B5EF4-FFF2-40B4-BE49-F238E27FC236}">
                <a16:creationId xmlns:a16="http://schemas.microsoft.com/office/drawing/2014/main" id="{54A06221-5316-4BCF-9FDA-BDB95FF4A77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2204691" y="3317239"/>
            <a:ext cx="6083309" cy="6968672"/>
          </a:xfrm>
          <a:prstGeom prst="rect">
            <a:avLst/>
          </a:prstGeom>
        </p:spPr>
      </p:pic>
    </p:spTree>
    <p:extLst>
      <p:ext uri="{BB962C8B-B14F-4D97-AF65-F5344CB8AC3E}">
        <p14:creationId xmlns:p14="http://schemas.microsoft.com/office/powerpoint/2010/main" val="28693362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F6D5DC-EA3C-E22F-A188-808D0DC3B32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D3C7565-6456-54EE-AD54-0EF02726C058}"/>
              </a:ext>
            </a:extLst>
          </p:cNvPr>
          <p:cNvSpPr/>
          <p:nvPr/>
        </p:nvSpPr>
        <p:spPr>
          <a:xfrm>
            <a:off x="0" y="0"/>
            <a:ext cx="18288000" cy="10287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5" name="TextBox 4">
            <a:extLst>
              <a:ext uri="{FF2B5EF4-FFF2-40B4-BE49-F238E27FC236}">
                <a16:creationId xmlns:a16="http://schemas.microsoft.com/office/drawing/2014/main" id="{4EFA60D4-E05C-4B25-8420-DBDA1435F9EF}"/>
              </a:ext>
            </a:extLst>
          </p:cNvPr>
          <p:cNvSpPr txBox="1"/>
          <p:nvPr/>
        </p:nvSpPr>
        <p:spPr>
          <a:xfrm>
            <a:off x="781292" y="590309"/>
            <a:ext cx="15486926" cy="3139321"/>
          </a:xfrm>
          <a:prstGeom prst="rect">
            <a:avLst/>
          </a:prstGeom>
          <a:noFill/>
        </p:spPr>
        <p:txBody>
          <a:bodyPr wrap="square" rtlCol="0">
            <a:spAutoFit/>
          </a:bodyPr>
          <a:lstStyle/>
          <a:p>
            <a:r>
              <a:rPr lang="en-US" sz="9900" b="1" dirty="0">
                <a:solidFill>
                  <a:schemeClr val="bg1"/>
                </a:solidFill>
                <a:latin typeface="Normafixed Tryout" panose="00000409000000000000" pitchFamily="49" charset="0"/>
              </a:rPr>
              <a:t>Creating chatbots with Copilot Studio</a:t>
            </a:r>
          </a:p>
        </p:txBody>
      </p:sp>
    </p:spTree>
    <p:extLst>
      <p:ext uri="{BB962C8B-B14F-4D97-AF65-F5344CB8AC3E}">
        <p14:creationId xmlns:p14="http://schemas.microsoft.com/office/powerpoint/2010/main" val="34680945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7B6D4-A9E1-18F2-6B90-35C6049AD10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6E0BF99-428F-FCDD-2CFB-DD415B3C63E1}"/>
              </a:ext>
            </a:extLst>
          </p:cNvPr>
          <p:cNvSpPr/>
          <p:nvPr/>
        </p:nvSpPr>
        <p:spPr>
          <a:xfrm>
            <a:off x="9861630" y="0"/>
            <a:ext cx="8426370" cy="10287000"/>
          </a:xfrm>
          <a:prstGeom prst="rect">
            <a:avLst/>
          </a:prstGeom>
          <a:solidFill>
            <a:srgbClr val="CF3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pic>
        <p:nvPicPr>
          <p:cNvPr id="2" name="Picture 1">
            <a:extLst>
              <a:ext uri="{FF2B5EF4-FFF2-40B4-BE49-F238E27FC236}">
                <a16:creationId xmlns:a16="http://schemas.microsoft.com/office/drawing/2014/main" id="{84C0E755-7B20-E689-DED8-011B122B9B5A}"/>
              </a:ext>
            </a:extLst>
          </p:cNvPr>
          <p:cNvPicPr>
            <a:picLocks noChangeAspect="1"/>
          </p:cNvPicPr>
          <p:nvPr/>
        </p:nvPicPr>
        <p:blipFill rotWithShape="1">
          <a:blip r:embed="rId3">
            <a:extLst>
              <a:ext uri="{28A0092B-C50C-407E-A947-70E740481C1C}">
                <a14:useLocalDpi xmlns:a14="http://schemas.microsoft.com/office/drawing/2010/main" val="0"/>
              </a:ext>
            </a:extLst>
          </a:blip>
          <a:srcRect l="69227" t="33418" r="20112" b="50548"/>
          <a:stretch/>
        </p:blipFill>
        <p:spPr>
          <a:xfrm>
            <a:off x="15579524" y="7544693"/>
            <a:ext cx="2708477" cy="2987579"/>
          </a:xfrm>
          <a:prstGeom prst="rect">
            <a:avLst/>
          </a:prstGeom>
        </p:spPr>
      </p:pic>
      <p:sp>
        <p:nvSpPr>
          <p:cNvPr id="3" name="TextBox 2">
            <a:extLst>
              <a:ext uri="{FF2B5EF4-FFF2-40B4-BE49-F238E27FC236}">
                <a16:creationId xmlns:a16="http://schemas.microsoft.com/office/drawing/2014/main" id="{45C6A793-A02D-6141-B68A-AED83B08EEA7}"/>
              </a:ext>
            </a:extLst>
          </p:cNvPr>
          <p:cNvSpPr txBox="1"/>
          <p:nvPr/>
        </p:nvSpPr>
        <p:spPr>
          <a:xfrm>
            <a:off x="260431" y="329879"/>
            <a:ext cx="8906720" cy="9480031"/>
          </a:xfrm>
          <a:prstGeom prst="rect">
            <a:avLst/>
          </a:prstGeom>
          <a:noFill/>
        </p:spPr>
        <p:txBody>
          <a:bodyPr wrap="square" rtlCol="0">
            <a:spAutoFit/>
          </a:bodyPr>
          <a:lstStyle/>
          <a:p>
            <a:r>
              <a:rPr lang="en-US" sz="6000" b="1" dirty="0">
                <a:solidFill>
                  <a:srgbClr val="CF3338"/>
                </a:solidFill>
                <a:latin typeface="Pragmatica" panose="020B0403040502020204" pitchFamily="34" charset="0"/>
              </a:rPr>
              <a:t>Creating an Excel MVP chatbot</a:t>
            </a:r>
          </a:p>
          <a:p>
            <a:endParaRPr lang="en-US" sz="4200" dirty="0">
              <a:solidFill>
                <a:srgbClr val="CF3338"/>
              </a:solidFill>
              <a:latin typeface="Pragmatica" panose="020B0403040502020204" pitchFamily="34" charset="0"/>
            </a:endParaRPr>
          </a:p>
          <a:p>
            <a:pPr marL="685800" indent="-542925">
              <a:lnSpc>
                <a:spcPct val="115000"/>
              </a:lnSpc>
              <a:spcBef>
                <a:spcPts val="1125"/>
              </a:spcBef>
              <a:buClr>
                <a:srgbClr val="C00000"/>
              </a:buClr>
              <a:buSzPts val="2100"/>
              <a:buFont typeface="Arial"/>
              <a:buAutoNum type="arabicPeriod"/>
            </a:pPr>
            <a:r>
              <a:rPr lang="en-US" sz="3600" dirty="0">
                <a:solidFill>
                  <a:srgbClr val="C00000"/>
                </a:solidFill>
                <a:latin typeface="Pragmatica" panose="020B0403040502020204"/>
                <a:sym typeface="Consolas"/>
              </a:rPr>
              <a:t>Create a custom Copilot agent in Copilot Studio tailored for specific Excel-related use cases</a:t>
            </a:r>
          </a:p>
          <a:p>
            <a:pPr marL="685800" indent="-542925">
              <a:lnSpc>
                <a:spcPct val="115000"/>
              </a:lnSpc>
              <a:spcBef>
                <a:spcPts val="1125"/>
              </a:spcBef>
              <a:buClr>
                <a:srgbClr val="C00000"/>
              </a:buClr>
              <a:buSzPts val="2100"/>
              <a:buFont typeface="Arial"/>
              <a:buAutoNum type="arabicPeriod"/>
            </a:pPr>
            <a:r>
              <a:rPr lang="en-US" sz="3600" dirty="0">
                <a:solidFill>
                  <a:srgbClr val="C00000"/>
                </a:solidFill>
                <a:latin typeface="Pragmatica" panose="020B0403040502020204"/>
                <a:sym typeface="Consolas"/>
              </a:rPr>
              <a:t>Add and manage trusted knowledge sources (like MVP websites) to ensure high-quality, domain-specific responses</a:t>
            </a:r>
          </a:p>
          <a:p>
            <a:pPr marL="685800" indent="-542925">
              <a:lnSpc>
                <a:spcPct val="115000"/>
              </a:lnSpc>
              <a:spcBef>
                <a:spcPts val="1125"/>
              </a:spcBef>
              <a:buClr>
                <a:srgbClr val="C00000"/>
              </a:buClr>
              <a:buSzPts val="2100"/>
              <a:buFont typeface="Arial"/>
              <a:buAutoNum type="arabicPeriod"/>
            </a:pPr>
            <a:r>
              <a:rPr lang="en-US" sz="3600" dirty="0">
                <a:solidFill>
                  <a:srgbClr val="C00000"/>
                </a:solidFill>
                <a:latin typeface="Pragmatica" panose="020B0403040502020204"/>
                <a:sym typeface="Consolas"/>
              </a:rPr>
              <a:t>Test and publish the agent with simple topics added </a:t>
            </a:r>
          </a:p>
          <a:p>
            <a:pPr marL="142875">
              <a:lnSpc>
                <a:spcPct val="115000"/>
              </a:lnSpc>
              <a:spcBef>
                <a:spcPts val="1125"/>
              </a:spcBef>
              <a:buClr>
                <a:srgbClr val="C00000"/>
              </a:buClr>
              <a:buSzPts val="2100"/>
            </a:pPr>
            <a:r>
              <a:rPr lang="en-US" sz="3600" dirty="0">
                <a:solidFill>
                  <a:srgbClr val="C00000"/>
                </a:solidFill>
                <a:latin typeface="Pragmatica" panose="020B0403040502020204"/>
                <a:sym typeface="Consolas"/>
              </a:rPr>
              <a:t>File: </a:t>
            </a:r>
            <a:r>
              <a:rPr lang="en-US" sz="3600" dirty="0">
                <a:solidFill>
                  <a:srgbClr val="C00000"/>
                </a:solidFill>
                <a:latin typeface="Consolas" panose="020B0609020204030204" pitchFamily="49" charset="0"/>
                <a:sym typeface="Consolas"/>
              </a:rPr>
              <a:t>mvp-knowledge-base-instructions.docx</a:t>
            </a:r>
          </a:p>
        </p:txBody>
      </p:sp>
    </p:spTree>
    <p:extLst>
      <p:ext uri="{BB962C8B-B14F-4D97-AF65-F5344CB8AC3E}">
        <p14:creationId xmlns:p14="http://schemas.microsoft.com/office/powerpoint/2010/main" val="4716171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F16D8-236A-A1EE-2E6B-D238CF62101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5C073BB-FF1D-1723-0D36-10C4F07885DC}"/>
              </a:ext>
            </a:extLst>
          </p:cNvPr>
          <p:cNvSpPr/>
          <p:nvPr/>
        </p:nvSpPr>
        <p:spPr>
          <a:xfrm>
            <a:off x="13030200" y="0"/>
            <a:ext cx="5257800" cy="10287000"/>
          </a:xfrm>
          <a:prstGeom prst="rect">
            <a:avLst/>
          </a:prstGeom>
          <a:solidFill>
            <a:srgbClr val="CF3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pic>
        <p:nvPicPr>
          <p:cNvPr id="2" name="Picture 1">
            <a:extLst>
              <a:ext uri="{FF2B5EF4-FFF2-40B4-BE49-F238E27FC236}">
                <a16:creationId xmlns:a16="http://schemas.microsoft.com/office/drawing/2014/main" id="{019A2EA5-2289-3368-4DB5-5B75B0B27999}"/>
              </a:ext>
            </a:extLst>
          </p:cNvPr>
          <p:cNvPicPr>
            <a:picLocks noChangeAspect="1"/>
          </p:cNvPicPr>
          <p:nvPr/>
        </p:nvPicPr>
        <p:blipFill rotWithShape="1">
          <a:blip r:embed="rId3">
            <a:extLst>
              <a:ext uri="{28A0092B-C50C-407E-A947-70E740481C1C}">
                <a14:useLocalDpi xmlns:a14="http://schemas.microsoft.com/office/drawing/2010/main" val="0"/>
              </a:ext>
            </a:extLst>
          </a:blip>
          <a:srcRect l="69227" t="33418" r="20112" b="50548"/>
          <a:stretch/>
        </p:blipFill>
        <p:spPr>
          <a:xfrm>
            <a:off x="15579524" y="7544693"/>
            <a:ext cx="2708477" cy="2987579"/>
          </a:xfrm>
          <a:prstGeom prst="rect">
            <a:avLst/>
          </a:prstGeom>
        </p:spPr>
      </p:pic>
      <p:sp>
        <p:nvSpPr>
          <p:cNvPr id="3" name="TextBox 2">
            <a:extLst>
              <a:ext uri="{FF2B5EF4-FFF2-40B4-BE49-F238E27FC236}">
                <a16:creationId xmlns:a16="http://schemas.microsoft.com/office/drawing/2014/main" id="{ED4BEF65-F57B-2F9E-3433-5C9A22961B50}"/>
              </a:ext>
            </a:extLst>
          </p:cNvPr>
          <p:cNvSpPr txBox="1"/>
          <p:nvPr/>
        </p:nvSpPr>
        <p:spPr>
          <a:xfrm>
            <a:off x="260430" y="329879"/>
            <a:ext cx="11855369" cy="8845370"/>
          </a:xfrm>
          <a:prstGeom prst="rect">
            <a:avLst/>
          </a:prstGeom>
          <a:noFill/>
        </p:spPr>
        <p:txBody>
          <a:bodyPr wrap="square" rtlCol="0">
            <a:spAutoFit/>
          </a:bodyPr>
          <a:lstStyle/>
          <a:p>
            <a:r>
              <a:rPr lang="en-US" sz="6000" b="1" dirty="0">
                <a:solidFill>
                  <a:srgbClr val="CF3338"/>
                </a:solidFill>
                <a:latin typeface="Pragmatica" panose="020B0403040502020204" pitchFamily="34" charset="0"/>
              </a:rPr>
              <a:t>Exercise: Create an Excel keyboard shortcut chatbot for Teams</a:t>
            </a:r>
          </a:p>
          <a:p>
            <a:endParaRPr lang="en-US" sz="4200" dirty="0">
              <a:solidFill>
                <a:srgbClr val="CF3338"/>
              </a:solidFill>
              <a:latin typeface="Pragmatica" panose="020B0403040502020204" pitchFamily="34" charset="0"/>
            </a:endParaRPr>
          </a:p>
          <a:p>
            <a:pPr marL="685800" indent="-542925">
              <a:lnSpc>
                <a:spcPct val="115000"/>
              </a:lnSpc>
              <a:spcBef>
                <a:spcPts val="1125"/>
              </a:spcBef>
              <a:buClr>
                <a:srgbClr val="C00000"/>
              </a:buClr>
              <a:buSzPts val="2100"/>
              <a:buFont typeface="Arial"/>
              <a:buAutoNum type="arabicPeriod"/>
            </a:pPr>
            <a:r>
              <a:rPr lang="en-US" sz="3600" dirty="0">
                <a:solidFill>
                  <a:srgbClr val="C00000"/>
                </a:solidFill>
                <a:latin typeface="Pragmatica" panose="020B0403040502020204"/>
                <a:sym typeface="Consolas"/>
              </a:rPr>
              <a:t>Create a chatbot that helps users find Excel keyboard shortcuts, using only the provided “Excel keyboard shortcuts” cheat sheet as its knowledge base</a:t>
            </a:r>
          </a:p>
          <a:p>
            <a:pPr marL="685800" indent="-542925">
              <a:lnSpc>
                <a:spcPct val="115000"/>
              </a:lnSpc>
              <a:spcBef>
                <a:spcPts val="1125"/>
              </a:spcBef>
              <a:buClr>
                <a:srgbClr val="C00000"/>
              </a:buClr>
              <a:buSzPts val="2100"/>
              <a:buFont typeface="Arial"/>
              <a:buAutoNum type="arabicPeriod"/>
            </a:pPr>
            <a:r>
              <a:rPr lang="en-US" sz="3600" dirty="0">
                <a:solidFill>
                  <a:srgbClr val="C00000"/>
                </a:solidFill>
                <a:latin typeface="Pragmatica" panose="020B0403040502020204"/>
                <a:sym typeface="Consolas"/>
              </a:rPr>
              <a:t>Edit the “goodbye” topic to replace the default response (“okay, goodbye”) with a more engaging sign-off like “Keep on excelling,” then save and test </a:t>
            </a:r>
          </a:p>
          <a:p>
            <a:pPr marL="685800" indent="-542925">
              <a:lnSpc>
                <a:spcPct val="115000"/>
              </a:lnSpc>
              <a:spcBef>
                <a:spcPts val="1125"/>
              </a:spcBef>
              <a:buClr>
                <a:srgbClr val="C00000"/>
              </a:buClr>
              <a:buSzPts val="2100"/>
              <a:buFont typeface="Arial"/>
              <a:buAutoNum type="arabicPeriod"/>
            </a:pPr>
            <a:r>
              <a:rPr lang="en-US" sz="3600" dirty="0">
                <a:solidFill>
                  <a:srgbClr val="C00000"/>
                </a:solidFill>
                <a:latin typeface="Pragmatica" panose="020B0403040502020204"/>
                <a:sym typeface="Consolas"/>
              </a:rPr>
              <a:t>Publish the chatbot and launch it in Microsoft Teams to see it running inside an external app</a:t>
            </a:r>
          </a:p>
          <a:p>
            <a:pPr marL="142875">
              <a:lnSpc>
                <a:spcPct val="115000"/>
              </a:lnSpc>
              <a:spcBef>
                <a:spcPts val="1125"/>
              </a:spcBef>
              <a:buClr>
                <a:srgbClr val="C00000"/>
              </a:buClr>
              <a:buSzPts val="2100"/>
            </a:pPr>
            <a:r>
              <a:rPr lang="en-US" sz="3600" dirty="0">
                <a:solidFill>
                  <a:srgbClr val="C00000"/>
                </a:solidFill>
                <a:latin typeface="Pragmatica" panose="020B0403040502020204"/>
                <a:sym typeface="Consolas"/>
              </a:rPr>
              <a:t>Folder: </a:t>
            </a:r>
            <a:r>
              <a:rPr lang="en-US" sz="3600" dirty="0">
                <a:solidFill>
                  <a:srgbClr val="C00000"/>
                </a:solidFill>
                <a:latin typeface="Consolas" panose="020B0609020204030204" pitchFamily="49" charset="0"/>
                <a:sym typeface="Consolas"/>
              </a:rPr>
              <a:t>copilot-studio-exercise</a:t>
            </a:r>
          </a:p>
        </p:txBody>
      </p:sp>
    </p:spTree>
    <p:extLst>
      <p:ext uri="{BB962C8B-B14F-4D97-AF65-F5344CB8AC3E}">
        <p14:creationId xmlns:p14="http://schemas.microsoft.com/office/powerpoint/2010/main" val="36269835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F8FFE-158A-9FDC-051A-D88206B6219A}"/>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1A854B57-40B5-4E04-E438-9349D85A32C2}"/>
              </a:ext>
            </a:extLst>
          </p:cNvPr>
          <p:cNvPicPr>
            <a:picLocks noChangeAspect="1"/>
          </p:cNvPicPr>
          <p:nvPr/>
        </p:nvPicPr>
        <p:blipFill rotWithShape="1">
          <a:blip r:embed="rId2">
            <a:extLst>
              <a:ext uri="{28A0092B-C50C-407E-A947-70E740481C1C}">
                <a14:useLocalDpi xmlns:a14="http://schemas.microsoft.com/office/drawing/2010/main" val="0"/>
              </a:ext>
            </a:extLst>
          </a:blip>
          <a:srcRect l="50728" t="56371"/>
          <a:stretch/>
        </p:blipFill>
        <p:spPr>
          <a:xfrm>
            <a:off x="12204691" y="3316148"/>
            <a:ext cx="6083309" cy="6970854"/>
          </a:xfrm>
          <a:prstGeom prst="rect">
            <a:avLst/>
          </a:prstGeom>
        </p:spPr>
      </p:pic>
      <p:pic>
        <p:nvPicPr>
          <p:cNvPr id="4" name="Picture 3">
            <a:extLst>
              <a:ext uri="{FF2B5EF4-FFF2-40B4-BE49-F238E27FC236}">
                <a16:creationId xmlns:a16="http://schemas.microsoft.com/office/drawing/2014/main" id="{A1F26F84-9A6D-C7B1-105C-C9F00C2A4C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7744" y="-3724155"/>
            <a:ext cx="15257208" cy="11189825"/>
          </a:xfrm>
          <a:prstGeom prst="rect">
            <a:avLst/>
          </a:prstGeom>
        </p:spPr>
      </p:pic>
      <p:sp>
        <p:nvSpPr>
          <p:cNvPr id="11" name="TextBox 10">
            <a:extLst>
              <a:ext uri="{FF2B5EF4-FFF2-40B4-BE49-F238E27FC236}">
                <a16:creationId xmlns:a16="http://schemas.microsoft.com/office/drawing/2014/main" id="{19435C5F-0C01-26A6-7F3B-19F80F4301AF}"/>
              </a:ext>
            </a:extLst>
          </p:cNvPr>
          <p:cNvSpPr txBox="1"/>
          <p:nvPr/>
        </p:nvSpPr>
        <p:spPr>
          <a:xfrm>
            <a:off x="486137" y="2531318"/>
            <a:ext cx="11979797" cy="923330"/>
          </a:xfrm>
          <a:prstGeom prst="rect">
            <a:avLst/>
          </a:prstGeom>
          <a:noFill/>
        </p:spPr>
        <p:txBody>
          <a:bodyPr wrap="square" rtlCol="0">
            <a:spAutoFit/>
          </a:bodyPr>
          <a:lstStyle/>
          <a:p>
            <a:r>
              <a:rPr lang="en-US" sz="5400" b="1" dirty="0">
                <a:solidFill>
                  <a:srgbClr val="CF3338"/>
                </a:solidFill>
                <a:latin typeface="Pragmatica" panose="020B0403040502020204" pitchFamily="34" charset="0"/>
              </a:rPr>
              <a:t>Questions?</a:t>
            </a:r>
          </a:p>
        </p:txBody>
      </p:sp>
      <p:pic>
        <p:nvPicPr>
          <p:cNvPr id="5" name="Picture 4">
            <a:extLst>
              <a:ext uri="{FF2B5EF4-FFF2-40B4-BE49-F238E27FC236}">
                <a16:creationId xmlns:a16="http://schemas.microsoft.com/office/drawing/2014/main" id="{7A25274D-8C42-1ECF-607F-63D6238B83A1}"/>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2204691" y="3317239"/>
            <a:ext cx="6083309" cy="6968672"/>
          </a:xfrm>
          <a:prstGeom prst="rect">
            <a:avLst/>
          </a:prstGeom>
        </p:spPr>
      </p:pic>
    </p:spTree>
    <p:extLst>
      <p:ext uri="{BB962C8B-B14F-4D97-AF65-F5344CB8AC3E}">
        <p14:creationId xmlns:p14="http://schemas.microsoft.com/office/powerpoint/2010/main" val="1872379824"/>
      </p:ext>
    </p:extLst>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TextBox 10"/>
          <p:cNvSpPr txBox="1"/>
          <p:nvPr/>
        </p:nvSpPr>
        <p:spPr>
          <a:xfrm>
            <a:off x="520861" y="170082"/>
            <a:ext cx="11979797" cy="1477328"/>
          </a:xfrm>
          <a:prstGeom prst="rect">
            <a:avLst/>
          </a:prstGeom>
          <a:noFill/>
        </p:spPr>
        <p:txBody>
          <a:bodyPr wrap="square" rtlCol="0">
            <a:spAutoFit/>
          </a:bodyPr>
          <a:lstStyle/>
          <a:p>
            <a:r>
              <a:rPr lang="en-US" sz="9000" dirty="0">
                <a:latin typeface="Aliens &amp; cows" panose="00000500000000000000" pitchFamily="2" charset="0"/>
              </a:rPr>
              <a:t>Pulling it all together</a:t>
            </a:r>
          </a:p>
        </p:txBody>
      </p:sp>
      <p:sp>
        <p:nvSpPr>
          <p:cNvPr id="3" name="TextBox 2"/>
          <p:cNvSpPr txBox="1"/>
          <p:nvPr/>
        </p:nvSpPr>
        <p:spPr>
          <a:xfrm>
            <a:off x="685800" y="2628900"/>
            <a:ext cx="16230600" cy="6740307"/>
          </a:xfrm>
          <a:prstGeom prst="rect">
            <a:avLst/>
          </a:prstGeom>
          <a:noFill/>
        </p:spPr>
        <p:txBody>
          <a:bodyPr wrap="square" rtlCol="0">
            <a:spAutoFit/>
          </a:bodyPr>
          <a:lstStyle/>
          <a:p>
            <a:pPr marL="685800" indent="-685800">
              <a:buClr>
                <a:srgbClr val="CF3338"/>
              </a:buClr>
              <a:buFont typeface="Arial" panose="020B0604020202020204" pitchFamily="34" charset="0"/>
              <a:buChar char="•"/>
            </a:pPr>
            <a:r>
              <a:rPr lang="en-US" sz="4800" dirty="0">
                <a:solidFill>
                  <a:srgbClr val="707070"/>
                </a:solidFill>
                <a:latin typeface="Pragmatica" panose="020B0403040502020204" pitchFamily="34" charset="0"/>
              </a:rPr>
              <a:t>Power Platform extends Excel into automation, dashboards, apps, and AI — start with the tool that solves your biggest pain point</a:t>
            </a:r>
          </a:p>
          <a:p>
            <a:pPr marL="685800" indent="-685800">
              <a:buClr>
                <a:srgbClr val="CF3338"/>
              </a:buClr>
              <a:buFont typeface="Arial" panose="020B0604020202020204" pitchFamily="34" charset="0"/>
              <a:buChar char="•"/>
            </a:pPr>
            <a:r>
              <a:rPr lang="en-US" sz="4800" dirty="0">
                <a:solidFill>
                  <a:srgbClr val="707070"/>
                </a:solidFill>
                <a:latin typeface="Pragmatica" panose="020B0403040502020204" pitchFamily="34" charset="0"/>
              </a:rPr>
              <a:t>Combine components for end-to-end workflows: collect data in Power Apps, automate with Power Automate, visualize in Power BI</a:t>
            </a:r>
          </a:p>
          <a:p>
            <a:pPr marL="685800" indent="-685800">
              <a:buClr>
                <a:srgbClr val="CF3338"/>
              </a:buClr>
              <a:buFont typeface="Arial" panose="020B0604020202020204" pitchFamily="34" charset="0"/>
              <a:buChar char="•"/>
            </a:pPr>
            <a:r>
              <a:rPr lang="en-US" sz="4800" dirty="0">
                <a:solidFill>
                  <a:srgbClr val="707070"/>
                </a:solidFill>
                <a:latin typeface="Pragmatica" panose="020B0403040502020204" pitchFamily="34" charset="0"/>
              </a:rPr>
              <a:t>Use governance and sharing best practices when deploying flows, apps, and reports across your organization</a:t>
            </a:r>
          </a:p>
          <a:p>
            <a:pPr marL="685800" indent="-685800">
              <a:buClr>
                <a:srgbClr val="CF3338"/>
              </a:buClr>
              <a:buFont typeface="Arial" panose="020B0604020202020204" pitchFamily="34" charset="0"/>
              <a:buChar char="•"/>
            </a:pPr>
            <a:r>
              <a:rPr lang="en-US" sz="4800" dirty="0">
                <a:solidFill>
                  <a:srgbClr val="707070"/>
                </a:solidFill>
                <a:latin typeface="Pragmatica" panose="020B0403040502020204" pitchFamily="34" charset="0"/>
              </a:rPr>
              <a:t>Keep experimenting with free trials and Copilot to grow into a Power Platform champion in your organization</a:t>
            </a:r>
            <a:r>
              <a:rPr lang="en-US" sz="4800" dirty="0" err="1">
                <a:solidFill>
                  <a:srgbClr val="707070"/>
                </a:solidFill>
                <a:latin typeface="Pragmatica" panose="020B0403040502020204" pitchFamily="34" charset="0"/>
              </a:rPr>
              <a:t/>
            </a:r>
            <a:r>
              <a:rPr lang="en-US" sz="4800" dirty="0">
                <a:solidFill>
                  <a:srgbClr val="707070"/>
                </a:solidFill>
                <a:latin typeface="Pragmatica" panose="020B0403040502020204" pitchFamily="34" charset="0"/>
              </a:rPr>
              <a:t/>
            </a:r>
          </a:p>
        </p:txBody>
      </p:sp>
      <p:pic>
        <p:nvPicPr>
          <p:cNvPr id="15" name="Picture 14" descr="A close up of a sign&#10;&#10;Description automatically generated">
            <a:extLst>
              <a:ext uri="{FF2B5EF4-FFF2-40B4-BE49-F238E27FC236}">
                <a16:creationId xmlns:a16="http://schemas.microsoft.com/office/drawing/2014/main" id="{29761B90-A7DE-4A60-A915-F085BD87CA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01CF9C-FC7D-DEAE-2D87-10577021DCAD}"/>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56CBD8B9-A494-A7F7-0F64-845B951EC99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3542796" y="4850092"/>
            <a:ext cx="4745204" cy="5435819"/>
          </a:xfrm>
          <a:prstGeom prst="rect">
            <a:avLst/>
          </a:prstGeom>
        </p:spPr>
      </p:pic>
      <p:pic>
        <p:nvPicPr>
          <p:cNvPr id="4" name="Picture 3">
            <a:extLst>
              <a:ext uri="{FF2B5EF4-FFF2-40B4-BE49-F238E27FC236}">
                <a16:creationId xmlns:a16="http://schemas.microsoft.com/office/drawing/2014/main" id="{AC63943A-3FAF-22B6-228E-4092BA65AC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400" y="-3440159"/>
            <a:ext cx="15257208" cy="11189825"/>
          </a:xfrm>
          <a:prstGeom prst="rect">
            <a:avLst/>
          </a:prstGeom>
        </p:spPr>
      </p:pic>
      <p:sp>
        <p:nvSpPr>
          <p:cNvPr id="11" name="TextBox 10">
            <a:extLst>
              <a:ext uri="{FF2B5EF4-FFF2-40B4-BE49-F238E27FC236}">
                <a16:creationId xmlns:a16="http://schemas.microsoft.com/office/drawing/2014/main" id="{5DFCEBB5-9C7D-6182-700C-0428AD2DDE67}"/>
              </a:ext>
            </a:extLst>
          </p:cNvPr>
          <p:cNvSpPr txBox="1"/>
          <p:nvPr/>
        </p:nvSpPr>
        <p:spPr>
          <a:xfrm>
            <a:off x="486137" y="2531318"/>
            <a:ext cx="11979797" cy="923330"/>
          </a:xfrm>
          <a:prstGeom prst="rect">
            <a:avLst/>
          </a:prstGeom>
          <a:noFill/>
        </p:spPr>
        <p:txBody>
          <a:bodyPr wrap="square" rtlCol="0">
            <a:spAutoFit/>
          </a:bodyPr>
          <a:lstStyle/>
          <a:p>
            <a:r>
              <a:rPr lang="en-US" sz="5400" b="1" dirty="0">
                <a:solidFill>
                  <a:srgbClr val="CF3338"/>
                </a:solidFill>
                <a:latin typeface="Pragmatica" panose="020B0403040502020204" pitchFamily="34" charset="0"/>
              </a:rPr>
              <a:t>THANK YOU</a:t>
            </a:r>
          </a:p>
        </p:txBody>
      </p:sp>
      <p:sp>
        <p:nvSpPr>
          <p:cNvPr id="2" name="AutoShape 2" descr="Home | Full Stack Modeller">
            <a:extLst>
              <a:ext uri="{FF2B5EF4-FFF2-40B4-BE49-F238E27FC236}">
                <a16:creationId xmlns:a16="http://schemas.microsoft.com/office/drawing/2014/main" id="{16E5F1F1-B220-BEC5-B5EA-499D4942916C}"/>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7093446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3818</TotalTime>
  <Words>1247</Words>
  <Application>Microsoft Office PowerPoint</Application>
  <PresentationFormat>Custom</PresentationFormat>
  <Paragraphs>252</Paragraphs>
  <Slides>39</Slides>
  <Notes>22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39</vt:i4>
      </vt:variant>
    </vt:vector>
  </HeadingPairs>
  <TitlesOfParts>
    <vt:vector size="46" baseType="lpstr">
      <vt:lpstr>Normafixed Tryout</vt:lpstr>
      <vt:lpstr>Pragmatica</vt:lpstr>
      <vt:lpstr>Consolas</vt:lpstr>
      <vt:lpstr>Arial</vt:lpstr>
      <vt:lpstr>Calibri</vt:lpstr>
      <vt:lpstr>Aliens &amp; cows</vt:lpstr>
      <vt:lpstr>Office Theme</vt:lpstr>
      <vt:lpstr>Becoming a Citizen Developer with the Power Platform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excel-statistics-for-business-analytics</dc:title>
  <dc:creator>User</dc:creator>
  <cp:lastModifiedBy>George Mount</cp:lastModifiedBy>
  <cp:revision>232</cp:revision>
  <dcterms:created xsi:type="dcterms:W3CDTF">2006-08-16T00:00:00Z</dcterms:created>
  <dcterms:modified xsi:type="dcterms:W3CDTF">2025-11-11T20:23:57Z</dcterms:modified>
  <dc:identifier>DADurESpNu8</dc:identifier>
</cp:coreProperties>
</file>