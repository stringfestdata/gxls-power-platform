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477" r:id="rId2"/>
    <p:sldId id="472" r:id="rId3"/>
    <p:sldId id="426" r:id="rId4"/>
    <p:sldId id="437" r:id="rId5"/>
    <p:sldId id="479" r:id="rId6"/>
    <p:sldId id="473" r:id="rId7"/>
    <p:sldId id="474" r:id="rId8"/>
    <p:sldId id="446" r:id="rId9"/>
    <p:sldId id="480" r:id="rId10"/>
    <p:sldId id="407" r:id="rId11"/>
    <p:sldId id="475" r:id="rId12"/>
    <p:sldId id="476" r:id="rId13"/>
    <p:sldId id="469" r:id="rId14"/>
    <p:sldId id="470" r:id="rId15"/>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8" d="100"/>
          <a:sy n="38" d="100"/>
        </p:scale>
        <p:origin x="485" y="56"/>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helps make sense of all the vocabulary we’ve been talking about. Instead of treating “copilots” and “agents” as fuzzy marketing terms, it breaks things down by two dimensions: how integrated the tool is with your systems, and how much automation it can actually perform.</a:t>
            </a:r>
          </a:p>
          <a:p>
            <a:endParaRPr lang="en-US" dirty="0"/>
          </a:p>
          <a:p>
            <a:r>
              <a:rPr lang="en-US" dirty="0"/>
              <a:t>In the top left, you have copilots. They’re highly integrated because they sit inside your existing apps, but they still rely on you to drive the workflow. They improve your work, but they don’t take it over.</a:t>
            </a:r>
          </a:p>
          <a:p>
            <a:endParaRPr lang="en-US" dirty="0"/>
          </a:p>
          <a:p>
            <a:r>
              <a:rPr lang="en-US" dirty="0"/>
              <a:t>On the right, you have agents. They combine that same level of integration with the ability to take multi-step actions on their own. So they’re not just responding to you, they’re actually completing tasks across systems.</a:t>
            </a:r>
          </a:p>
          <a:p>
            <a:endParaRPr lang="en-US" dirty="0"/>
          </a:p>
          <a:p>
            <a:r>
              <a:rPr lang="en-US" dirty="0"/>
              <a:t>Below that, you have assistants and autopilots. These are less connected to your internal data and tools, even if some of them can automate quite a bit.</a:t>
            </a:r>
          </a:p>
          <a:p>
            <a:endParaRPr lang="en-US" dirty="0"/>
          </a:p>
          <a:p>
            <a:r>
              <a:rPr lang="en-US" dirty="0"/>
              <a:t>The main idea here is that Excel is moving from the “copilot” box toward the “agent” box. That’s why everything suddenly feels like it’s changing. It isn’t just giving you answers anymore — it’s starting to orchestrate real work.</a:t>
            </a:r>
          </a:p>
          <a:p>
            <a:endParaRPr lang="en-US" dirty="0"/>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4</a:t>
            </a:fld>
            <a:endParaRPr lang="en-US"/>
          </a:p>
        </p:txBody>
      </p:sp>
    </p:spTree>
    <p:extLst>
      <p:ext uri="{BB962C8B-B14F-4D97-AF65-F5344CB8AC3E}">
        <p14:creationId xmlns:p14="http://schemas.microsoft.com/office/powerpoint/2010/main" val="2771570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FB8C-D9DE-8E3E-D6F3-E95B4DB7A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66E86-6B6E-69D0-AD07-CCB30F573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25341-E6CB-6406-C883-518D9F9079D4}"/>
              </a:ext>
            </a:extLst>
          </p:cNvPr>
          <p:cNvSpPr>
            <a:spLocks noGrp="1"/>
          </p:cNvSpPr>
          <p:nvPr>
            <p:ph type="body" idx="1"/>
          </p:nvPr>
        </p:nvSpPr>
        <p:spPr/>
        <p:txBody>
          <a:bodyPr/>
          <a:lstStyle/>
          <a:p>
            <a:r>
              <a:rPr lang="en-US" dirty="0"/>
              <a:t>This framework helps make sense of all the vocabulary we’ve been talking about. Instead of treating “copilots” and “agents” as fuzzy marketing terms, it breaks things down by two dimensions: how integrated the tool is with your systems, and how much automation it can actually perform.</a:t>
            </a:r>
          </a:p>
          <a:p>
            <a:endParaRPr lang="en-US" dirty="0"/>
          </a:p>
          <a:p>
            <a:r>
              <a:rPr lang="en-US" dirty="0"/>
              <a:t>In the top left, you have copilots. They’re highly integrated because they sit inside your existing apps, but they still rely on you to drive the workflow. They improve your work, but they don’t take it over.</a:t>
            </a:r>
          </a:p>
          <a:p>
            <a:endParaRPr lang="en-US" dirty="0"/>
          </a:p>
          <a:p>
            <a:r>
              <a:rPr lang="en-US" dirty="0"/>
              <a:t>On the right, you have agents. They combine that same level of integration with the ability to take multi-step actions on their own. So they’re not just responding to you, they’re actually completing tasks across systems.</a:t>
            </a:r>
          </a:p>
          <a:p>
            <a:endParaRPr lang="en-US" dirty="0"/>
          </a:p>
          <a:p>
            <a:r>
              <a:rPr lang="en-US" dirty="0"/>
              <a:t>Below that, you have assistants and autopilots. These are less connected to your internal data and tools, even if some of them can automate quite a bit.</a:t>
            </a:r>
          </a:p>
          <a:p>
            <a:endParaRPr lang="en-US" dirty="0"/>
          </a:p>
          <a:p>
            <a:r>
              <a:rPr lang="en-US" dirty="0"/>
              <a:t>The main idea here is that Excel is moving from the “copilot” box toward the “agent” box. That’s why everything suddenly feels like it’s changing. It isn’t just giving you answers anymore — it’s starting to orchestrate real work.</a:t>
            </a:r>
          </a:p>
          <a:p>
            <a:endParaRPr lang="en-US" dirty="0"/>
          </a:p>
          <a:p>
            <a:endParaRPr lang="en-US" dirty="0"/>
          </a:p>
        </p:txBody>
      </p:sp>
      <p:sp>
        <p:nvSpPr>
          <p:cNvPr id="4" name="Slide Number Placeholder 3">
            <a:extLst>
              <a:ext uri="{FF2B5EF4-FFF2-40B4-BE49-F238E27FC236}">
                <a16:creationId xmlns:a16="http://schemas.microsoft.com/office/drawing/2014/main" id="{68C6D073-57C0-E538-95EE-E6FDD86200F8}"/>
              </a:ext>
            </a:extLst>
          </p:cNvPr>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530937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B0B8-1649-268D-977C-562CF095A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133CE-FFD2-5BD5-B0B4-B2ED694DF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F5D75C-B068-53FF-4AA6-C99D431F8D76}"/>
              </a:ext>
            </a:extLst>
          </p:cNvPr>
          <p:cNvSpPr>
            <a:spLocks noGrp="1"/>
          </p:cNvSpPr>
          <p:nvPr>
            <p:ph type="body" idx="1"/>
          </p:nvPr>
        </p:nvSpPr>
        <p:spPr/>
        <p:txBody>
          <a:bodyPr/>
          <a:lstStyle/>
          <a:p>
            <a:r>
              <a:rPr lang="en-US" dirty="0"/>
              <a:t>While we </a:t>
            </a:r>
            <a:r>
              <a:rPr lang="en-US" i="1" dirty="0"/>
              <a:t>can</a:t>
            </a:r>
            <a:r>
              <a:rPr lang="en-US" dirty="0"/>
              <a:t> run a prompt in Power Automate to extract receipt data and push it into Excel, that approach starts to break down pretty quickly. It works fine if the inputs are clean and consistent, but receipts aren’t. The formats vary, the fields aren’t always obvious, and the classification piece especially requires some interpretation.</a:t>
            </a:r>
          </a:p>
          <a:p>
            <a:r>
              <a:rPr lang="en-US" dirty="0"/>
              <a:t>An agent is better here because this isn’t just extraction, it’s decision-making. We need something that can look at messy input, apply rules, and make consistent calls about how to categorize and structure the data. That’s hard to lock down in a simple workflow without a lot of brittle logic.</a:t>
            </a:r>
          </a:p>
          <a:p>
            <a:r>
              <a:rPr lang="en-US" dirty="0"/>
              <a:t>The other big reason is consistency. With a workflow prompt, you might get slightly different outputs each time. An agent, especially with a restricted knowledge source like a chart of accounts, keeps everything aligned. It’s operating within defined boundaries, not just generating answers.</a:t>
            </a:r>
          </a:p>
          <a:p>
            <a:r>
              <a:rPr lang="en-US"/>
              <a:t>So this is a good example of where a workflow can technically do the job, but an agent does it </a:t>
            </a:r>
            <a:r>
              <a:rPr lang="en-US" i="1"/>
              <a:t>reliably</a:t>
            </a:r>
            <a:r>
              <a:rPr lang="en-US"/>
              <a:t>—because it combines rules, context, and structure in a way a one-off prompt just doesn’t.</a:t>
            </a:r>
          </a:p>
        </p:txBody>
      </p:sp>
      <p:sp>
        <p:nvSpPr>
          <p:cNvPr id="4" name="Slide Number Placeholder 3">
            <a:extLst>
              <a:ext uri="{FF2B5EF4-FFF2-40B4-BE49-F238E27FC236}">
                <a16:creationId xmlns:a16="http://schemas.microsoft.com/office/drawing/2014/main" id="{DD2210D2-0194-C599-0715-E7BC9ABD495D}"/>
              </a:ext>
            </a:extLst>
          </p:cNvPr>
          <p:cNvSpPr>
            <a:spLocks noGrp="1"/>
          </p:cNvSpPr>
          <p:nvPr>
            <p:ph type="sldNum" sz="quarter" idx="5"/>
          </p:nvPr>
        </p:nvSpPr>
        <p:spPr/>
        <p:txBody>
          <a:bodyPr/>
          <a:lstStyle/>
          <a:p>
            <a:fld id="{1300335D-9F13-4B80-ADC5-B0EA3E10FF6B}" type="slidenum">
              <a:rPr lang="en-US" smtClean="0"/>
              <a:t>7</a:t>
            </a:fld>
            <a:endParaRPr lang="en-US"/>
          </a:p>
        </p:txBody>
      </p:sp>
    </p:spTree>
    <p:extLst>
      <p:ext uri="{BB962C8B-B14F-4D97-AF65-F5344CB8AC3E}">
        <p14:creationId xmlns:p14="http://schemas.microsoft.com/office/powerpoint/2010/main" val="941291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what an automated AI workflow looks like — a sequence of predefined steps that move from a trigger to a final output. You can think of it as a chain reaction: something starts the process, different actions happen automatically, and along the way, AI steps in to add intelligence or decision-making.</a:t>
            </a:r>
          </a:p>
          <a:p>
            <a:r>
              <a:rPr lang="en-US" dirty="0"/>
              <a:t>It all begins with a </a:t>
            </a:r>
            <a:r>
              <a:rPr lang="en-US" b="1" dirty="0"/>
              <a:t>trigger</a:t>
            </a:r>
            <a:r>
              <a:rPr lang="en-US" dirty="0"/>
              <a:t> — something that tells the workflow to start. In Excel or Power Automate, that could be a new row added to a table, a file uploaded to OneDrive, or even a scheduled time like “every Monday morning.” The trigger is what kicks everything off without you having to manually do anything.</a:t>
            </a:r>
          </a:p>
          <a:p>
            <a:r>
              <a:rPr lang="en-US" dirty="0"/>
              <a:t>Then we have </a:t>
            </a:r>
            <a:r>
              <a:rPr lang="en-US" b="1" dirty="0"/>
              <a:t>Step 1</a:t>
            </a:r>
            <a:r>
              <a:rPr lang="en-US" dirty="0"/>
              <a:t>, which is often a preparation step. Maybe it’s collecting the data, formatting it, or sending it into Excel. This could be where Power Automate connects to a SharePoint list, a form submission, or a Teams message and feeds that data into your workbook.</a:t>
            </a:r>
          </a:p>
          <a:p>
            <a:r>
              <a:rPr lang="en-US" dirty="0"/>
              <a:t>Next comes the </a:t>
            </a:r>
            <a:r>
              <a:rPr lang="en-US" b="1" dirty="0"/>
              <a:t>AI Step</a:t>
            </a:r>
            <a:r>
              <a:rPr lang="en-US" dirty="0"/>
              <a:t> — this is where Copilot or another AI model gets involved. This could be an AI Builder action inside Power Automate that summarizes text, classifies feedback, or extracts key details from a document. Or it might be Copilot inside Excel generating a formula, building a chart, or explaining data patterns automatically. The AI step takes what used to be manual analysis and turns it into an automated, intelligent action.</a:t>
            </a:r>
          </a:p>
          <a:p>
            <a:r>
              <a:rPr lang="en-US" dirty="0"/>
              <a:t>After that, there can be more steps — maybe sending results back to Excel, notifying someone in Teams, or updating a dashboard. Each step builds on the last, flowing seamlessly without human intervention.</a:t>
            </a:r>
          </a:p>
          <a:p>
            <a:r>
              <a:rPr lang="en-US" dirty="0"/>
              <a:t>Finally, we reach the </a:t>
            </a:r>
            <a:r>
              <a:rPr lang="en-US" b="1" dirty="0"/>
              <a:t>output</a:t>
            </a:r>
            <a:r>
              <a:rPr lang="en-US" dirty="0"/>
              <a:t>, which is the end goal of the automation. That might be a refreshed Excel report, an email summary, or a new dataset ready for review. The beauty of it is that the whole process runs automatically once it’s designed — no constant copying, pasting, or checking formulas.</a:t>
            </a:r>
          </a:p>
          <a:p>
            <a:r>
              <a:rPr lang="en-US" dirty="0"/>
              <a:t>So, in short, this kind of workflow connects automation tools like Power Automate with AI capabilities from Copilot or AI Builder to take everyday Excel tasks — things like reporting, data cleaning, or summarizing — and turn them into intelligent, repeatable processes.</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4064505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core idea behind an agentic workflow. Everything starts with a trigger. That could be a scheduled time, a user action, an event in another system, or even a message. Once the trigger fires, control passes to the AI </a:t>
            </a:r>
            <a:r>
              <a:rPr lang="en-US" dirty="0" err="1"/>
              <a:t>agent.The</a:t>
            </a:r>
            <a:r>
              <a:rPr lang="en-US" dirty="0"/>
              <a:t> agent’s job is to figure out the steps needed to reach the goal. And the important part is that the agent isn’t just following a script. It can draw on three things: the instructions you gave it, the memory it has access to, and the tools it’s allowed to use. Those might include connectors, APIs, retrieval sources, or actions in Power </a:t>
            </a:r>
            <a:r>
              <a:rPr lang="en-US" dirty="0" err="1"/>
              <a:t>Automate.From</a:t>
            </a:r>
            <a:r>
              <a:rPr lang="en-US" dirty="0"/>
              <a:t> there, the agent decides which actions to take and in what order. It keeps adjusting based on the context it sees, and it keeps working until it produces an output. That output might be a document, a dataset, a message, an update in a system, or something else </a:t>
            </a:r>
            <a:r>
              <a:rPr lang="en-US" dirty="0" err="1"/>
              <a:t>entirely.So</a:t>
            </a:r>
            <a:r>
              <a:rPr lang="en-US" dirty="0"/>
              <a:t> even though we’re building this in Copilot Studio, the workflow here is very agent-like. It’s not just a single prompt. It’s a goal-directed system that figures out the how on its own.</a:t>
            </a:r>
          </a:p>
        </p:txBody>
      </p:sp>
      <p:sp>
        <p:nvSpPr>
          <p:cNvPr id="4" name="Slide Number Placeholder 3"/>
          <p:cNvSpPr>
            <a:spLocks noGrp="1"/>
          </p:cNvSpPr>
          <p:nvPr>
            <p:ph type="sldNum" sz="quarter" idx="5"/>
          </p:nvPr>
        </p:nvSpPr>
        <p:spPr/>
        <p:txBody>
          <a:bodyPr/>
          <a:lstStyle/>
          <a:p>
            <a:fld id="{FFB500C5-13F7-48FC-8160-C29AECF6C602}" type="slidenum">
              <a:rPr lang="en-US" smtClean="0"/>
              <a:t>9</a:t>
            </a:fld>
            <a:endParaRPr lang="en-US"/>
          </a:p>
        </p:txBody>
      </p:sp>
    </p:spTree>
    <p:extLst>
      <p:ext uri="{BB962C8B-B14F-4D97-AF65-F5344CB8AC3E}">
        <p14:creationId xmlns:p14="http://schemas.microsoft.com/office/powerpoint/2010/main" val="3297094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p:cNvSpPr>
            <a:spLocks noGrp="1"/>
          </p:cNvSpPr>
          <p:nvPr>
            <p:ph type="sldNum" sz="quarter" idx="5"/>
          </p:nvPr>
        </p:nvSpPr>
        <p:spPr/>
        <p:txBody>
          <a:bodyPr/>
          <a:lstStyle/>
          <a:p>
            <a:fld id="{1300335D-9F13-4B80-ADC5-B0EA3E10FF6B}" type="slidenum">
              <a:rPr lang="en-US" smtClean="0"/>
              <a:t>10</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52C9-3989-149D-7D64-4AB2984F0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29740-E215-6AAD-4E42-505289BB3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B51E0-44F9-4197-33E1-A4871CFEEC2D}"/>
              </a:ext>
            </a:extLst>
          </p:cNvPr>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a:extLst>
              <a:ext uri="{FF2B5EF4-FFF2-40B4-BE49-F238E27FC236}">
                <a16:creationId xmlns:a16="http://schemas.microsoft.com/office/drawing/2014/main" id="{AE47F473-45AA-7073-856C-4B37408D1D25}"/>
              </a:ext>
            </a:extLst>
          </p:cNvPr>
          <p:cNvSpPr>
            <a:spLocks noGrp="1"/>
          </p:cNvSpPr>
          <p:nvPr>
            <p:ph type="sldNum" sz="quarter" idx="5"/>
          </p:nvPr>
        </p:nvSpPr>
        <p:spPr/>
        <p:txBody>
          <a:bodyPr/>
          <a:lstStyle/>
          <a:p>
            <a:fld id="{1300335D-9F13-4B80-ADC5-B0EA3E10FF6B}" type="slidenum">
              <a:rPr lang="en-US" smtClean="0"/>
              <a:t>11</a:t>
            </a:fld>
            <a:endParaRPr lang="en-US"/>
          </a:p>
        </p:txBody>
      </p:sp>
    </p:spTree>
    <p:extLst>
      <p:ext uri="{BB962C8B-B14F-4D97-AF65-F5344CB8AC3E}">
        <p14:creationId xmlns:p14="http://schemas.microsoft.com/office/powerpoint/2010/main" val="1535212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hyperlink" Target="https://blog.tobiaszwingmann.com/p/integration-automation-ai-framework"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www.linkedin.com/posts/hamishsheild_recently-ive-been-working-with-teams-who-activity-7432532796482695168-gTbp?utm_source=share&amp;utm_medium=member_desktop&amp;rcm=ACoAAATCK8AB8LEMRRQ353gE1bukLsTb6mY_Zbg" TargetMode="Externa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stringfestanalytics.com/how-to-create-an-expense-report-agent-with-copilot-365/"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stringfestanalytics.com/how-to-automate-a-monthly-variance-deck-with-power-automate-and-copilo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stringfestanalytics.com/how-to-validate-ai-generated-excel-reports-with-office-script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stringfestanalytics.com/subscribe/" TargetMode="External"/><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6CC2B-ECBD-538D-C8D0-4EC8ABE5134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0CD850F-D33C-6F65-6A7E-88786DD2B306}"/>
              </a:ext>
            </a:extLst>
          </p:cNvPr>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a:extLst>
              <a:ext uri="{FF2B5EF4-FFF2-40B4-BE49-F238E27FC236}">
                <a16:creationId xmlns:a16="http://schemas.microsoft.com/office/drawing/2014/main" id="{E357C310-CB02-DA98-FA32-DDE4A786A8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a:extLst>
              <a:ext uri="{FF2B5EF4-FFF2-40B4-BE49-F238E27FC236}">
                <a16:creationId xmlns:a16="http://schemas.microsoft.com/office/drawing/2014/main" id="{675C239D-562A-A18F-12F7-930BC483E69B}"/>
              </a:ext>
            </a:extLst>
          </p:cNvPr>
          <p:cNvSpPr txBox="1"/>
          <p:nvPr/>
        </p:nvSpPr>
        <p:spPr>
          <a:xfrm>
            <a:off x="486137" y="2531318"/>
            <a:ext cx="11979797" cy="1754326"/>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Building Practical AI Agents and Workflows for Excel</a:t>
            </a:r>
          </a:p>
        </p:txBody>
      </p:sp>
      <p:pic>
        <p:nvPicPr>
          <p:cNvPr id="5" name="Picture 4">
            <a:extLst>
              <a:ext uri="{FF2B5EF4-FFF2-40B4-BE49-F238E27FC236}">
                <a16:creationId xmlns:a16="http://schemas.microsoft.com/office/drawing/2014/main" id="{52069D5F-3609-C5BA-5C37-A25A91FDA5E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569823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5" name="TextBox 4"/>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About me</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38675" y="195638"/>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10;&#10;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83691" y="6002696"/>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8829" y="1736915"/>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642" y="7832951"/>
            <a:ext cx="5057775" cy="2028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Global Excel Summit (9-11 February 2022) - Microsoft Excel Conference">
            <a:extLst>
              <a:ext uri="{FF2B5EF4-FFF2-40B4-BE49-F238E27FC236}">
                <a16:creationId xmlns:a16="http://schemas.microsoft.com/office/drawing/2014/main" id="{A4A37758-F92B-49D0-9144-77DE1A40AF22}"/>
              </a:ext>
            </a:extLst>
          </p:cNvPr>
          <p:cNvPicPr>
            <a:picLocks noChangeAspect="1"/>
          </p:cNvPicPr>
          <p:nvPr/>
        </p:nvPicPr>
        <p:blipFill>
          <a:blip r:embed="rId6"/>
          <a:stretch>
            <a:fillRect/>
          </a:stretch>
        </p:blipFill>
        <p:spPr>
          <a:xfrm>
            <a:off x="14397664" y="4795613"/>
            <a:ext cx="2901909" cy="2901909"/>
          </a:xfrm>
          <a:prstGeom prst="rect">
            <a:avLst/>
          </a:prstGeom>
        </p:spPr>
      </p:pic>
      <p:pic>
        <p:nvPicPr>
          <p:cNvPr id="7" name="Picture 6" descr="linkedinlearninginstructor #linkedinlearning | Thais Cooke | 80 comments">
            <a:extLst>
              <a:ext uri="{FF2B5EF4-FFF2-40B4-BE49-F238E27FC236}">
                <a16:creationId xmlns:a16="http://schemas.microsoft.com/office/drawing/2014/main" id="{C1E81082-DC04-E8C8-AF35-69591438D97C}"/>
              </a:ext>
            </a:extLst>
          </p:cNvPr>
          <p:cNvPicPr>
            <a:picLocks noChangeAspect="1"/>
          </p:cNvPicPr>
          <p:nvPr/>
        </p:nvPicPr>
        <p:blipFill>
          <a:blip r:embed="rId7"/>
          <a:stretch>
            <a:fillRect/>
          </a:stretch>
        </p:blipFill>
        <p:spPr>
          <a:xfrm>
            <a:off x="2933407" y="4935896"/>
            <a:ext cx="5185833" cy="2133600"/>
          </a:xfrm>
          <a:prstGeom prst="rect">
            <a:avLst/>
          </a:prstGeom>
        </p:spPr>
      </p:pic>
      <p:sp>
        <p:nvSpPr>
          <p:cNvPr id="9" name="TextBox 8">
            <a:extLst>
              <a:ext uri="{FF2B5EF4-FFF2-40B4-BE49-F238E27FC236}">
                <a16:creationId xmlns:a16="http://schemas.microsoft.com/office/drawing/2014/main" id="{A4DDDC47-548D-1287-3489-8B5D9DA3C477}"/>
              </a:ext>
            </a:extLst>
          </p:cNvPr>
          <p:cNvSpPr txBox="1"/>
          <p:nvPr/>
        </p:nvSpPr>
        <p:spPr>
          <a:xfrm>
            <a:off x="849234" y="2485315"/>
            <a:ext cx="6618366" cy="1754326"/>
          </a:xfrm>
          <a:prstGeom prst="rect">
            <a:avLst/>
          </a:prstGeom>
          <a:noFill/>
        </p:spPr>
        <p:txBody>
          <a:bodyPr wrap="square" rtlCol="0">
            <a:spAutoFit/>
          </a:bodyPr>
          <a:lstStyle/>
          <a:p>
            <a:r>
              <a:rPr lang="en-US" sz="3600" b="1" dirty="0">
                <a:solidFill>
                  <a:schemeClr val="bg1"/>
                </a:solidFill>
              </a:rPr>
              <a:t>I help Excel users move from fragile spreadsheets</a:t>
            </a:r>
          </a:p>
          <a:p>
            <a:r>
              <a:rPr lang="en-US" sz="3600" b="1" dirty="0">
                <a:solidFill>
                  <a:schemeClr val="bg1"/>
                </a:solidFill>
              </a:rPr>
              <a:t>to confident, scalable analysis.</a:t>
            </a:r>
          </a:p>
        </p:txBody>
      </p:sp>
    </p:spTree>
    <p:extLst>
      <p:ext uri="{BB962C8B-B14F-4D97-AF65-F5344CB8AC3E}">
        <p14:creationId xmlns:p14="http://schemas.microsoft.com/office/powerpoint/2010/main" val="612351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3957139" cy="1477328"/>
          </a:xfrm>
          <a:prstGeom prst="rect">
            <a:avLst/>
          </a:prstGeom>
          <a:noFill/>
        </p:spPr>
        <p:txBody>
          <a:bodyPr wrap="square" rtlCol="0">
            <a:spAutoFit/>
          </a:bodyPr>
          <a:lstStyle/>
          <a:p>
            <a:r>
              <a:rPr lang="en-US" sz="9000" dirty="0">
                <a:latin typeface="Aliens &amp; cows" panose="00000500000000000000" pitchFamily="2" charset="0"/>
              </a:rPr>
              <a:t>Objectives for this session</a:t>
            </a:r>
          </a:p>
        </p:txBody>
      </p:sp>
      <p:sp>
        <p:nvSpPr>
          <p:cNvPr id="3" name="TextBox 2"/>
          <p:cNvSpPr txBox="1"/>
          <p:nvPr/>
        </p:nvSpPr>
        <p:spPr>
          <a:xfrm>
            <a:off x="685800" y="2628900"/>
            <a:ext cx="16230600" cy="600164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Evaluate where AI agents meaningfully improve structured Excel reporting workflows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Build an expense report agent that classifies receipt data directly into Excel</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Automate a monthly variance deck with Copilot and Power Automate, including executive-ready commentary</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Implement validation steps with Office Scripts to improve trust and auditability of AI outputs</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C3270-992F-73FB-7E73-4DA42D379BB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5358931-C887-DF08-D582-E12AD136D695}"/>
              </a:ext>
            </a:extLst>
          </p:cNvPr>
          <p:cNvSpPr txBox="1"/>
          <p:nvPr/>
        </p:nvSpPr>
        <p:spPr>
          <a:xfrm>
            <a:off x="520861" y="170082"/>
            <a:ext cx="16395539" cy="1200329"/>
          </a:xfrm>
          <a:prstGeom prst="rect">
            <a:avLst/>
          </a:prstGeom>
          <a:noFill/>
        </p:spPr>
        <p:txBody>
          <a:bodyPr wrap="square" rtlCol="0">
            <a:spAutoFit/>
          </a:bodyPr>
          <a:lstStyle/>
          <a:p>
            <a:r>
              <a:rPr lang="en-US" sz="7200" dirty="0">
                <a:latin typeface="Aliens &amp; cows" panose="00000500000000000000" pitchFamily="2" charset="0"/>
              </a:rPr>
              <a:t>The integration-automation AI framework</a:t>
            </a:r>
          </a:p>
        </p:txBody>
      </p:sp>
      <p:pic>
        <p:nvPicPr>
          <p:cNvPr id="15" name="Picture 14" descr="A close up of a sign&#10;&#10;Description automatically generated">
            <a:extLst>
              <a:ext uri="{FF2B5EF4-FFF2-40B4-BE49-F238E27FC236}">
                <a16:creationId xmlns:a16="http://schemas.microsoft.com/office/drawing/2014/main" id="{88701840-B113-B321-9200-F6ADD5F263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057A3FD3-5C03-0966-77FB-885E6BFE811D}"/>
              </a:ext>
            </a:extLst>
          </p:cNvPr>
          <p:cNvSpPr txBox="1"/>
          <p:nvPr/>
        </p:nvSpPr>
        <p:spPr>
          <a:xfrm>
            <a:off x="152400" y="7254596"/>
            <a:ext cx="3446118" cy="2862322"/>
          </a:xfrm>
          <a:prstGeom prst="rect">
            <a:avLst/>
          </a:prstGeom>
          <a:noFill/>
        </p:spPr>
        <p:txBody>
          <a:bodyPr wrap="square">
            <a:spAutoFit/>
          </a:bodyPr>
          <a:lstStyle/>
          <a:p>
            <a:r>
              <a:rPr lang="en-US" sz="3600" dirty="0">
                <a:hlinkClick r:id="rId4">
                  <a:extLst>
                    <a:ext uri="{A12FA001-AC4F-418D-AE19-62706E023703}">
                      <ahyp:hlinkClr xmlns:ahyp="http://schemas.microsoft.com/office/drawing/2018/hyperlinkcolor" val="tx"/>
                    </a:ext>
                  </a:extLst>
                </a:hlinkClick>
              </a:rPr>
              <a:t>https://blog.tobiaszwingmann.com/p/integration-automation-ai-framework</a:t>
            </a:r>
            <a:r>
              <a:rPr lang="en-US" sz="3600" dirty="0"/>
              <a:t> </a:t>
            </a:r>
          </a:p>
        </p:txBody>
      </p:sp>
      <p:pic>
        <p:nvPicPr>
          <p:cNvPr id="3074" name="Picture 2">
            <a:extLst>
              <a:ext uri="{FF2B5EF4-FFF2-40B4-BE49-F238E27FC236}">
                <a16:creationId xmlns:a16="http://schemas.microsoft.com/office/drawing/2014/main" id="{BD67A6B6-57FE-1727-C346-ED9D61BE40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1369361"/>
            <a:ext cx="10287000" cy="8734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971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8070C-7913-523B-495F-07BC4DEB3F4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006D208-CACC-3CB8-107F-C914E27A7AB2}"/>
              </a:ext>
            </a:extLst>
          </p:cNvPr>
          <p:cNvSpPr txBox="1"/>
          <p:nvPr/>
        </p:nvSpPr>
        <p:spPr>
          <a:xfrm>
            <a:off x="520861" y="170082"/>
            <a:ext cx="16624139" cy="1477328"/>
          </a:xfrm>
          <a:prstGeom prst="rect">
            <a:avLst/>
          </a:prstGeom>
          <a:noFill/>
        </p:spPr>
        <p:txBody>
          <a:bodyPr wrap="square" rtlCol="0">
            <a:spAutoFit/>
          </a:bodyPr>
          <a:lstStyle/>
          <a:p>
            <a:r>
              <a:rPr lang="en-US" sz="9000" dirty="0">
                <a:latin typeface="Aliens &amp; cows" panose="00000500000000000000" pitchFamily="2" charset="0"/>
              </a:rPr>
              <a:t>Copilots, agents, apps… oh my!</a:t>
            </a:r>
          </a:p>
        </p:txBody>
      </p:sp>
      <p:pic>
        <p:nvPicPr>
          <p:cNvPr id="15" name="Picture 14" descr="A close up of a sign&#10;&#10;Description automatically generated">
            <a:extLst>
              <a:ext uri="{FF2B5EF4-FFF2-40B4-BE49-F238E27FC236}">
                <a16:creationId xmlns:a16="http://schemas.microsoft.com/office/drawing/2014/main" id="{D75294E9-C908-6B64-E626-F3D2FFE2D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1" descr="The image features a social media post by George Mount, comparing Microsoft Copilots to agents and suggesting the creation of an agent using Copilot Studio.&#10;&#10;AI-generated content may be incorrect.">
            <a:extLst>
              <a:ext uri="{FF2B5EF4-FFF2-40B4-BE49-F238E27FC236}">
                <a16:creationId xmlns:a16="http://schemas.microsoft.com/office/drawing/2014/main" id="{B50E5426-33E6-ED04-08A7-0A3AFF84E978}"/>
              </a:ext>
            </a:extLst>
          </p:cNvPr>
          <p:cNvPicPr>
            <a:picLocks noChangeAspect="1"/>
          </p:cNvPicPr>
          <p:nvPr/>
        </p:nvPicPr>
        <p:blipFill>
          <a:blip r:embed="rId3"/>
          <a:srcRect t="22042" b="23200"/>
          <a:stretch>
            <a:fillRect/>
          </a:stretch>
        </p:blipFill>
        <p:spPr>
          <a:xfrm>
            <a:off x="1752600" y="2095500"/>
            <a:ext cx="12703771" cy="6956263"/>
          </a:xfrm>
          <a:prstGeom prst="rect">
            <a:avLst/>
          </a:prstGeom>
        </p:spPr>
      </p:pic>
    </p:spTree>
    <p:extLst>
      <p:ext uri="{BB962C8B-B14F-4D97-AF65-F5344CB8AC3E}">
        <p14:creationId xmlns:p14="http://schemas.microsoft.com/office/powerpoint/2010/main" val="3897836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BF7E1-8841-08F4-4496-63501251C0E5}"/>
            </a:ext>
          </a:extLst>
        </p:cNvPr>
        <p:cNvGrpSpPr/>
        <p:nvPr/>
      </p:nvGrpSpPr>
      <p:grpSpPr>
        <a:xfrm>
          <a:off x="0" y="0"/>
          <a:ext cx="0" cy="0"/>
          <a:chOff x="0" y="0"/>
          <a:chExt cx="0" cy="0"/>
        </a:xfrm>
      </p:grpSpPr>
      <p:pic>
        <p:nvPicPr>
          <p:cNvPr id="15" name="Picture 14" descr="A close up of a sign&#10;&#10;Description automatically generated">
            <a:extLst>
              <a:ext uri="{FF2B5EF4-FFF2-40B4-BE49-F238E27FC236}">
                <a16:creationId xmlns:a16="http://schemas.microsoft.com/office/drawing/2014/main" id="{FC830BA0-FE02-5935-CAEE-FE730AEB9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1" descr="table">
            <a:extLst>
              <a:ext uri="{FF2B5EF4-FFF2-40B4-BE49-F238E27FC236}">
                <a16:creationId xmlns:a16="http://schemas.microsoft.com/office/drawing/2014/main" id="{A4ECC1C4-201E-66D4-D0D6-2DB78F2B61F7}"/>
              </a:ext>
            </a:extLst>
          </p:cNvPr>
          <p:cNvPicPr>
            <a:picLocks noChangeAspect="1"/>
          </p:cNvPicPr>
          <p:nvPr/>
        </p:nvPicPr>
        <p:blipFill>
          <a:blip r:embed="rId4"/>
          <a:stretch>
            <a:fillRect/>
          </a:stretch>
        </p:blipFill>
        <p:spPr>
          <a:xfrm>
            <a:off x="-4107" y="-1"/>
            <a:ext cx="16345143" cy="9194143"/>
          </a:xfrm>
          <a:prstGeom prst="rect">
            <a:avLst/>
          </a:prstGeom>
        </p:spPr>
      </p:pic>
      <p:sp>
        <p:nvSpPr>
          <p:cNvPr id="5" name="TextBox 4">
            <a:extLst>
              <a:ext uri="{FF2B5EF4-FFF2-40B4-BE49-F238E27FC236}">
                <a16:creationId xmlns:a16="http://schemas.microsoft.com/office/drawing/2014/main" id="{648FBECD-14EF-BF55-93DA-570EFF24F3E9}"/>
              </a:ext>
            </a:extLst>
          </p:cNvPr>
          <p:cNvSpPr txBox="1"/>
          <p:nvPr/>
        </p:nvSpPr>
        <p:spPr>
          <a:xfrm>
            <a:off x="152400" y="9410700"/>
            <a:ext cx="15849600" cy="646331"/>
          </a:xfrm>
          <a:prstGeom prst="rect">
            <a:avLst/>
          </a:prstGeom>
          <a:noFill/>
        </p:spPr>
        <p:txBody>
          <a:bodyPr wrap="square">
            <a:spAutoFit/>
          </a:bodyPr>
          <a:lstStyle/>
          <a:p>
            <a:r>
              <a:rPr lang="en-US" dirty="0">
                <a:hlinkClick r:id="rId5"/>
              </a:rPr>
              <a:t>https://www.linkedin.com/posts/hamishsheild_recently-ive-been-working-with-teams-who-activity-7432532796482695168-gTbp?utm_source=share&amp;utm_medium=member_desktop&amp;rcm=ACoAAATCK8AB8LEMRRQ353gE1bukLsTb6mY_Zbg</a:t>
            </a:r>
            <a:r>
              <a:rPr lang="en-US" dirty="0"/>
              <a:t> </a:t>
            </a:r>
          </a:p>
        </p:txBody>
      </p:sp>
    </p:spTree>
    <p:extLst>
      <p:ext uri="{BB962C8B-B14F-4D97-AF65-F5344CB8AC3E}">
        <p14:creationId xmlns:p14="http://schemas.microsoft.com/office/powerpoint/2010/main" val="3158359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67157-5DA3-1674-5AC6-770AD69D26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3C3FDA-8BAD-1BF4-377A-DDAA68AEF5C9}"/>
              </a:ext>
            </a:extLst>
          </p:cNvPr>
          <p:cNvSpPr/>
          <p:nvPr/>
        </p:nvSpPr>
        <p:spPr>
          <a:xfrm>
            <a:off x="13258800" y="0"/>
            <a:ext cx="50292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61567314-353E-B621-D17D-843C5205F5B9}"/>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4DE64632-DC57-4E96-1277-4C204F9221F7}"/>
              </a:ext>
            </a:extLst>
          </p:cNvPr>
          <p:cNvSpPr txBox="1"/>
          <p:nvPr/>
        </p:nvSpPr>
        <p:spPr>
          <a:xfrm>
            <a:off x="260430" y="329879"/>
            <a:ext cx="12083969" cy="8841972"/>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1: Expense account agent</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Build a Copilot agent that converts PDF receipts into a structured Excel expense report</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Write clear, rule-based instructions to control AI behavior and output format</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Use a restricted knowledge source to ensure consistent expense classification</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Generate a properly structured Excel table automatically.</a:t>
            </a:r>
          </a:p>
          <a:p>
            <a:pPr marL="142875">
              <a:lnSpc>
                <a:spcPct val="115000"/>
              </a:lnSpc>
              <a:spcBef>
                <a:spcPts val="1125"/>
              </a:spcBef>
              <a:buClr>
                <a:srgbClr val="C00000"/>
              </a:buClr>
              <a:buSzPts val="2100"/>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F3338"/>
                </a:solidFill>
                <a:latin typeface="Pragmatica" panose="020B0403040502020204"/>
                <a:sym typeface="Consolas"/>
              </a:rPr>
              <a:t>Resource: </a:t>
            </a:r>
            <a:r>
              <a:rPr lang="en-US" sz="3600" dirty="0">
                <a:solidFill>
                  <a:srgbClr val="CF3338"/>
                </a:solidFill>
                <a:latin typeface="Pragmatica" panose="020B0403040502020204"/>
                <a:sym typeface="Consolas"/>
                <a:hlinkClick r:id="rId4">
                  <a:extLst>
                    <a:ext uri="{A12FA001-AC4F-418D-AE19-62706E023703}">
                      <ahyp:hlinkClr xmlns:ahyp="http://schemas.microsoft.com/office/drawing/2018/hyperlinkcolor" val="tx"/>
                    </a:ext>
                  </a:extLst>
                </a:hlinkClick>
              </a:rPr>
              <a:t>https://stringfestanalytics.com/how-to-create-an-expense-report-agent-with-copilot-365/</a:t>
            </a:r>
            <a:r>
              <a:rPr lang="en-US" sz="3600" dirty="0">
                <a:solidFill>
                  <a:srgbClr val="CF3338"/>
                </a:solidFill>
                <a:latin typeface="Pragmatica" panose="020B0403040502020204"/>
                <a:sym typeface="Consolas"/>
              </a:rPr>
              <a:t> </a:t>
            </a:r>
          </a:p>
        </p:txBody>
      </p:sp>
    </p:spTree>
    <p:extLst>
      <p:ext uri="{BB962C8B-B14F-4D97-AF65-F5344CB8AC3E}">
        <p14:creationId xmlns:p14="http://schemas.microsoft.com/office/powerpoint/2010/main" val="3814165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8B75-B4E6-621C-E5FF-E91B9368648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4B16A43-7960-9C0B-5FEC-79C3B6725D25}"/>
              </a:ext>
            </a:extLst>
          </p:cNvPr>
          <p:cNvSpPr txBox="1"/>
          <p:nvPr/>
        </p:nvSpPr>
        <p:spPr>
          <a:xfrm>
            <a:off x="520861" y="170082"/>
            <a:ext cx="16395539" cy="1938992"/>
          </a:xfrm>
          <a:prstGeom prst="rect">
            <a:avLst/>
          </a:prstGeom>
          <a:noFill/>
        </p:spPr>
        <p:txBody>
          <a:bodyPr wrap="square" rtlCol="0">
            <a:spAutoFit/>
          </a:bodyPr>
          <a:lstStyle/>
          <a:p>
            <a:r>
              <a:rPr lang="en-US" sz="6000" dirty="0">
                <a:latin typeface="Aliens &amp; cows" panose="00000500000000000000" pitchFamily="2" charset="0"/>
              </a:rPr>
              <a:t>Automated AI workflows with Power Automate + Copilot </a:t>
            </a:r>
          </a:p>
        </p:txBody>
      </p:sp>
      <p:pic>
        <p:nvPicPr>
          <p:cNvPr id="15" name="Picture 14" descr="A close up of a sign&#10;&#10;Description automatically generated">
            <a:extLst>
              <a:ext uri="{FF2B5EF4-FFF2-40B4-BE49-F238E27FC236}">
                <a16:creationId xmlns:a16="http://schemas.microsoft.com/office/drawing/2014/main" id="{2D74052B-8ACF-437B-C4DC-8CBE14F0B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B8C1EB5B-ED7A-D25D-8E41-6686DC70C2BA}"/>
              </a:ext>
            </a:extLst>
          </p:cNvPr>
          <p:cNvSpPr txBox="1"/>
          <p:nvPr/>
        </p:nvSpPr>
        <p:spPr>
          <a:xfrm>
            <a:off x="228600" y="9196959"/>
            <a:ext cx="15163800" cy="1200329"/>
          </a:xfrm>
          <a:prstGeom prst="rect">
            <a:avLst/>
          </a:prstGeom>
          <a:noFill/>
        </p:spPr>
        <p:txBody>
          <a:bodyPr wrap="square">
            <a:spAutoFit/>
          </a:bodyPr>
          <a:lstStyle/>
          <a:p>
            <a:r>
              <a:rPr lang="en-US" sz="3600" dirty="0"/>
              <a:t>Source: https://blog.tobiaszwingmann.com/p/ai-workflows-vs-ai-agents-vs-everything-in-between</a:t>
            </a:r>
          </a:p>
        </p:txBody>
      </p:sp>
      <p:pic>
        <p:nvPicPr>
          <p:cNvPr id="2052" name="Picture 4">
            <a:extLst>
              <a:ext uri="{FF2B5EF4-FFF2-40B4-BE49-F238E27FC236}">
                <a16:creationId xmlns:a16="http://schemas.microsoft.com/office/drawing/2014/main" id="{855DDFC5-5083-02A7-A2F7-7CE52A0B4B3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848"/>
          <a:stretch>
            <a:fillRect/>
          </a:stretch>
        </p:blipFill>
        <p:spPr bwMode="auto">
          <a:xfrm>
            <a:off x="1828800" y="2514600"/>
            <a:ext cx="15341318"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153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FFBA3-97A6-DA63-F5D2-28FD4463F02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9B7EACC-66F8-71B7-745D-30FF25DB8890}"/>
              </a:ext>
            </a:extLst>
          </p:cNvPr>
          <p:cNvSpPr txBox="1"/>
          <p:nvPr/>
        </p:nvSpPr>
        <p:spPr>
          <a:xfrm>
            <a:off x="520861" y="170082"/>
            <a:ext cx="16395539" cy="923330"/>
          </a:xfrm>
          <a:prstGeom prst="rect">
            <a:avLst/>
          </a:prstGeom>
          <a:noFill/>
        </p:spPr>
        <p:txBody>
          <a:bodyPr wrap="square" rtlCol="0">
            <a:spAutoFit/>
          </a:bodyPr>
          <a:lstStyle/>
          <a:p>
            <a:r>
              <a:rPr lang="en-US" sz="5400" dirty="0">
                <a:latin typeface="Aliens &amp; cows" panose="00000500000000000000" pitchFamily="2" charset="0"/>
              </a:rPr>
              <a:t>Agentic workflows with Copilot Studio  + Agent Flows</a:t>
            </a:r>
          </a:p>
        </p:txBody>
      </p:sp>
      <p:pic>
        <p:nvPicPr>
          <p:cNvPr id="15" name="Picture 14" descr="A close up of a sign&#10;&#10;Description automatically generated">
            <a:extLst>
              <a:ext uri="{FF2B5EF4-FFF2-40B4-BE49-F238E27FC236}">
                <a16:creationId xmlns:a16="http://schemas.microsoft.com/office/drawing/2014/main" id="{4E9CDCDF-A7D1-E32F-4EBC-174712D70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93680795-F53D-257D-9454-224111B5D4EB}"/>
              </a:ext>
            </a:extLst>
          </p:cNvPr>
          <p:cNvSpPr txBox="1"/>
          <p:nvPr/>
        </p:nvSpPr>
        <p:spPr>
          <a:xfrm>
            <a:off x="228600" y="9196959"/>
            <a:ext cx="15087600" cy="1200329"/>
          </a:xfrm>
          <a:prstGeom prst="rect">
            <a:avLst/>
          </a:prstGeom>
          <a:noFill/>
        </p:spPr>
        <p:txBody>
          <a:bodyPr wrap="square">
            <a:spAutoFit/>
          </a:bodyPr>
          <a:lstStyle/>
          <a:p>
            <a:r>
              <a:rPr lang="en-US" sz="3600" dirty="0"/>
              <a:t>Source: https://blog.tobiaszwingmann.com/p/ai-workflows-vs-ai-agents-vs-everything-in-between</a:t>
            </a:r>
          </a:p>
        </p:txBody>
      </p:sp>
      <p:pic>
        <p:nvPicPr>
          <p:cNvPr id="3074" name="Picture 2">
            <a:extLst>
              <a:ext uri="{FF2B5EF4-FFF2-40B4-BE49-F238E27FC236}">
                <a16:creationId xmlns:a16="http://schemas.microsoft.com/office/drawing/2014/main" id="{F5BC2C18-45FC-A6BA-CD00-8C167E4AA5D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332"/>
          <a:stretch>
            <a:fillRect/>
          </a:stretch>
        </p:blipFill>
        <p:spPr bwMode="auto">
          <a:xfrm>
            <a:off x="723900" y="1481633"/>
            <a:ext cx="16840200" cy="7323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33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706600" y="0"/>
            <a:ext cx="35814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0" y="329879"/>
            <a:ext cx="13607970" cy="9479070"/>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2: Month-end variance deck flow</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Build a Power Automate flow that connects Excel data to a PowerPoint reporting template</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Write a structured Copilot prompt to calculate variance metrics and generate executive-ready commentary</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Pass files dynamically into prompts using Base64 encoding and Power </a:t>
            </a:r>
            <a:r>
              <a:rPr lang="en-US" sz="3600" dirty="0" err="1">
                <a:solidFill>
                  <a:srgbClr val="C00000"/>
                </a:solidFill>
                <a:latin typeface="Pragmatica" panose="020B0403040502020204"/>
                <a:sym typeface="Consolas"/>
              </a:rPr>
              <a:t>Fx</a:t>
            </a:r>
            <a:r>
              <a:rPr lang="en-US" sz="3600" dirty="0">
                <a:solidFill>
                  <a:srgbClr val="C00000"/>
                </a:solidFill>
                <a:latin typeface="Pragmatica" panose="020B0403040502020204"/>
                <a:sym typeface="Consolas"/>
              </a:rPr>
              <a:t> expressions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Automatically generate and save an updated variance deck for month-end reporting.</a:t>
            </a: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F3338"/>
                </a:solidFill>
                <a:latin typeface="Pragmatica" panose="020B0403040502020204"/>
                <a:sym typeface="Consolas"/>
              </a:rPr>
              <a:t>Resource: </a:t>
            </a:r>
            <a:r>
              <a:rPr lang="en-US" sz="3600" dirty="0">
                <a:solidFill>
                  <a:srgbClr val="CF3338"/>
                </a:solidFill>
                <a:latin typeface="Pragmatica" panose="020B0403040502020204"/>
                <a:sym typeface="Consolas"/>
                <a:hlinkClick r:id="rId4">
                  <a:extLst>
                    <a:ext uri="{A12FA001-AC4F-418D-AE19-62706E023703}">
                      <ahyp:hlinkClr xmlns:ahyp="http://schemas.microsoft.com/office/drawing/2018/hyperlinkcolor" val="tx"/>
                    </a:ext>
                  </a:extLst>
                </a:hlinkClick>
              </a:rPr>
              <a:t>https://stringfestanalytics.com/how-to-automate-a-monthly-variance-deck-with-power-automate-and-copilot/</a:t>
            </a:r>
            <a:r>
              <a:rPr lang="en-US" sz="3600" dirty="0">
                <a:solidFill>
                  <a:srgbClr val="CF3338"/>
                </a:solidFill>
                <a:latin typeface="Pragmatica" panose="020B0403040502020204"/>
                <a:sym typeface="Consolas"/>
              </a:rPr>
              <a:t> </a:t>
            </a:r>
          </a:p>
        </p:txBody>
      </p:sp>
    </p:spTree>
    <p:extLst>
      <p:ext uri="{BB962C8B-B14F-4D97-AF65-F5344CB8AC3E}">
        <p14:creationId xmlns:p14="http://schemas.microsoft.com/office/powerpoint/2010/main" val="3871531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149B3-259B-792A-DA00-3925FC1C22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5A762E-77CB-F606-E5D0-C538B0AA987B}"/>
              </a:ext>
            </a:extLst>
          </p:cNvPr>
          <p:cNvSpPr/>
          <p:nvPr/>
        </p:nvSpPr>
        <p:spPr>
          <a:xfrm>
            <a:off x="14478000" y="0"/>
            <a:ext cx="3810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B8566CDB-4D3B-5BBF-D4E9-9DCA72CA5CA9}"/>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E4241F6A-1443-B6DA-FC41-5BE3606C17A2}"/>
              </a:ext>
            </a:extLst>
          </p:cNvPr>
          <p:cNvSpPr txBox="1"/>
          <p:nvPr/>
        </p:nvSpPr>
        <p:spPr>
          <a:xfrm>
            <a:off x="260430" y="329879"/>
            <a:ext cx="14141370" cy="9061583"/>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3: Validate AI-generated sales report with Office Scripts</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200" dirty="0">
                <a:solidFill>
                  <a:srgbClr val="C00000"/>
                </a:solidFill>
                <a:latin typeface="Pragmatica" panose="020B0403040502020204"/>
                <a:sym typeface="Consolas"/>
              </a:rPr>
              <a:t>Build an Office Script that retrieves and returns a control total from a named range</a:t>
            </a:r>
          </a:p>
          <a:p>
            <a:pPr marL="685800" indent="-542925">
              <a:lnSpc>
                <a:spcPct val="115000"/>
              </a:lnSpc>
              <a:spcBef>
                <a:spcPts val="1125"/>
              </a:spcBef>
              <a:buClr>
                <a:srgbClr val="C00000"/>
              </a:buClr>
              <a:buSzPts val="2100"/>
              <a:buFont typeface="Arial"/>
              <a:buAutoNum type="arabicPeriod"/>
            </a:pPr>
            <a:r>
              <a:rPr lang="en-US" sz="3200" dirty="0">
                <a:solidFill>
                  <a:srgbClr val="C00000"/>
                </a:solidFill>
                <a:latin typeface="Pragmatica" panose="020B0403040502020204"/>
                <a:sym typeface="Consolas"/>
              </a:rPr>
              <a:t>Configure a Power Automate flow to compare AI-generated KPIs against independently calculated results</a:t>
            </a:r>
          </a:p>
          <a:p>
            <a:pPr marL="685800" indent="-542925">
              <a:lnSpc>
                <a:spcPct val="115000"/>
              </a:lnSpc>
              <a:spcBef>
                <a:spcPts val="1125"/>
              </a:spcBef>
              <a:buClr>
                <a:srgbClr val="C00000"/>
              </a:buClr>
              <a:buSzPts val="2100"/>
              <a:buFont typeface="Arial"/>
              <a:buAutoNum type="arabicPeriod"/>
            </a:pPr>
            <a:r>
              <a:rPr lang="en-US" sz="3200" dirty="0">
                <a:solidFill>
                  <a:srgbClr val="C00000"/>
                </a:solidFill>
                <a:latin typeface="Pragmatica" panose="020B0403040502020204"/>
                <a:sym typeface="Consolas"/>
              </a:rPr>
              <a:t>Implement a conditional checkpoint that halts reporting if totals do not match</a:t>
            </a:r>
          </a:p>
          <a:p>
            <a:pPr marL="685800" indent="-542925">
              <a:lnSpc>
                <a:spcPct val="115000"/>
              </a:lnSpc>
              <a:spcBef>
                <a:spcPts val="1125"/>
              </a:spcBef>
              <a:buClr>
                <a:srgbClr val="C00000"/>
              </a:buClr>
              <a:buSzPts val="2100"/>
              <a:buFont typeface="Arial"/>
              <a:buAutoNum type="arabicPeriod"/>
            </a:pPr>
            <a:r>
              <a:rPr lang="en-US" sz="3200" dirty="0">
                <a:solidFill>
                  <a:srgbClr val="C00000"/>
                </a:solidFill>
                <a:latin typeface="Pragmatica" panose="020B0403040502020204"/>
                <a:sym typeface="Consolas"/>
              </a:rPr>
              <a:t>Deliver validated results to Teams using structured JSON and Adaptive Cards for executive-ready presentation</a:t>
            </a:r>
          </a:p>
          <a:p>
            <a:pPr marL="142875">
              <a:lnSpc>
                <a:spcPct val="115000"/>
              </a:lnSpc>
              <a:spcBef>
                <a:spcPts val="1125"/>
              </a:spcBef>
              <a:buClr>
                <a:srgbClr val="C00000"/>
              </a:buClr>
              <a:buSzPts val="2100"/>
            </a:pPr>
            <a:endParaRPr lang="en-US" sz="32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200" dirty="0">
                <a:solidFill>
                  <a:srgbClr val="CF3338"/>
                </a:solidFill>
                <a:latin typeface="Pragmatica" panose="020B0403040502020204"/>
                <a:sym typeface="Consolas"/>
              </a:rPr>
              <a:t>Resource: </a:t>
            </a:r>
            <a:r>
              <a:rPr lang="en-US" sz="3200" dirty="0">
                <a:solidFill>
                  <a:srgbClr val="CF3338"/>
                </a:solidFill>
                <a:latin typeface="Pragmatica" panose="020B0403040502020204"/>
                <a:sym typeface="Consolas"/>
                <a:hlinkClick r:id="rId4">
                  <a:extLst>
                    <a:ext uri="{A12FA001-AC4F-418D-AE19-62706E023703}">
                      <ahyp:hlinkClr xmlns:ahyp="http://schemas.microsoft.com/office/drawing/2018/hyperlinkcolor" val="tx"/>
                    </a:ext>
                  </a:extLst>
                </a:hlinkClick>
              </a:rPr>
              <a:t>https://stringfestanalytics.com/how-to-validate-ai-generated-excel-reports-with-office-scripts/</a:t>
            </a:r>
            <a:r>
              <a:rPr lang="en-US" sz="3200" dirty="0">
                <a:solidFill>
                  <a:srgbClr val="CF3338"/>
                </a:solidFill>
                <a:latin typeface="Pragmatica" panose="020B0403040502020204"/>
                <a:sym typeface="Consolas"/>
              </a:rPr>
              <a:t> </a:t>
            </a:r>
          </a:p>
        </p:txBody>
      </p:sp>
    </p:spTree>
    <p:extLst>
      <p:ext uri="{BB962C8B-B14F-4D97-AF65-F5344CB8AC3E}">
        <p14:creationId xmlns:p14="http://schemas.microsoft.com/office/powerpoint/2010/main" val="2259049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E537F-A0F6-F9A4-A839-3870DD03847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50081C6-A530-628D-601C-E695FB64E06C}"/>
              </a:ext>
            </a:extLst>
          </p:cNvPr>
          <p:cNvSpPr txBox="1"/>
          <p:nvPr/>
        </p:nvSpPr>
        <p:spPr>
          <a:xfrm>
            <a:off x="520861" y="170082"/>
            <a:ext cx="15938339" cy="2554545"/>
          </a:xfrm>
          <a:prstGeom prst="rect">
            <a:avLst/>
          </a:prstGeom>
          <a:noFill/>
        </p:spPr>
        <p:txBody>
          <a:bodyPr wrap="square" rtlCol="0">
            <a:spAutoFit/>
          </a:bodyPr>
          <a:lstStyle/>
          <a:p>
            <a:r>
              <a:rPr lang="en-US" sz="8000" dirty="0">
                <a:latin typeface="Aliens &amp; cows" panose="00000500000000000000" pitchFamily="2" charset="0"/>
              </a:rPr>
              <a:t>Learn more with the AI-Powered Excel Blueprint</a:t>
            </a:r>
          </a:p>
        </p:txBody>
      </p:sp>
      <p:pic>
        <p:nvPicPr>
          <p:cNvPr id="15" name="Picture 14" descr="A close up of a sign&#10;&#10;Description automatically generated">
            <a:extLst>
              <a:ext uri="{FF2B5EF4-FFF2-40B4-BE49-F238E27FC236}">
                <a16:creationId xmlns:a16="http://schemas.microsoft.com/office/drawing/2014/main" id="{C9EB311B-7CFD-7CD7-567D-693DE568F5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8D282980-8731-A883-7E62-613367014212}"/>
              </a:ext>
            </a:extLst>
          </p:cNvPr>
          <p:cNvSpPr txBox="1"/>
          <p:nvPr/>
        </p:nvSpPr>
        <p:spPr>
          <a:xfrm>
            <a:off x="483916" y="3543300"/>
            <a:ext cx="6781800" cy="3046988"/>
          </a:xfrm>
          <a:prstGeom prst="rect">
            <a:avLst/>
          </a:prstGeom>
          <a:noFill/>
        </p:spPr>
        <p:txBody>
          <a:bodyPr wrap="square">
            <a:spAutoFit/>
          </a:bodyPr>
          <a:lstStyle/>
          <a:p>
            <a:r>
              <a:rPr lang="en-US" sz="4800" dirty="0"/>
              <a:t>Get it for free:</a:t>
            </a:r>
          </a:p>
          <a:p>
            <a:endParaRPr lang="en-US" sz="4800" dirty="0"/>
          </a:p>
          <a:p>
            <a:r>
              <a:rPr lang="en-US" sz="4800" dirty="0">
                <a:solidFill>
                  <a:srgbClr val="CF3338"/>
                </a:solidFill>
                <a:hlinkClick r:id="rId3">
                  <a:extLst>
                    <a:ext uri="{A12FA001-AC4F-418D-AE19-62706E023703}">
                      <ahyp:hlinkClr xmlns:ahyp="http://schemas.microsoft.com/office/drawing/2018/hyperlinkcolor" val="tx"/>
                    </a:ext>
                  </a:extLst>
                </a:hlinkClick>
              </a:rPr>
              <a:t>https://stringfestanalytics.com/subscribe/</a:t>
            </a:r>
            <a:r>
              <a:rPr lang="en-US" sz="4800" dirty="0">
                <a:solidFill>
                  <a:srgbClr val="CF3338"/>
                </a:solidFill>
              </a:rPr>
              <a:t> </a:t>
            </a:r>
          </a:p>
        </p:txBody>
      </p:sp>
      <p:pic>
        <p:nvPicPr>
          <p:cNvPr id="3" name="Picture 2" descr="No alternative text description for this image">
            <a:extLst>
              <a:ext uri="{FF2B5EF4-FFF2-40B4-BE49-F238E27FC236}">
                <a16:creationId xmlns:a16="http://schemas.microsoft.com/office/drawing/2014/main" id="{D12471F3-357B-A6D6-B502-A3EF5FB6347D}"/>
              </a:ext>
            </a:extLst>
          </p:cNvPr>
          <p:cNvPicPr>
            <a:picLocks noChangeAspect="1"/>
          </p:cNvPicPr>
          <p:nvPr/>
        </p:nvPicPr>
        <p:blipFill>
          <a:blip r:embed="rId4"/>
          <a:stretch>
            <a:fillRect/>
          </a:stretch>
        </p:blipFill>
        <p:spPr>
          <a:xfrm>
            <a:off x="8014855" y="3162300"/>
            <a:ext cx="8458200" cy="5638800"/>
          </a:xfrm>
          <a:prstGeom prst="rect">
            <a:avLst/>
          </a:prstGeom>
        </p:spPr>
      </p:pic>
    </p:spTree>
    <p:extLst>
      <p:ext uri="{BB962C8B-B14F-4D97-AF65-F5344CB8AC3E}">
        <p14:creationId xmlns:p14="http://schemas.microsoft.com/office/powerpoint/2010/main" val="84122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F8FFE-158A-9FDC-051A-D88206B6219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A854B57-40B5-4E04-E438-9349D85A32C2}"/>
              </a:ext>
            </a:extLst>
          </p:cNvPr>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a:extLst>
              <a:ext uri="{FF2B5EF4-FFF2-40B4-BE49-F238E27FC236}">
                <a16:creationId xmlns:a16="http://schemas.microsoft.com/office/drawing/2014/main" id="{A1F26F84-9A6D-C7B1-105C-C9F00C2A4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a:extLst>
              <a:ext uri="{FF2B5EF4-FFF2-40B4-BE49-F238E27FC236}">
                <a16:creationId xmlns:a16="http://schemas.microsoft.com/office/drawing/2014/main" id="{19435C5F-0C01-26A6-7F3B-19F80F4301AF}"/>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7A25274D-8C42-1ECF-607F-63D6238B83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872379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3860</TotalTime>
  <Words>1699</Words>
  <Application>Microsoft Office PowerPoint</Application>
  <PresentationFormat>Custom</PresentationFormat>
  <Paragraphs>90</Paragraphs>
  <Slides>14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Aliens &amp; cows</vt:lpstr>
      <vt:lpstr>Pragmatica</vt:lpstr>
      <vt:lpstr>Normafixed Tryout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243</cp:revision>
  <dcterms:created xsi:type="dcterms:W3CDTF">2006-08-16T00:00:00Z</dcterms:created>
  <dcterms:modified xsi:type="dcterms:W3CDTF">2026-04-27T13:16:50Z</dcterms:modified>
  <dc:identifier>DADurESpNu8</dc:identifier>
</cp:coreProperties>
</file>